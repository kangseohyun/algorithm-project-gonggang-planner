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chemeClr val="accent1"/>
          </a:solidFill>
        </a:fill>
      </a:tcStyle>
    </a:firstCol>
    <a:lastRow>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381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chemeClr val="accent1"/>
          </a:solidFill>
        </a:fill>
      </a:tcStyle>
    </a:lastRow>
    <a:firstRow>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381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chemeClr val="accent3"/>
          </a:solidFill>
        </a:fill>
      </a:tcStyle>
    </a:firstCol>
    <a:lastRow>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381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chemeClr val="accent3"/>
          </a:solidFill>
        </a:fill>
      </a:tcStyle>
    </a:lastRow>
    <a:firstRow>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381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chemeClr val="accent6"/>
          </a:solidFill>
        </a:fill>
      </a:tcStyle>
    </a:firstCol>
    <a:lastRow>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381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chemeClr val="accent6"/>
          </a:solidFill>
        </a:fill>
      </a:tcStyle>
    </a:lastRow>
    <a:firstRow>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381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8FAFC"/>
          </a:solidFill>
        </a:fill>
      </a:tcStyle>
    </a:band2H>
    <a:firstCol>
      <a:tcTxStyle b="on" i="off">
        <a:fontRef idx="major">
          <a:srgbClr val="F8FAFC"/>
        </a:fontRef>
        <a:srgbClr val="F8FAFC"/>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8FAFC"/>
          </a:solidFill>
        </a:fill>
      </a:tcStyle>
    </a:lastRow>
    <a:firstRow>
      <a:tcTxStyle b="on" i="off">
        <a:fontRef idx="major">
          <a:srgbClr val="F8FAFC"/>
        </a:fontRef>
        <a:srgbClr val="F8FAFC"/>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rgbClr val="000000"/>
          </a:solidFill>
        </a:fill>
      </a:tcStyle>
    </a:firstCol>
    <a:lastRow>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38100" cap="flat">
              <a:solidFill>
                <a:srgbClr val="F8FAFC"/>
              </a:solidFill>
              <a:prstDash val="solid"/>
              <a:round/>
            </a:ln>
          </a:top>
          <a:bottom>
            <a:ln w="127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rgbClr val="000000"/>
          </a:solidFill>
        </a:fill>
      </a:tcStyle>
    </a:lastRow>
    <a:firstRow>
      <a:tcTxStyle b="on" i="off">
        <a:fontRef idx="major">
          <a:srgbClr val="F8FAFC"/>
        </a:fontRef>
        <a:srgbClr val="F8FAFC"/>
      </a:tcTxStyle>
      <a:tcStyle>
        <a:tcBdr>
          <a:left>
            <a:ln w="12700" cap="flat">
              <a:solidFill>
                <a:srgbClr val="F8FAFC"/>
              </a:solidFill>
              <a:prstDash val="solid"/>
              <a:round/>
            </a:ln>
          </a:left>
          <a:right>
            <a:ln w="12700" cap="flat">
              <a:solidFill>
                <a:srgbClr val="F8FAFC"/>
              </a:solidFill>
              <a:prstDash val="solid"/>
              <a:round/>
            </a:ln>
          </a:right>
          <a:top>
            <a:ln w="12700" cap="flat">
              <a:solidFill>
                <a:srgbClr val="F8FAFC"/>
              </a:solidFill>
              <a:prstDash val="solid"/>
              <a:round/>
            </a:ln>
          </a:top>
          <a:bottom>
            <a:ln w="38100" cap="flat">
              <a:solidFill>
                <a:srgbClr val="F8FAFC"/>
              </a:solidFill>
              <a:prstDash val="solid"/>
              <a:round/>
            </a:ln>
          </a:bottom>
          <a:insideH>
            <a:ln w="12700" cap="flat">
              <a:solidFill>
                <a:srgbClr val="F8FAFC"/>
              </a:solidFill>
              <a:prstDash val="solid"/>
              <a:round/>
            </a:ln>
          </a:insideH>
          <a:insideV>
            <a:ln w="12700" cap="flat">
              <a:solidFill>
                <a:srgbClr val="F8FAFC"/>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9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Shape 24"/>
          <p:cNvSpPr>
            <a:spLocks noGrp="1" noRot="1" noChangeAspect="1"/>
          </p:cNvSpPr>
          <p:nvPr>
            <p:ph type="sldImg"/>
          </p:nvPr>
        </p:nvSpPr>
        <p:spPr>
          <a:xfrm>
            <a:off x="1143000" y="685800"/>
            <a:ext cx="4572000" cy="3429000"/>
          </a:xfrm>
          <a:prstGeom prst="rect">
            <a:avLst/>
          </a:prstGeom>
        </p:spPr>
        <p:txBody>
          <a:bodyPr/>
          <a:lstStyle/>
          <a:p>
            <a:endParaRPr/>
          </a:p>
        </p:txBody>
      </p:sp>
      <p:sp>
        <p:nvSpPr>
          <p:cNvPr id="25" name="Shape 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슬라이드 번호"/>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RIGHT_MASTER">
    <p:bg>
      <p:bgPr>
        <a:solidFill>
          <a:srgbClr val="F8FAFC"/>
        </a:solidFill>
        <a:effectLst/>
      </p:bgPr>
    </p:bg>
    <p:spTree>
      <p:nvGrpSpPr>
        <p:cNvPr id="1" name=""/>
        <p:cNvGrpSpPr/>
        <p:nvPr/>
      </p:nvGrpSpPr>
      <p:grpSpPr>
        <a:xfrm>
          <a:off x="0" y="0"/>
          <a:ext cx="0" cy="0"/>
          <a:chOff x="0" y="0"/>
          <a:chExt cx="0" cy="0"/>
        </a:xfrm>
      </p:grpSpPr>
      <p:sp>
        <p:nvSpPr>
          <p:cNvPr id="18" name="슬라이드 번호"/>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제목 텍스트"/>
          <p:cNvSpPr txBox="1">
            <a:spLocks noGrp="1"/>
          </p:cNvSpPr>
          <p:nvPr>
            <p:ph type="title"/>
          </p:nvPr>
        </p:nvSpPr>
        <p:spPr>
          <a:xfrm>
            <a:off x="1824780" y="769937"/>
            <a:ext cx="9743441" cy="16684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lstStyle/>
          <a:p>
            <a:r>
              <a:t>제목 텍스트</a:t>
            </a:r>
          </a:p>
        </p:txBody>
      </p:sp>
      <p:sp>
        <p:nvSpPr>
          <p:cNvPr id="3" name="본문 첫 번째 줄…"/>
          <p:cNvSpPr txBox="1">
            <a:spLocks noGrp="1"/>
          </p:cNvSpPr>
          <p:nvPr>
            <p:ph type="body" idx="1"/>
          </p:nvPr>
        </p:nvSpPr>
        <p:spPr>
          <a:xfrm>
            <a:off x="6797994" y="2438400"/>
            <a:ext cx="4770227" cy="4419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lstStyle/>
          <a:p>
            <a:r>
              <a:t>본문 첫 번째 줄</a:t>
            </a:r>
          </a:p>
          <a:p>
            <a:pPr lvl="1"/>
            <a:r>
              <a:t>본문 두 번째 줄</a:t>
            </a:r>
          </a:p>
          <a:p>
            <a:pPr lvl="2"/>
            <a:r>
              <a:t>본문 세 번째 줄</a:t>
            </a:r>
          </a:p>
          <a:p>
            <a:pPr lvl="3"/>
            <a:r>
              <a:t>본문 네 번째 줄</a:t>
            </a:r>
          </a:p>
          <a:p>
            <a:pPr lvl="4"/>
            <a:r>
              <a:t>본문 다섯 번째 줄</a:t>
            </a:r>
          </a:p>
        </p:txBody>
      </p:sp>
      <p:sp>
        <p:nvSpPr>
          <p:cNvPr id="4" name="슬라이드 번호"/>
          <p:cNvSpPr txBox="1">
            <a:spLocks noGrp="1"/>
          </p:cNvSpPr>
          <p:nvPr>
            <p:ph type="sldNum" sz="quarter" idx="2"/>
          </p:nvPr>
        </p:nvSpPr>
        <p:spPr>
          <a:xfrm>
            <a:off x="8454847" y="6221732"/>
            <a:ext cx="273653" cy="269237"/>
          </a:xfrm>
          <a:prstGeom prst="rect">
            <a:avLst/>
          </a:prstGeom>
          <a:ln w="12700">
            <a:miter lim="400000"/>
          </a:ln>
        </p:spPr>
        <p:txBody>
          <a:bodyPr wrap="none" lIns="45718" tIns="45718" rIns="45718" bIns="45718" anchor="ctr">
            <a:spAutoFit/>
          </a:bodyPr>
          <a:lstStyle>
            <a:lvl1pPr algn="r">
              <a:defRPr sz="1200">
                <a:latin typeface="Malgun Gothic"/>
                <a:ea typeface="Malgun Gothic"/>
                <a:cs typeface="Malgun Gothic"/>
                <a:sym typeface="Malgun Gothic"/>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algun Gothic"/>
          <a:ea typeface="Malgun Gothic"/>
          <a:cs typeface="Malgun Gothic"/>
          <a:sym typeface="Malgun Gothic"/>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algun Gothic"/>
          <a:ea typeface="Malgun Gothic"/>
          <a:cs typeface="Malgun Gothic"/>
          <a:sym typeface="Malgun Gothic"/>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algun Gothic"/>
          <a:ea typeface="Malgun Gothic"/>
          <a:cs typeface="Malgun Gothic"/>
          <a:sym typeface="Malgun Gothic"/>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algun Gothic"/>
          <a:ea typeface="Malgun Gothic"/>
          <a:cs typeface="Malgun Gothic"/>
          <a:sym typeface="Malgun Gothic"/>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algun Gothic"/>
          <a:ea typeface="Malgun Gothic"/>
          <a:cs typeface="Malgun Gothic"/>
          <a:sym typeface="Malgun Gothic"/>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algun Gothic"/>
          <a:ea typeface="Malgun Gothic"/>
          <a:cs typeface="Malgun Gothic"/>
          <a:sym typeface="Malgun Gothic"/>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algun Gothic"/>
          <a:ea typeface="Malgun Gothic"/>
          <a:cs typeface="Malgun Gothic"/>
          <a:sym typeface="Malgun Gothic"/>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algun Gothic"/>
          <a:ea typeface="Malgun Gothic"/>
          <a:cs typeface="Malgun Gothic"/>
          <a:sym typeface="Malgun Gothic"/>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algun Gothic"/>
          <a:ea typeface="Malgun Gothic"/>
          <a:cs typeface="Malgun Gothic"/>
          <a:sym typeface="Malgun Gothic"/>
        </a:defRPr>
      </a:lvl9pPr>
    </p:titleStyle>
    <p:bodyStyle>
      <a:lvl1pPr marL="342900" marR="0" indent="-342900" algn="l" defTabSz="914400" rtl="0" latinLnBrk="0">
        <a:lnSpc>
          <a:spcPct val="100000"/>
        </a:lnSpc>
        <a:spcBef>
          <a:spcPts val="0"/>
        </a:spcBef>
        <a:spcAft>
          <a:spcPts val="0"/>
        </a:spcAft>
        <a:buClrTx/>
        <a:buSzPct val="100000"/>
        <a:buFontTx/>
        <a:buChar char="•"/>
        <a:tabLst/>
        <a:defRPr sz="3200" b="0" i="0" u="none" strike="noStrike" cap="none" spc="0" baseline="0">
          <a:solidFill>
            <a:srgbClr val="000000"/>
          </a:solidFill>
          <a:uFillTx/>
          <a:latin typeface="Malgun Gothic"/>
          <a:ea typeface="Malgun Gothic"/>
          <a:cs typeface="Malgun Gothic"/>
          <a:sym typeface="Malgun Gothic"/>
        </a:defRPr>
      </a:lvl1pPr>
      <a:lvl2pPr marL="783771" marR="0" indent="-326571" algn="l" defTabSz="914400" rtl="0" latinLnBrk="0">
        <a:lnSpc>
          <a:spcPct val="100000"/>
        </a:lnSpc>
        <a:spcBef>
          <a:spcPts val="0"/>
        </a:spcBef>
        <a:spcAft>
          <a:spcPts val="0"/>
        </a:spcAft>
        <a:buClrTx/>
        <a:buSzPct val="100000"/>
        <a:buFontTx/>
        <a:buChar char="–"/>
        <a:tabLst/>
        <a:defRPr sz="3200" b="0" i="0" u="none" strike="noStrike" cap="none" spc="0" baseline="0">
          <a:solidFill>
            <a:srgbClr val="000000"/>
          </a:solidFill>
          <a:uFillTx/>
          <a:latin typeface="Malgun Gothic"/>
          <a:ea typeface="Malgun Gothic"/>
          <a:cs typeface="Malgun Gothic"/>
          <a:sym typeface="Malgun Gothic"/>
        </a:defRPr>
      </a:lvl2pPr>
      <a:lvl3pPr marL="1219200" marR="0" indent="-304800" algn="l" defTabSz="914400" rtl="0" latinLnBrk="0">
        <a:lnSpc>
          <a:spcPct val="100000"/>
        </a:lnSpc>
        <a:spcBef>
          <a:spcPts val="0"/>
        </a:spcBef>
        <a:spcAft>
          <a:spcPts val="0"/>
        </a:spcAft>
        <a:buClrTx/>
        <a:buSzPct val="100000"/>
        <a:buFontTx/>
        <a:buChar char="•"/>
        <a:tabLst/>
        <a:defRPr sz="3200" b="0" i="0" u="none" strike="noStrike" cap="none" spc="0" baseline="0">
          <a:solidFill>
            <a:srgbClr val="000000"/>
          </a:solidFill>
          <a:uFillTx/>
          <a:latin typeface="Malgun Gothic"/>
          <a:ea typeface="Malgun Gothic"/>
          <a:cs typeface="Malgun Gothic"/>
          <a:sym typeface="Malgun Gothic"/>
        </a:defRPr>
      </a:lvl3pPr>
      <a:lvl4pPr marL="1737360" marR="0" indent="-365760" algn="l" defTabSz="914400" rtl="0" latinLnBrk="0">
        <a:lnSpc>
          <a:spcPct val="100000"/>
        </a:lnSpc>
        <a:spcBef>
          <a:spcPts val="0"/>
        </a:spcBef>
        <a:spcAft>
          <a:spcPts val="0"/>
        </a:spcAft>
        <a:buClrTx/>
        <a:buSzPct val="100000"/>
        <a:buFontTx/>
        <a:buChar char="–"/>
        <a:tabLst/>
        <a:defRPr sz="3200" b="0" i="0" u="none" strike="noStrike" cap="none" spc="0" baseline="0">
          <a:solidFill>
            <a:srgbClr val="000000"/>
          </a:solidFill>
          <a:uFillTx/>
          <a:latin typeface="Malgun Gothic"/>
          <a:ea typeface="Malgun Gothic"/>
          <a:cs typeface="Malgun Gothic"/>
          <a:sym typeface="Malgun Gothic"/>
        </a:defRPr>
      </a:lvl4pPr>
      <a:lvl5pPr marL="2194560" marR="0" indent="-365760" algn="l" defTabSz="914400" rtl="0" latinLnBrk="0">
        <a:lnSpc>
          <a:spcPct val="100000"/>
        </a:lnSpc>
        <a:spcBef>
          <a:spcPts val="0"/>
        </a:spcBef>
        <a:spcAft>
          <a:spcPts val="0"/>
        </a:spcAft>
        <a:buClrTx/>
        <a:buSzPct val="100000"/>
        <a:buFontTx/>
        <a:buChar char="»"/>
        <a:tabLst/>
        <a:defRPr sz="3200" b="0" i="0" u="none" strike="noStrike" cap="none" spc="0" baseline="0">
          <a:solidFill>
            <a:srgbClr val="000000"/>
          </a:solidFill>
          <a:uFillTx/>
          <a:latin typeface="Malgun Gothic"/>
          <a:ea typeface="Malgun Gothic"/>
          <a:cs typeface="Malgun Gothic"/>
          <a:sym typeface="Malgun Gothic"/>
        </a:defRPr>
      </a:lvl5pPr>
      <a:lvl6pPr marL="2651760" marR="0" indent="-365760" algn="l" defTabSz="914400" rtl="0" latinLnBrk="0">
        <a:lnSpc>
          <a:spcPct val="100000"/>
        </a:lnSpc>
        <a:spcBef>
          <a:spcPts val="0"/>
        </a:spcBef>
        <a:spcAft>
          <a:spcPts val="0"/>
        </a:spcAft>
        <a:buClrTx/>
        <a:buSzPct val="100000"/>
        <a:buFontTx/>
        <a:buChar char="•"/>
        <a:tabLst/>
        <a:defRPr sz="3200" b="0" i="0" u="none" strike="noStrike" cap="none" spc="0" baseline="0">
          <a:solidFill>
            <a:srgbClr val="000000"/>
          </a:solidFill>
          <a:uFillTx/>
          <a:latin typeface="Malgun Gothic"/>
          <a:ea typeface="Malgun Gothic"/>
          <a:cs typeface="Malgun Gothic"/>
          <a:sym typeface="Malgun Gothic"/>
        </a:defRPr>
      </a:lvl6pPr>
      <a:lvl7pPr marL="3108960" marR="0" indent="-365760" algn="l" defTabSz="914400" rtl="0" latinLnBrk="0">
        <a:lnSpc>
          <a:spcPct val="100000"/>
        </a:lnSpc>
        <a:spcBef>
          <a:spcPts val="0"/>
        </a:spcBef>
        <a:spcAft>
          <a:spcPts val="0"/>
        </a:spcAft>
        <a:buClrTx/>
        <a:buSzPct val="100000"/>
        <a:buFontTx/>
        <a:buChar char="•"/>
        <a:tabLst/>
        <a:defRPr sz="3200" b="0" i="0" u="none" strike="noStrike" cap="none" spc="0" baseline="0">
          <a:solidFill>
            <a:srgbClr val="000000"/>
          </a:solidFill>
          <a:uFillTx/>
          <a:latin typeface="Malgun Gothic"/>
          <a:ea typeface="Malgun Gothic"/>
          <a:cs typeface="Malgun Gothic"/>
          <a:sym typeface="Malgun Gothic"/>
        </a:defRPr>
      </a:lvl7pPr>
      <a:lvl8pPr marL="3566159" marR="0" indent="-365759" algn="l" defTabSz="914400" rtl="0" latinLnBrk="0">
        <a:lnSpc>
          <a:spcPct val="100000"/>
        </a:lnSpc>
        <a:spcBef>
          <a:spcPts val="0"/>
        </a:spcBef>
        <a:spcAft>
          <a:spcPts val="0"/>
        </a:spcAft>
        <a:buClrTx/>
        <a:buSzPct val="100000"/>
        <a:buFontTx/>
        <a:buChar char="•"/>
        <a:tabLst/>
        <a:defRPr sz="3200" b="0" i="0" u="none" strike="noStrike" cap="none" spc="0" baseline="0">
          <a:solidFill>
            <a:srgbClr val="000000"/>
          </a:solidFill>
          <a:uFillTx/>
          <a:latin typeface="Malgun Gothic"/>
          <a:ea typeface="Malgun Gothic"/>
          <a:cs typeface="Malgun Gothic"/>
          <a:sym typeface="Malgun Gothic"/>
        </a:defRPr>
      </a:lvl8pPr>
      <a:lvl9pPr marL="4023359" marR="0" indent="-365759" algn="l" defTabSz="914400" rtl="0" latinLnBrk="0">
        <a:lnSpc>
          <a:spcPct val="100000"/>
        </a:lnSpc>
        <a:spcBef>
          <a:spcPts val="0"/>
        </a:spcBef>
        <a:spcAft>
          <a:spcPts val="0"/>
        </a:spcAft>
        <a:buClrTx/>
        <a:buSzPct val="100000"/>
        <a:buFontTx/>
        <a:buChar char="•"/>
        <a:tabLst/>
        <a:defRPr sz="3200" b="0" i="0" u="none" strike="noStrike" cap="none" spc="0" baseline="0">
          <a:solidFill>
            <a:srgbClr val="000000"/>
          </a:solidFill>
          <a:uFillTx/>
          <a:latin typeface="Malgun Gothic"/>
          <a:ea typeface="Malgun Gothic"/>
          <a:cs typeface="Malgun Gothic"/>
          <a:sym typeface="Malgun Gothic"/>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algun Gothic"/>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algun Gothic"/>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algun Gothic"/>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algun Gothic"/>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algun Gothic"/>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algun Gothic"/>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algun Gothic"/>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algun Gothic"/>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algun Gothic"/>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0"/>
          <p:cNvSpPr/>
          <p:nvPr/>
        </p:nvSpPr>
        <p:spPr>
          <a:xfrm>
            <a:off x="731517" y="575889"/>
            <a:ext cx="2219913"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28" name="Text 1"/>
          <p:cNvSpPr txBox="1"/>
          <p:nvPr/>
        </p:nvSpPr>
        <p:spPr>
          <a:xfrm>
            <a:off x="849210" y="551480"/>
            <a:ext cx="1993578" cy="355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200" b="1">
                <a:solidFill>
                  <a:srgbClr val="FFFFFF"/>
                </a:solidFill>
                <a:latin typeface="Noto Sans CJK KR"/>
                <a:ea typeface="Noto Sans CJK KR"/>
                <a:cs typeface="Noto Sans CJK KR"/>
                <a:sym typeface="Noto Sans CJK KR"/>
              </a:defRPr>
            </a:lvl1pPr>
          </a:lstStyle>
          <a:p>
            <a:r>
              <a:t>ALGORITHM FINAL PROJECT</a:t>
            </a:r>
          </a:p>
        </p:txBody>
      </p:sp>
      <p:sp>
        <p:nvSpPr>
          <p:cNvPr id="29" name="Text 2"/>
          <p:cNvSpPr txBox="1"/>
          <p:nvPr/>
        </p:nvSpPr>
        <p:spPr>
          <a:xfrm>
            <a:off x="731517" y="1777363"/>
            <a:ext cx="5980974" cy="1920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4000" b="1">
                <a:solidFill>
                  <a:srgbClr val="102033"/>
                </a:solidFill>
                <a:latin typeface="맑은 고딕"/>
                <a:ea typeface="맑은 고딕"/>
                <a:cs typeface="맑은 고딕"/>
                <a:sym typeface="맑은 고딕"/>
              </a:defRPr>
            </a:pPr>
            <a:r>
              <a:t>공강 시간을</a:t>
            </a:r>
            <a:r>
              <a:rPr>
                <a:latin typeface="Noto Sans CJK KR"/>
                <a:ea typeface="Noto Sans CJK KR"/>
                <a:cs typeface="Noto Sans CJK KR"/>
                <a:sym typeface="Noto Sans CJK KR"/>
              </a:rPr>
              <a:t> </a:t>
            </a:r>
          </a:p>
          <a:p>
            <a:pPr algn="ctr">
              <a:defRPr sz="4000" b="1">
                <a:solidFill>
                  <a:srgbClr val="102033"/>
                </a:solidFill>
                <a:latin typeface="맑은 고딕"/>
                <a:ea typeface="맑은 고딕"/>
                <a:cs typeface="맑은 고딕"/>
                <a:sym typeface="맑은 고딕"/>
              </a:defRPr>
            </a:pPr>
            <a:r>
              <a:t>선명하게</a:t>
            </a:r>
            <a:r>
              <a:rPr>
                <a:latin typeface="Noto Sans CJK KR"/>
                <a:ea typeface="Noto Sans CJK KR"/>
                <a:cs typeface="Noto Sans CJK KR"/>
                <a:sym typeface="Noto Sans CJK KR"/>
              </a:rPr>
              <a:t> </a:t>
            </a:r>
            <a:r>
              <a:t>설계하다</a:t>
            </a:r>
          </a:p>
        </p:txBody>
      </p:sp>
      <p:sp>
        <p:nvSpPr>
          <p:cNvPr id="30" name="Shape 3"/>
          <p:cNvSpPr/>
          <p:nvPr/>
        </p:nvSpPr>
        <p:spPr>
          <a:xfrm>
            <a:off x="1371598" y="3768947"/>
            <a:ext cx="4434845" cy="1"/>
          </a:xfrm>
          <a:prstGeom prst="line">
            <a:avLst/>
          </a:prstGeom>
          <a:ln w="22860">
            <a:solidFill>
              <a:srgbClr val="2563EB"/>
            </a:solidFill>
          </a:ln>
        </p:spPr>
        <p:txBody>
          <a:bodyPr lIns="45718" tIns="45718" rIns="45718" bIns="45718"/>
          <a:lstStyle/>
          <a:p>
            <a:endParaRPr/>
          </a:p>
        </p:txBody>
      </p:sp>
      <p:sp>
        <p:nvSpPr>
          <p:cNvPr id="31" name="Text 4"/>
          <p:cNvSpPr txBox="1"/>
          <p:nvPr/>
        </p:nvSpPr>
        <p:spPr>
          <a:xfrm>
            <a:off x="864502" y="4296450"/>
            <a:ext cx="5715005" cy="5669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600">
                <a:solidFill>
                  <a:srgbClr val="334155"/>
                </a:solidFill>
                <a:latin typeface="맑은 고딕"/>
                <a:ea typeface="맑은 고딕"/>
                <a:cs typeface="맑은 고딕"/>
                <a:sym typeface="맑은 고딕"/>
              </a:defRPr>
            </a:pPr>
            <a:r>
              <a:t>시간표 </a:t>
            </a:r>
            <a:r>
              <a:rPr>
                <a:latin typeface="Noto Sans CJK KR"/>
                <a:ea typeface="Noto Sans CJK KR"/>
                <a:cs typeface="Noto Sans CJK KR"/>
                <a:sym typeface="Noto Sans CJK KR"/>
              </a:rPr>
              <a:t>· </a:t>
            </a:r>
            <a:r>
              <a:t>경로 </a:t>
            </a:r>
            <a:r>
              <a:rPr>
                <a:latin typeface="Noto Sans CJK KR"/>
                <a:ea typeface="Noto Sans CJK KR"/>
                <a:cs typeface="Noto Sans CJK KR"/>
                <a:sym typeface="Noto Sans CJK KR"/>
              </a:rPr>
              <a:t>· </a:t>
            </a:r>
            <a:r>
              <a:t>혼잡도 </a:t>
            </a:r>
            <a:r>
              <a:rPr>
                <a:latin typeface="Noto Sans CJK KR"/>
                <a:ea typeface="Noto Sans CJK KR"/>
                <a:cs typeface="Noto Sans CJK KR"/>
                <a:sym typeface="Noto Sans CJK KR"/>
              </a:rPr>
              <a:t>· </a:t>
            </a:r>
            <a:r>
              <a:t>목적을 하나의 흐름으로 연결해</a:t>
            </a:r>
          </a:p>
          <a:p>
            <a:pPr algn="ctr">
              <a:defRPr sz="1600">
                <a:solidFill>
                  <a:srgbClr val="334155"/>
                </a:solidFill>
                <a:latin typeface="맑은 고딕"/>
                <a:ea typeface="맑은 고딕"/>
                <a:cs typeface="맑은 고딕"/>
                <a:sym typeface="맑은 고딕"/>
              </a:defRPr>
            </a:pPr>
            <a:r>
              <a:t>공강 시간 안에 실제로 이용 가능한 장소를 추천합니다</a:t>
            </a:r>
            <a:r>
              <a:rPr>
                <a:latin typeface="Noto Sans CJK KR"/>
                <a:ea typeface="Noto Sans CJK KR"/>
                <a:cs typeface="Noto Sans CJK KR"/>
                <a:sym typeface="Noto Sans CJK KR"/>
              </a:rPr>
              <a:t>.</a:t>
            </a:r>
          </a:p>
        </p:txBody>
      </p:sp>
      <p:sp>
        <p:nvSpPr>
          <p:cNvPr id="32" name="Shape 5"/>
          <p:cNvSpPr/>
          <p:nvPr/>
        </p:nvSpPr>
        <p:spPr>
          <a:xfrm>
            <a:off x="7178039" y="2203323"/>
            <a:ext cx="3865248" cy="2726055"/>
          </a:xfrm>
          <a:prstGeom prst="roundRect">
            <a:avLst>
              <a:gd name="adj" fmla="val 5455"/>
            </a:avLst>
          </a:prstGeom>
          <a:solidFill>
            <a:srgbClr val="EFF6FF"/>
          </a:solidFill>
          <a:ln w="10160">
            <a:solidFill>
              <a:srgbClr val="D8E3ED"/>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33" name="Text 6"/>
          <p:cNvSpPr txBox="1"/>
          <p:nvPr/>
        </p:nvSpPr>
        <p:spPr>
          <a:xfrm>
            <a:off x="7342630" y="2599838"/>
            <a:ext cx="3536063" cy="9665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2200" b="1">
                <a:solidFill>
                  <a:srgbClr val="102033"/>
                </a:solidFill>
                <a:latin typeface="Noto Sans CJK KR"/>
                <a:ea typeface="Noto Sans CJK KR"/>
                <a:cs typeface="Noto Sans CJK KR"/>
                <a:sym typeface="Noto Sans CJK KR"/>
              </a:defRPr>
            </a:pPr>
            <a:r>
              <a:t>GONGGANG</a:t>
            </a:r>
          </a:p>
          <a:p>
            <a:pPr algn="ctr">
              <a:defRPr sz="2200" b="1">
                <a:solidFill>
                  <a:srgbClr val="102033"/>
                </a:solidFill>
                <a:latin typeface="Noto Sans CJK KR"/>
                <a:ea typeface="Noto Sans CJK KR"/>
                <a:cs typeface="Noto Sans CJK KR"/>
                <a:sym typeface="Noto Sans CJK KR"/>
              </a:defRPr>
            </a:pPr>
            <a:r>
              <a:t>PLANNER</a:t>
            </a:r>
          </a:p>
        </p:txBody>
      </p:sp>
      <p:sp>
        <p:nvSpPr>
          <p:cNvPr id="34" name="Text 7"/>
          <p:cNvSpPr txBox="1"/>
          <p:nvPr/>
        </p:nvSpPr>
        <p:spPr>
          <a:xfrm>
            <a:off x="7178039" y="3768947"/>
            <a:ext cx="3865246" cy="2726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000">
                <a:solidFill>
                  <a:srgbClr val="64748B"/>
                </a:solidFill>
                <a:latin typeface="Noto Sans CJK KR"/>
                <a:ea typeface="Noto Sans CJK KR"/>
                <a:cs typeface="Noto Sans CJK KR"/>
                <a:sym typeface="Noto Sans CJK KR"/>
              </a:defRPr>
            </a:lvl1pPr>
          </a:lstStyle>
          <a:p>
            <a:r>
              <a:t>TIME   ·    ROUTE   ·    CROWD   ·   RANKING </a:t>
            </a:r>
          </a:p>
        </p:txBody>
      </p:sp>
      <p:sp>
        <p:nvSpPr>
          <p:cNvPr id="35" name="Shape 8"/>
          <p:cNvSpPr/>
          <p:nvPr/>
        </p:nvSpPr>
        <p:spPr>
          <a:xfrm>
            <a:off x="7832459" y="4088129"/>
            <a:ext cx="101389" cy="99135"/>
          </a:xfrm>
          <a:prstGeom prst="ellipse">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36" name="Text 9"/>
          <p:cNvSpPr txBox="1"/>
          <p:nvPr/>
        </p:nvSpPr>
        <p:spPr>
          <a:xfrm>
            <a:off x="7667711" y="4308190"/>
            <a:ext cx="430879" cy="223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100">
                <a:solidFill>
                  <a:srgbClr val="64748B"/>
                </a:solidFill>
                <a:latin typeface="맑은 고딕"/>
                <a:ea typeface="맑은 고딕"/>
                <a:cs typeface="맑은 고딕"/>
                <a:sym typeface="맑은 고딕"/>
              </a:defRPr>
            </a:lvl1pPr>
          </a:lstStyle>
          <a:p>
            <a:r>
              <a:t>시간</a:t>
            </a:r>
          </a:p>
        </p:txBody>
      </p:sp>
      <p:sp>
        <p:nvSpPr>
          <p:cNvPr id="37" name="Shape 10"/>
          <p:cNvSpPr/>
          <p:nvPr/>
        </p:nvSpPr>
        <p:spPr>
          <a:xfrm>
            <a:off x="8519351" y="4088129"/>
            <a:ext cx="101389" cy="99135"/>
          </a:xfrm>
          <a:prstGeom prst="ellipse">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38" name="Text 11"/>
          <p:cNvSpPr txBox="1"/>
          <p:nvPr/>
        </p:nvSpPr>
        <p:spPr>
          <a:xfrm>
            <a:off x="8361060" y="4308190"/>
            <a:ext cx="430879" cy="223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100">
                <a:solidFill>
                  <a:srgbClr val="64748B"/>
                </a:solidFill>
                <a:latin typeface="맑은 고딕"/>
                <a:ea typeface="맑은 고딕"/>
                <a:cs typeface="맑은 고딕"/>
                <a:sym typeface="맑은 고딕"/>
              </a:defRPr>
            </a:lvl1pPr>
          </a:lstStyle>
          <a:p>
            <a:r>
              <a:t>경로</a:t>
            </a:r>
          </a:p>
        </p:txBody>
      </p:sp>
      <p:sp>
        <p:nvSpPr>
          <p:cNvPr id="39" name="Shape 12"/>
          <p:cNvSpPr/>
          <p:nvPr/>
        </p:nvSpPr>
        <p:spPr>
          <a:xfrm>
            <a:off x="9313302" y="4088129"/>
            <a:ext cx="101389" cy="99135"/>
          </a:xfrm>
          <a:prstGeom prst="ellipse">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40" name="Text 13"/>
          <p:cNvSpPr txBox="1"/>
          <p:nvPr/>
        </p:nvSpPr>
        <p:spPr>
          <a:xfrm>
            <a:off x="9148553" y="4296450"/>
            <a:ext cx="430879" cy="223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100">
                <a:solidFill>
                  <a:srgbClr val="64748B"/>
                </a:solidFill>
                <a:latin typeface="맑은 고딕"/>
                <a:ea typeface="맑은 고딕"/>
                <a:cs typeface="맑은 고딕"/>
                <a:sym typeface="맑은 고딕"/>
              </a:defRPr>
            </a:lvl1pPr>
          </a:lstStyle>
          <a:p>
            <a:r>
              <a:t>혼잡</a:t>
            </a:r>
          </a:p>
        </p:txBody>
      </p:sp>
      <p:sp>
        <p:nvSpPr>
          <p:cNvPr id="41" name="Shape 14"/>
          <p:cNvSpPr/>
          <p:nvPr/>
        </p:nvSpPr>
        <p:spPr>
          <a:xfrm>
            <a:off x="10141073" y="4088129"/>
            <a:ext cx="101389" cy="99135"/>
          </a:xfrm>
          <a:prstGeom prst="ellipse">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42" name="Text 15"/>
          <p:cNvSpPr txBox="1"/>
          <p:nvPr/>
        </p:nvSpPr>
        <p:spPr>
          <a:xfrm>
            <a:off x="9976322" y="4308190"/>
            <a:ext cx="430879" cy="223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100">
                <a:solidFill>
                  <a:srgbClr val="64748B"/>
                </a:solidFill>
                <a:latin typeface="맑은 고딕"/>
                <a:ea typeface="맑은 고딕"/>
                <a:cs typeface="맑은 고딕"/>
                <a:sym typeface="맑은 고딕"/>
              </a:defRPr>
            </a:lvl1pPr>
          </a:lstStyle>
          <a:p>
            <a:r>
              <a:t>추천</a:t>
            </a:r>
          </a:p>
        </p:txBody>
      </p:sp>
      <p:sp>
        <p:nvSpPr>
          <p:cNvPr id="43" name="Text 16"/>
          <p:cNvSpPr txBox="1"/>
          <p:nvPr/>
        </p:nvSpPr>
        <p:spPr>
          <a:xfrm>
            <a:off x="7178039" y="6209538"/>
            <a:ext cx="6217923" cy="256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200" b="1">
                <a:solidFill>
                  <a:srgbClr val="64748B"/>
                </a:solidFill>
                <a:latin typeface="Noto Sans CJK KR"/>
                <a:ea typeface="Noto Sans CJK KR"/>
                <a:cs typeface="Noto Sans CJK KR"/>
                <a:sym typeface="Noto Sans CJK KR"/>
              </a:defRPr>
            </a:pPr>
            <a:r>
              <a:t>TEAM </a:t>
            </a:r>
            <a:r>
              <a:rPr>
                <a:latin typeface="맑은 고딕"/>
                <a:ea typeface="맑은 고딕"/>
                <a:cs typeface="맑은 고딕"/>
                <a:sym typeface="맑은 고딕"/>
              </a:rPr>
              <a:t>공강 플래너  </a:t>
            </a:r>
            <a:r>
              <a:t>·  </a:t>
            </a:r>
            <a:r>
              <a:rPr>
                <a:latin typeface="맑은 고딕"/>
                <a:ea typeface="맑은 고딕"/>
                <a:cs typeface="맑은 고딕"/>
                <a:sym typeface="맑은 고딕"/>
              </a:rPr>
              <a:t>김희민 </a:t>
            </a:r>
            <a:r>
              <a:t>· </a:t>
            </a:r>
            <a:r>
              <a:rPr>
                <a:latin typeface="맑은 고딕"/>
                <a:ea typeface="맑은 고딕"/>
                <a:cs typeface="맑은 고딕"/>
                <a:sym typeface="맑은 고딕"/>
              </a:rPr>
              <a:t>전병호 </a:t>
            </a:r>
            <a:r>
              <a:t>· </a:t>
            </a:r>
            <a:r>
              <a:rPr>
                <a:latin typeface="맑은 고딕"/>
                <a:ea typeface="맑은 고딕"/>
                <a:cs typeface="맑은 고딕"/>
                <a:sym typeface="맑은 고딕"/>
              </a:rPr>
              <a:t>김시형 </a:t>
            </a:r>
            <a:r>
              <a:t>· </a:t>
            </a:r>
            <a:r>
              <a:rPr>
                <a:latin typeface="맑은 고딕"/>
                <a:ea typeface="맑은 고딕"/>
                <a:cs typeface="맑은 고딕"/>
                <a:sym typeface="맑은 고딕"/>
              </a:rPr>
              <a:t>강서현</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46"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47"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FLOW</a:t>
            </a:r>
          </a:p>
        </p:txBody>
      </p:sp>
      <p:sp>
        <p:nvSpPr>
          <p:cNvPr id="48"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02</a:t>
            </a:r>
          </a:p>
        </p:txBody>
      </p:sp>
      <p:sp>
        <p:nvSpPr>
          <p:cNvPr id="49"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50"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51"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52"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53"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54" name="Shape 9"/>
          <p:cNvSpPr/>
          <p:nvPr/>
        </p:nvSpPr>
        <p:spPr>
          <a:xfrm>
            <a:off x="758951" y="813816"/>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55" name="Text 10"/>
          <p:cNvSpPr txBox="1"/>
          <p:nvPr/>
        </p:nvSpPr>
        <p:spPr>
          <a:xfrm>
            <a:off x="859536" y="868860"/>
            <a:ext cx="12801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FLOW</a:t>
            </a:r>
          </a:p>
        </p:txBody>
      </p:sp>
      <p:sp>
        <p:nvSpPr>
          <p:cNvPr id="56" name="Text 11"/>
          <p:cNvSpPr txBox="1"/>
          <p:nvPr/>
        </p:nvSpPr>
        <p:spPr>
          <a:xfrm>
            <a:off x="758951" y="1534504"/>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41247">
              <a:defRPr sz="2800" b="1">
                <a:solidFill>
                  <a:srgbClr val="102033"/>
                </a:solidFill>
                <a:latin typeface="맑은 고딕"/>
                <a:ea typeface="맑은 고딕"/>
                <a:cs typeface="맑은 고딕"/>
                <a:sym typeface="맑은 고딕"/>
              </a:defRPr>
            </a:lvl1pPr>
          </a:lstStyle>
          <a:p>
            <a:r>
              <a:t>발표 흐름</a:t>
            </a:r>
          </a:p>
        </p:txBody>
      </p:sp>
      <p:sp>
        <p:nvSpPr>
          <p:cNvPr id="57" name="Flow Card 01"/>
          <p:cNvSpPr/>
          <p:nvPr/>
        </p:nvSpPr>
        <p:spPr>
          <a:xfrm>
            <a:off x="777240" y="2474595"/>
            <a:ext cx="5074921" cy="530355"/>
          </a:xfrm>
          <a:prstGeom prst="roundRect">
            <a:avLst>
              <a:gd name="adj" fmla="val 21818"/>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8" name="Flow No 01"/>
          <p:cNvSpPr txBox="1"/>
          <p:nvPr/>
        </p:nvSpPr>
        <p:spPr>
          <a:xfrm>
            <a:off x="960119" y="2620897"/>
            <a:ext cx="393195"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14B8A6"/>
                </a:solidFill>
                <a:latin typeface="Noto Sans CJK KR"/>
                <a:ea typeface="Noto Sans CJK KR"/>
                <a:cs typeface="Noto Sans CJK KR"/>
                <a:sym typeface="Noto Sans CJK KR"/>
              </a:defRPr>
            </a:lvl1pPr>
          </a:lstStyle>
          <a:p>
            <a:r>
              <a:t>01</a:t>
            </a:r>
          </a:p>
        </p:txBody>
      </p:sp>
      <p:sp>
        <p:nvSpPr>
          <p:cNvPr id="59" name="Flow Title 01"/>
          <p:cNvSpPr txBox="1"/>
          <p:nvPr/>
        </p:nvSpPr>
        <p:spPr>
          <a:xfrm>
            <a:off x="1490472" y="2660523"/>
            <a:ext cx="2148840"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859536">
              <a:lnSpc>
                <a:spcPct val="90000"/>
              </a:lnSpc>
              <a:defRPr sz="1200" b="1">
                <a:solidFill>
                  <a:srgbClr val="102033"/>
                </a:solidFill>
                <a:latin typeface="맑은 고딕"/>
                <a:ea typeface="맑은 고딕"/>
                <a:cs typeface="맑은 고딕"/>
                <a:sym typeface="맑은 고딕"/>
              </a:defRPr>
            </a:pPr>
            <a:r>
              <a:t>제목</a:t>
            </a:r>
            <a:r>
              <a:rPr>
                <a:latin typeface="Noto Sans CJK KR"/>
                <a:ea typeface="Noto Sans CJK KR"/>
                <a:cs typeface="Noto Sans CJK KR"/>
                <a:sym typeface="Noto Sans CJK KR"/>
              </a:rPr>
              <a:t>·</a:t>
            </a:r>
            <a:r>
              <a:t>팀 소개</a:t>
            </a:r>
          </a:p>
        </p:txBody>
      </p:sp>
      <p:sp>
        <p:nvSpPr>
          <p:cNvPr id="60" name="Flow Desc 01"/>
          <p:cNvSpPr txBox="1"/>
          <p:nvPr/>
        </p:nvSpPr>
        <p:spPr>
          <a:xfrm>
            <a:off x="3703320" y="2640708"/>
            <a:ext cx="1920241"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맑은 고딕"/>
                <a:ea typeface="맑은 고딕"/>
                <a:cs typeface="맑은 고딕"/>
                <a:sym typeface="맑은 고딕"/>
              </a:defRPr>
            </a:pPr>
            <a:r>
              <a:t>팀명</a:t>
            </a:r>
            <a:r>
              <a:rPr>
                <a:latin typeface="Noto Sans CJK KR"/>
                <a:ea typeface="Noto Sans CJK KR"/>
                <a:cs typeface="Noto Sans CJK KR"/>
                <a:sym typeface="Noto Sans CJK KR"/>
              </a:rPr>
              <a:t>·</a:t>
            </a:r>
            <a:r>
              <a:t>팀원</a:t>
            </a:r>
            <a:r>
              <a:rPr>
                <a:latin typeface="Noto Sans CJK KR"/>
                <a:ea typeface="Noto Sans CJK KR"/>
                <a:cs typeface="Noto Sans CJK KR"/>
                <a:sym typeface="Noto Sans CJK KR"/>
              </a:rPr>
              <a:t>·</a:t>
            </a:r>
            <a:r>
              <a:t>제목</a:t>
            </a:r>
          </a:p>
        </p:txBody>
      </p:sp>
      <p:sp>
        <p:nvSpPr>
          <p:cNvPr id="61" name="Flow Card 02"/>
          <p:cNvSpPr/>
          <p:nvPr/>
        </p:nvSpPr>
        <p:spPr>
          <a:xfrm>
            <a:off x="777240" y="3160395"/>
            <a:ext cx="5074921" cy="530355"/>
          </a:xfrm>
          <a:prstGeom prst="roundRect">
            <a:avLst>
              <a:gd name="adj" fmla="val 21818"/>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62" name="Flow No 02"/>
          <p:cNvSpPr txBox="1"/>
          <p:nvPr/>
        </p:nvSpPr>
        <p:spPr>
          <a:xfrm>
            <a:off x="960119" y="3306698"/>
            <a:ext cx="393195"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14B8A6"/>
                </a:solidFill>
                <a:latin typeface="Noto Sans CJK KR"/>
                <a:ea typeface="Noto Sans CJK KR"/>
                <a:cs typeface="Noto Sans CJK KR"/>
                <a:sym typeface="Noto Sans CJK KR"/>
              </a:defRPr>
            </a:lvl1pPr>
          </a:lstStyle>
          <a:p>
            <a:r>
              <a:t>02</a:t>
            </a:r>
          </a:p>
        </p:txBody>
      </p:sp>
      <p:sp>
        <p:nvSpPr>
          <p:cNvPr id="63" name="Flow Title 02"/>
          <p:cNvSpPr txBox="1"/>
          <p:nvPr/>
        </p:nvSpPr>
        <p:spPr>
          <a:xfrm>
            <a:off x="1490472" y="3346322"/>
            <a:ext cx="2148840"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59536">
              <a:lnSpc>
                <a:spcPct val="90000"/>
              </a:lnSpc>
              <a:defRPr sz="1200" b="1">
                <a:solidFill>
                  <a:srgbClr val="102033"/>
                </a:solidFill>
                <a:latin typeface="맑은 고딕"/>
                <a:ea typeface="맑은 고딕"/>
                <a:cs typeface="맑은 고딕"/>
                <a:sym typeface="맑은 고딕"/>
              </a:defRPr>
            </a:lvl1pPr>
          </a:lstStyle>
          <a:p>
            <a:r>
              <a:t>프로토타입 설명</a:t>
            </a:r>
          </a:p>
        </p:txBody>
      </p:sp>
      <p:sp>
        <p:nvSpPr>
          <p:cNvPr id="64" name="Flow Desc 02"/>
          <p:cNvSpPr txBox="1"/>
          <p:nvPr/>
        </p:nvSpPr>
        <p:spPr>
          <a:xfrm>
            <a:off x="3703320" y="3326510"/>
            <a:ext cx="1920241"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100">
                <a:solidFill>
                  <a:srgbClr val="334155"/>
                </a:solidFill>
                <a:latin typeface="Noto Sans CJK KR"/>
                <a:ea typeface="Noto Sans CJK KR"/>
                <a:cs typeface="Noto Sans CJK KR"/>
                <a:sym typeface="Noto Sans CJK KR"/>
              </a:defRPr>
            </a:lvl1pPr>
          </a:lstStyle>
          <a:p>
            <a:r>
              <a:t>5W1H</a:t>
            </a:r>
          </a:p>
        </p:txBody>
      </p:sp>
      <p:sp>
        <p:nvSpPr>
          <p:cNvPr id="65" name="Flow Card 03"/>
          <p:cNvSpPr/>
          <p:nvPr/>
        </p:nvSpPr>
        <p:spPr>
          <a:xfrm>
            <a:off x="777240" y="3846195"/>
            <a:ext cx="5074921" cy="530355"/>
          </a:xfrm>
          <a:prstGeom prst="roundRect">
            <a:avLst>
              <a:gd name="adj" fmla="val 21818"/>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66" name="Flow No 03"/>
          <p:cNvSpPr txBox="1"/>
          <p:nvPr/>
        </p:nvSpPr>
        <p:spPr>
          <a:xfrm>
            <a:off x="960119" y="3992498"/>
            <a:ext cx="393195"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14B8A6"/>
                </a:solidFill>
                <a:latin typeface="Noto Sans CJK KR"/>
                <a:ea typeface="Noto Sans CJK KR"/>
                <a:cs typeface="Noto Sans CJK KR"/>
                <a:sym typeface="Noto Sans CJK KR"/>
              </a:defRPr>
            </a:lvl1pPr>
          </a:lstStyle>
          <a:p>
            <a:r>
              <a:t>03</a:t>
            </a:r>
          </a:p>
        </p:txBody>
      </p:sp>
      <p:sp>
        <p:nvSpPr>
          <p:cNvPr id="67" name="Flow Title 03"/>
          <p:cNvSpPr txBox="1"/>
          <p:nvPr/>
        </p:nvSpPr>
        <p:spPr>
          <a:xfrm>
            <a:off x="1490472" y="4032122"/>
            <a:ext cx="2148840"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59536">
              <a:lnSpc>
                <a:spcPct val="90000"/>
              </a:lnSpc>
              <a:defRPr sz="1200" b="1">
                <a:solidFill>
                  <a:srgbClr val="102033"/>
                </a:solidFill>
                <a:latin typeface="맑은 고딕"/>
                <a:ea typeface="맑은 고딕"/>
                <a:cs typeface="맑은 고딕"/>
                <a:sym typeface="맑은 고딕"/>
              </a:defRPr>
            </a:lvl1pPr>
          </a:lstStyle>
          <a:p>
            <a:r>
              <a:t>업무 분장 표</a:t>
            </a:r>
          </a:p>
        </p:txBody>
      </p:sp>
      <p:sp>
        <p:nvSpPr>
          <p:cNvPr id="68" name="Flow Desc 03"/>
          <p:cNvSpPr txBox="1"/>
          <p:nvPr/>
        </p:nvSpPr>
        <p:spPr>
          <a:xfrm>
            <a:off x="3703320" y="4012310"/>
            <a:ext cx="1920241"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맑은 고딕"/>
                <a:ea typeface="맑은 고딕"/>
                <a:cs typeface="맑은 고딕"/>
                <a:sym typeface="맑은 고딕"/>
              </a:defRPr>
            </a:pPr>
            <a:r>
              <a:t>역할</a:t>
            </a:r>
            <a:r>
              <a:rPr>
                <a:latin typeface="Noto Sans CJK KR"/>
                <a:ea typeface="Noto Sans CJK KR"/>
                <a:cs typeface="Noto Sans CJK KR"/>
                <a:sym typeface="Noto Sans CJK KR"/>
              </a:rPr>
              <a:t>·</a:t>
            </a:r>
            <a:r>
              <a:t>기능</a:t>
            </a:r>
          </a:p>
        </p:txBody>
      </p:sp>
      <p:sp>
        <p:nvSpPr>
          <p:cNvPr id="69" name="Flow Card 04"/>
          <p:cNvSpPr/>
          <p:nvPr/>
        </p:nvSpPr>
        <p:spPr>
          <a:xfrm>
            <a:off x="777240" y="4531995"/>
            <a:ext cx="5074921" cy="530355"/>
          </a:xfrm>
          <a:prstGeom prst="roundRect">
            <a:avLst>
              <a:gd name="adj" fmla="val 21818"/>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70" name="Flow No 04"/>
          <p:cNvSpPr txBox="1"/>
          <p:nvPr/>
        </p:nvSpPr>
        <p:spPr>
          <a:xfrm>
            <a:off x="960119" y="4678298"/>
            <a:ext cx="393195"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14B8A6"/>
                </a:solidFill>
                <a:latin typeface="Noto Sans CJK KR"/>
                <a:ea typeface="Noto Sans CJK KR"/>
                <a:cs typeface="Noto Sans CJK KR"/>
                <a:sym typeface="Noto Sans CJK KR"/>
              </a:defRPr>
            </a:lvl1pPr>
          </a:lstStyle>
          <a:p>
            <a:r>
              <a:t>04</a:t>
            </a:r>
          </a:p>
        </p:txBody>
      </p:sp>
      <p:sp>
        <p:nvSpPr>
          <p:cNvPr id="71" name="Flow Title 04"/>
          <p:cNvSpPr txBox="1"/>
          <p:nvPr/>
        </p:nvSpPr>
        <p:spPr>
          <a:xfrm>
            <a:off x="1490472" y="4717922"/>
            <a:ext cx="2148840"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859536">
              <a:lnSpc>
                <a:spcPct val="90000"/>
              </a:lnSpc>
              <a:defRPr sz="1200" b="1">
                <a:solidFill>
                  <a:srgbClr val="102033"/>
                </a:solidFill>
                <a:latin typeface="Noto Sans CJK KR"/>
                <a:ea typeface="Noto Sans CJK KR"/>
                <a:cs typeface="Noto Sans CJK KR"/>
                <a:sym typeface="Noto Sans CJK KR"/>
              </a:defRPr>
            </a:pPr>
            <a:r>
              <a:t>Input </a:t>
            </a:r>
            <a:r>
              <a:rPr>
                <a:latin typeface="맑은 고딕"/>
                <a:ea typeface="맑은 고딕"/>
                <a:cs typeface="맑은 고딕"/>
                <a:sym typeface="맑은 고딕"/>
              </a:rPr>
              <a:t>데이터</a:t>
            </a:r>
          </a:p>
        </p:txBody>
      </p:sp>
      <p:sp>
        <p:nvSpPr>
          <p:cNvPr id="72" name="Flow Desc 04"/>
          <p:cNvSpPr txBox="1"/>
          <p:nvPr/>
        </p:nvSpPr>
        <p:spPr>
          <a:xfrm>
            <a:off x="3703320" y="4698110"/>
            <a:ext cx="1920241"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맑은 고딕"/>
                <a:ea typeface="맑은 고딕"/>
                <a:cs typeface="맑은 고딕"/>
                <a:sym typeface="맑은 고딕"/>
              </a:defRPr>
            </a:pPr>
            <a:r>
              <a:t>모양</a:t>
            </a:r>
            <a:r>
              <a:rPr>
                <a:latin typeface="Noto Sans CJK KR"/>
                <a:ea typeface="Noto Sans CJK KR"/>
                <a:cs typeface="Noto Sans CJK KR"/>
                <a:sym typeface="Noto Sans CJK KR"/>
              </a:rPr>
              <a:t>·</a:t>
            </a:r>
            <a:r>
              <a:t>출처</a:t>
            </a:r>
          </a:p>
        </p:txBody>
      </p:sp>
      <p:sp>
        <p:nvSpPr>
          <p:cNvPr id="73" name="Flow Card 05"/>
          <p:cNvSpPr/>
          <p:nvPr/>
        </p:nvSpPr>
        <p:spPr>
          <a:xfrm>
            <a:off x="6080759" y="2474595"/>
            <a:ext cx="5074921" cy="530355"/>
          </a:xfrm>
          <a:prstGeom prst="roundRect">
            <a:avLst>
              <a:gd name="adj" fmla="val 21818"/>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74" name="Flow No 05"/>
          <p:cNvSpPr txBox="1"/>
          <p:nvPr/>
        </p:nvSpPr>
        <p:spPr>
          <a:xfrm>
            <a:off x="6263640" y="2620897"/>
            <a:ext cx="393195"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14B8A6"/>
                </a:solidFill>
                <a:latin typeface="Noto Sans CJK KR"/>
                <a:ea typeface="Noto Sans CJK KR"/>
                <a:cs typeface="Noto Sans CJK KR"/>
                <a:sym typeface="Noto Sans CJK KR"/>
              </a:defRPr>
            </a:lvl1pPr>
          </a:lstStyle>
          <a:p>
            <a:r>
              <a:t>05</a:t>
            </a:r>
          </a:p>
        </p:txBody>
      </p:sp>
      <p:sp>
        <p:nvSpPr>
          <p:cNvPr id="75" name="Flow Title 05"/>
          <p:cNvSpPr txBox="1"/>
          <p:nvPr/>
        </p:nvSpPr>
        <p:spPr>
          <a:xfrm>
            <a:off x="6793992" y="2660523"/>
            <a:ext cx="2148843"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859536">
              <a:lnSpc>
                <a:spcPct val="90000"/>
              </a:lnSpc>
              <a:defRPr sz="1200" b="1">
                <a:solidFill>
                  <a:srgbClr val="102033"/>
                </a:solidFill>
                <a:latin typeface="맑은 고딕"/>
                <a:ea typeface="맑은 고딕"/>
                <a:cs typeface="맑은 고딕"/>
                <a:sym typeface="맑은 고딕"/>
              </a:defRPr>
            </a:pPr>
            <a:r>
              <a:t>자료구조</a:t>
            </a:r>
            <a:r>
              <a:rPr>
                <a:latin typeface="Noto Sans CJK KR"/>
                <a:ea typeface="Noto Sans CJK KR"/>
                <a:cs typeface="Noto Sans CJK KR"/>
                <a:sym typeface="Noto Sans CJK KR"/>
              </a:rPr>
              <a:t>·</a:t>
            </a:r>
            <a:r>
              <a:t>알고리즘</a:t>
            </a:r>
          </a:p>
        </p:txBody>
      </p:sp>
      <p:sp>
        <p:nvSpPr>
          <p:cNvPr id="76" name="Flow Desc 05"/>
          <p:cNvSpPr txBox="1"/>
          <p:nvPr/>
        </p:nvSpPr>
        <p:spPr>
          <a:xfrm>
            <a:off x="9006840" y="2640708"/>
            <a:ext cx="1920241"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맑은 고딕"/>
                <a:ea typeface="맑은 고딕"/>
                <a:cs typeface="맑은 고딕"/>
                <a:sym typeface="맑은 고딕"/>
              </a:defRPr>
            </a:pPr>
            <a:r>
              <a:t>위치</a:t>
            </a:r>
            <a:r>
              <a:rPr>
                <a:latin typeface="Noto Sans CJK KR"/>
                <a:ea typeface="Noto Sans CJK KR"/>
                <a:cs typeface="Noto Sans CJK KR"/>
                <a:sym typeface="Noto Sans CJK KR"/>
              </a:rPr>
              <a:t>·</a:t>
            </a:r>
            <a:r>
              <a:t>이유</a:t>
            </a:r>
          </a:p>
        </p:txBody>
      </p:sp>
      <p:sp>
        <p:nvSpPr>
          <p:cNvPr id="77" name="Flow Card 06"/>
          <p:cNvSpPr/>
          <p:nvPr/>
        </p:nvSpPr>
        <p:spPr>
          <a:xfrm>
            <a:off x="6080759" y="3160395"/>
            <a:ext cx="5074921" cy="530355"/>
          </a:xfrm>
          <a:prstGeom prst="roundRect">
            <a:avLst>
              <a:gd name="adj" fmla="val 21818"/>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78" name="Flow No 06"/>
          <p:cNvSpPr txBox="1"/>
          <p:nvPr/>
        </p:nvSpPr>
        <p:spPr>
          <a:xfrm>
            <a:off x="6263640" y="3306698"/>
            <a:ext cx="393195"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14B8A6"/>
                </a:solidFill>
                <a:latin typeface="Noto Sans CJK KR"/>
                <a:ea typeface="Noto Sans CJK KR"/>
                <a:cs typeface="Noto Sans CJK KR"/>
                <a:sym typeface="Noto Sans CJK KR"/>
              </a:defRPr>
            </a:lvl1pPr>
          </a:lstStyle>
          <a:p>
            <a:r>
              <a:t>06</a:t>
            </a:r>
          </a:p>
        </p:txBody>
      </p:sp>
      <p:sp>
        <p:nvSpPr>
          <p:cNvPr id="79" name="Flow Title 06"/>
          <p:cNvSpPr txBox="1"/>
          <p:nvPr/>
        </p:nvSpPr>
        <p:spPr>
          <a:xfrm>
            <a:off x="6793992" y="3346322"/>
            <a:ext cx="2148843"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859536">
              <a:lnSpc>
                <a:spcPct val="90000"/>
              </a:lnSpc>
              <a:defRPr sz="1200" b="1">
                <a:solidFill>
                  <a:srgbClr val="102033"/>
                </a:solidFill>
                <a:latin typeface="맑은 고딕"/>
                <a:ea typeface="맑은 고딕"/>
                <a:cs typeface="맑은 고딕"/>
                <a:sym typeface="맑은 고딕"/>
              </a:defRPr>
            </a:pPr>
            <a:r>
              <a:t>설계</a:t>
            </a:r>
            <a:r>
              <a:rPr>
                <a:latin typeface="Noto Sans CJK KR"/>
                <a:ea typeface="Noto Sans CJK KR"/>
                <a:cs typeface="Noto Sans CJK KR"/>
                <a:sym typeface="Noto Sans CJK KR"/>
              </a:rPr>
              <a:t>/</a:t>
            </a:r>
            <a:r>
              <a:t>구현 방법</a:t>
            </a:r>
          </a:p>
        </p:txBody>
      </p:sp>
      <p:sp>
        <p:nvSpPr>
          <p:cNvPr id="80" name="Flow Desc 06"/>
          <p:cNvSpPr txBox="1"/>
          <p:nvPr/>
        </p:nvSpPr>
        <p:spPr>
          <a:xfrm>
            <a:off x="9006840" y="3326510"/>
            <a:ext cx="1920241"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맑은 고딕"/>
                <a:ea typeface="맑은 고딕"/>
                <a:cs typeface="맑은 고딕"/>
                <a:sym typeface="맑은 고딕"/>
              </a:defRPr>
            </a:pPr>
            <a:r>
              <a:t>구조</a:t>
            </a:r>
            <a:r>
              <a:rPr>
                <a:latin typeface="Noto Sans CJK KR"/>
                <a:ea typeface="Noto Sans CJK KR"/>
                <a:cs typeface="Noto Sans CJK KR"/>
                <a:sym typeface="Noto Sans CJK KR"/>
              </a:rPr>
              <a:t>·</a:t>
            </a:r>
            <a:r>
              <a:t>핵심코드</a:t>
            </a:r>
          </a:p>
        </p:txBody>
      </p:sp>
      <p:sp>
        <p:nvSpPr>
          <p:cNvPr id="81" name="Flow Card 07"/>
          <p:cNvSpPr/>
          <p:nvPr/>
        </p:nvSpPr>
        <p:spPr>
          <a:xfrm>
            <a:off x="6080759" y="3846195"/>
            <a:ext cx="5074921" cy="530355"/>
          </a:xfrm>
          <a:prstGeom prst="roundRect">
            <a:avLst>
              <a:gd name="adj" fmla="val 21818"/>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82" name="Flow No 07"/>
          <p:cNvSpPr txBox="1"/>
          <p:nvPr/>
        </p:nvSpPr>
        <p:spPr>
          <a:xfrm>
            <a:off x="6263640" y="3992498"/>
            <a:ext cx="393195"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14B8A6"/>
                </a:solidFill>
                <a:latin typeface="Noto Sans CJK KR"/>
                <a:ea typeface="Noto Sans CJK KR"/>
                <a:cs typeface="Noto Sans CJK KR"/>
                <a:sym typeface="Noto Sans CJK KR"/>
              </a:defRPr>
            </a:lvl1pPr>
          </a:lstStyle>
          <a:p>
            <a:r>
              <a:t>07</a:t>
            </a:r>
          </a:p>
        </p:txBody>
      </p:sp>
      <p:sp>
        <p:nvSpPr>
          <p:cNvPr id="83" name="Flow Title 07"/>
          <p:cNvSpPr txBox="1"/>
          <p:nvPr/>
        </p:nvSpPr>
        <p:spPr>
          <a:xfrm>
            <a:off x="6793992" y="4032122"/>
            <a:ext cx="2148843"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859536">
              <a:lnSpc>
                <a:spcPct val="90000"/>
              </a:lnSpc>
              <a:defRPr sz="1200" b="1">
                <a:solidFill>
                  <a:srgbClr val="102033"/>
                </a:solidFill>
                <a:latin typeface="맑은 고딕"/>
                <a:ea typeface="맑은 고딕"/>
                <a:cs typeface="맑은 고딕"/>
                <a:sym typeface="맑은 고딕"/>
              </a:defRPr>
            </a:pPr>
            <a:r>
              <a:t>시연</a:t>
            </a:r>
            <a:r>
              <a:rPr>
                <a:latin typeface="Noto Sans CJK KR"/>
                <a:ea typeface="Noto Sans CJK KR"/>
                <a:cs typeface="Noto Sans CJK KR"/>
                <a:sym typeface="Noto Sans CJK KR"/>
              </a:rPr>
              <a:t>·</a:t>
            </a:r>
            <a:r>
              <a:t>완성 결과</a:t>
            </a:r>
          </a:p>
        </p:txBody>
      </p:sp>
      <p:sp>
        <p:nvSpPr>
          <p:cNvPr id="84" name="Flow Desc 07"/>
          <p:cNvSpPr txBox="1"/>
          <p:nvPr/>
        </p:nvSpPr>
        <p:spPr>
          <a:xfrm>
            <a:off x="9006840" y="4012310"/>
            <a:ext cx="1920241"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맑은 고딕"/>
                <a:ea typeface="맑은 고딕"/>
                <a:cs typeface="맑은 고딕"/>
                <a:sym typeface="맑은 고딕"/>
              </a:defRPr>
            </a:pPr>
            <a:r>
              <a:t>실행 캡처</a:t>
            </a:r>
            <a:r>
              <a:rPr>
                <a:latin typeface="Noto Sans CJK KR"/>
                <a:ea typeface="Noto Sans CJK KR"/>
                <a:cs typeface="Noto Sans CJK KR"/>
                <a:sym typeface="Noto Sans CJK KR"/>
              </a:rPr>
              <a:t>·</a:t>
            </a:r>
            <a:r>
              <a:t>영상</a:t>
            </a:r>
          </a:p>
        </p:txBody>
      </p:sp>
      <p:sp>
        <p:nvSpPr>
          <p:cNvPr id="85" name="Flow Card 08"/>
          <p:cNvSpPr/>
          <p:nvPr/>
        </p:nvSpPr>
        <p:spPr>
          <a:xfrm>
            <a:off x="6080759" y="4531995"/>
            <a:ext cx="5074921" cy="530355"/>
          </a:xfrm>
          <a:prstGeom prst="roundRect">
            <a:avLst>
              <a:gd name="adj" fmla="val 21818"/>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86" name="Flow No 08"/>
          <p:cNvSpPr txBox="1"/>
          <p:nvPr/>
        </p:nvSpPr>
        <p:spPr>
          <a:xfrm>
            <a:off x="6263640" y="4678298"/>
            <a:ext cx="393195"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14B8A6"/>
                </a:solidFill>
                <a:latin typeface="Noto Sans CJK KR"/>
                <a:ea typeface="Noto Sans CJK KR"/>
                <a:cs typeface="Noto Sans CJK KR"/>
                <a:sym typeface="Noto Sans CJK KR"/>
              </a:defRPr>
            </a:lvl1pPr>
          </a:lstStyle>
          <a:p>
            <a:r>
              <a:t>08</a:t>
            </a:r>
          </a:p>
        </p:txBody>
      </p:sp>
      <p:sp>
        <p:nvSpPr>
          <p:cNvPr id="87" name="Flow Title 08"/>
          <p:cNvSpPr txBox="1"/>
          <p:nvPr/>
        </p:nvSpPr>
        <p:spPr>
          <a:xfrm>
            <a:off x="6793992" y="4717922"/>
            <a:ext cx="2148843" cy="2063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300" b="1">
                <a:solidFill>
                  <a:srgbClr val="102033"/>
                </a:solidFill>
                <a:latin typeface="Noto Sans CJK KR"/>
                <a:ea typeface="Noto Sans CJK KR"/>
                <a:cs typeface="Noto Sans CJK KR"/>
                <a:sym typeface="Noto Sans CJK KR"/>
              </a:defRPr>
            </a:lvl1pPr>
          </a:lstStyle>
          <a:p>
            <a:r>
              <a:t>PMI·Q&amp;A</a:t>
            </a:r>
          </a:p>
        </p:txBody>
      </p:sp>
      <p:sp>
        <p:nvSpPr>
          <p:cNvPr id="88" name="Flow Desc 08"/>
          <p:cNvSpPr txBox="1"/>
          <p:nvPr/>
        </p:nvSpPr>
        <p:spPr>
          <a:xfrm>
            <a:off x="9006840" y="4698110"/>
            <a:ext cx="1920241"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맑은 고딕"/>
                <a:ea typeface="맑은 고딕"/>
                <a:cs typeface="맑은 고딕"/>
                <a:sym typeface="맑은 고딕"/>
              </a:defRPr>
            </a:pPr>
            <a:r>
              <a:t>팀 회고</a:t>
            </a:r>
            <a:r>
              <a:rPr>
                <a:latin typeface="Noto Sans CJK KR"/>
                <a:ea typeface="Noto Sans CJK KR"/>
                <a:cs typeface="Noto Sans CJK KR"/>
                <a:sym typeface="Noto Sans CJK KR"/>
              </a:rPr>
              <a:t>·</a:t>
            </a:r>
            <a:r>
              <a:t>마무리</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91"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92"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SERVICE</a:t>
            </a:r>
          </a:p>
        </p:txBody>
      </p:sp>
      <p:sp>
        <p:nvSpPr>
          <p:cNvPr id="93"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03</a:t>
            </a:r>
          </a:p>
        </p:txBody>
      </p:sp>
      <p:sp>
        <p:nvSpPr>
          <p:cNvPr id="94"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95"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96"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97"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98"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99" name="Shape 9"/>
          <p:cNvSpPr/>
          <p:nvPr/>
        </p:nvSpPr>
        <p:spPr>
          <a:xfrm>
            <a:off x="758951" y="813816"/>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100" name="Text 10"/>
          <p:cNvSpPr txBox="1"/>
          <p:nvPr/>
        </p:nvSpPr>
        <p:spPr>
          <a:xfrm>
            <a:off x="859536" y="868860"/>
            <a:ext cx="12801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SERVICE</a:t>
            </a:r>
          </a:p>
        </p:txBody>
      </p:sp>
      <p:sp>
        <p:nvSpPr>
          <p:cNvPr id="101" name="Text 11"/>
          <p:cNvSpPr txBox="1"/>
          <p:nvPr/>
        </p:nvSpPr>
        <p:spPr>
          <a:xfrm>
            <a:off x="758951" y="1472183"/>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defRPr sz="2800" b="1">
                <a:solidFill>
                  <a:srgbClr val="102033"/>
                </a:solidFill>
                <a:latin typeface="Malgun Gothic"/>
                <a:ea typeface="Malgun Gothic"/>
                <a:cs typeface="Malgun Gothic"/>
                <a:sym typeface="Malgun Gothic"/>
              </a:defRPr>
            </a:pPr>
            <a:r>
              <a:t>프로토타입 설명 </a:t>
            </a:r>
            <a:r>
              <a:rPr>
                <a:latin typeface="Noto Sans CJK KR"/>
                <a:ea typeface="Noto Sans CJK KR"/>
                <a:cs typeface="Noto Sans CJK KR"/>
                <a:sym typeface="Noto Sans CJK KR"/>
              </a:rPr>
              <a:t>: 5W1H</a:t>
            </a:r>
          </a:p>
        </p:txBody>
      </p:sp>
      <p:sp>
        <p:nvSpPr>
          <p:cNvPr id="102" name="Text 12"/>
          <p:cNvSpPr txBox="1"/>
          <p:nvPr/>
        </p:nvSpPr>
        <p:spPr>
          <a:xfrm>
            <a:off x="758951" y="2002533"/>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Malgun Gothic"/>
                <a:ea typeface="Malgun Gothic"/>
                <a:cs typeface="Malgun Gothic"/>
                <a:sym typeface="Malgun Gothic"/>
              </a:defRPr>
            </a:pPr>
            <a:r>
              <a:t>무엇을</a:t>
            </a:r>
            <a:r>
              <a:rPr>
                <a:latin typeface="Noto Sans CJK KR"/>
                <a:ea typeface="Noto Sans CJK KR"/>
                <a:cs typeface="Noto Sans CJK KR"/>
                <a:sym typeface="Noto Sans CJK KR"/>
              </a:rPr>
              <a:t>, </a:t>
            </a:r>
            <a:r>
              <a:t>누구에게</a:t>
            </a:r>
            <a:r>
              <a:rPr>
                <a:latin typeface="Noto Sans CJK KR"/>
                <a:ea typeface="Noto Sans CJK KR"/>
                <a:cs typeface="Noto Sans CJK KR"/>
                <a:sym typeface="Noto Sans CJK KR"/>
              </a:rPr>
              <a:t>, </a:t>
            </a:r>
            <a:r>
              <a:t>언제</a:t>
            </a:r>
            <a:r>
              <a:rPr>
                <a:latin typeface="Noto Sans CJK KR"/>
                <a:ea typeface="Noto Sans CJK KR"/>
                <a:cs typeface="Noto Sans CJK KR"/>
                <a:sym typeface="Noto Sans CJK KR"/>
              </a:rPr>
              <a:t>, </a:t>
            </a:r>
            <a:r>
              <a:t>왜</a:t>
            </a:r>
            <a:r>
              <a:rPr>
                <a:latin typeface="Noto Sans CJK KR"/>
                <a:ea typeface="Noto Sans CJK KR"/>
                <a:cs typeface="Noto Sans CJK KR"/>
                <a:sym typeface="Noto Sans CJK KR"/>
              </a:rPr>
              <a:t>, </a:t>
            </a:r>
            <a:r>
              <a:t>어떻게 제공하는 서비스인지 정리했습니다</a:t>
            </a:r>
            <a:r>
              <a:rPr>
                <a:latin typeface="Noto Sans CJK KR"/>
                <a:ea typeface="Noto Sans CJK KR"/>
                <a:cs typeface="Noto Sans CJK KR"/>
                <a:sym typeface="Noto Sans CJK KR"/>
              </a:rPr>
              <a:t>.</a:t>
            </a:r>
          </a:p>
        </p:txBody>
      </p:sp>
      <p:sp>
        <p:nvSpPr>
          <p:cNvPr id="103" name="Shape 13"/>
          <p:cNvSpPr/>
          <p:nvPr/>
        </p:nvSpPr>
        <p:spPr>
          <a:xfrm>
            <a:off x="868680" y="2626230"/>
            <a:ext cx="2971801" cy="1133859"/>
          </a:xfrm>
          <a:prstGeom prst="roundRect">
            <a:avLst>
              <a:gd name="adj" fmla="val 11429"/>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04" name="Shape 14"/>
          <p:cNvSpPr/>
          <p:nvPr/>
        </p:nvSpPr>
        <p:spPr>
          <a:xfrm>
            <a:off x="1106424" y="2918841"/>
            <a:ext cx="658371" cy="246891"/>
          </a:xfrm>
          <a:prstGeom prst="roundRect">
            <a:avLst>
              <a:gd name="adj" fmla="val 18519"/>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105" name="Text 15"/>
          <p:cNvSpPr txBox="1"/>
          <p:nvPr/>
        </p:nvSpPr>
        <p:spPr>
          <a:xfrm>
            <a:off x="1106424" y="2918841"/>
            <a:ext cx="658370" cy="246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400" b="1">
                <a:solidFill>
                  <a:srgbClr val="FFFFFF"/>
                </a:solidFill>
                <a:latin typeface="Noto Sans CJK KR"/>
                <a:ea typeface="Noto Sans CJK KR"/>
                <a:cs typeface="Noto Sans CJK KR"/>
                <a:sym typeface="Noto Sans CJK KR"/>
              </a:defRPr>
            </a:lvl1pPr>
          </a:lstStyle>
          <a:p>
            <a:r>
              <a:t>WHAT</a:t>
            </a:r>
          </a:p>
        </p:txBody>
      </p:sp>
      <p:sp>
        <p:nvSpPr>
          <p:cNvPr id="106" name="Text 16"/>
          <p:cNvSpPr txBox="1"/>
          <p:nvPr/>
        </p:nvSpPr>
        <p:spPr>
          <a:xfrm>
            <a:off x="1033272" y="2924936"/>
            <a:ext cx="2642617" cy="219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22958">
              <a:lnSpc>
                <a:spcPct val="90000"/>
              </a:lnSpc>
              <a:defRPr sz="1300" b="1">
                <a:solidFill>
                  <a:srgbClr val="102033"/>
                </a:solidFill>
                <a:latin typeface="맑은 고딕"/>
                <a:ea typeface="맑은 고딕"/>
                <a:cs typeface="맑은 고딕"/>
                <a:sym typeface="맑은 고딕"/>
              </a:defRPr>
            </a:lvl1pPr>
          </a:lstStyle>
          <a:p>
            <a:r>
              <a:t>  장소 추천</a:t>
            </a:r>
          </a:p>
        </p:txBody>
      </p:sp>
      <p:sp>
        <p:nvSpPr>
          <p:cNvPr id="107" name="Text 17"/>
          <p:cNvSpPr txBox="1"/>
          <p:nvPr/>
        </p:nvSpPr>
        <p:spPr>
          <a:xfrm>
            <a:off x="1033272" y="3258310"/>
            <a:ext cx="2642617" cy="384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lvl1pPr algn="ctr">
              <a:defRPr sz="1200">
                <a:solidFill>
                  <a:srgbClr val="334155"/>
                </a:solidFill>
                <a:latin typeface="맑은 고딕"/>
                <a:ea typeface="맑은 고딕"/>
                <a:cs typeface="맑은 고딕"/>
                <a:sym typeface="맑은 고딕"/>
              </a:defRPr>
            </a:lvl1pPr>
          </a:lstStyle>
          <a:p>
            <a:r>
              <a:t>공강 안에 이용 가능한 장소</a:t>
            </a:r>
          </a:p>
        </p:txBody>
      </p:sp>
      <p:sp>
        <p:nvSpPr>
          <p:cNvPr id="108" name="Shape 18"/>
          <p:cNvSpPr/>
          <p:nvPr/>
        </p:nvSpPr>
        <p:spPr>
          <a:xfrm>
            <a:off x="4389120" y="2626230"/>
            <a:ext cx="2971803" cy="1133859"/>
          </a:xfrm>
          <a:prstGeom prst="roundRect">
            <a:avLst>
              <a:gd name="adj" fmla="val 11429"/>
            </a:avLst>
          </a:prstGeom>
          <a:solidFill>
            <a:srgbClr val="FFFFFF"/>
          </a:solidFill>
          <a:ln w="10160">
            <a:solidFill>
              <a:srgbClr val="D8E3ED"/>
            </a:solidFill>
          </a:ln>
        </p:spPr>
        <p:txBody>
          <a:bodyPr lIns="0" tIns="0" rIns="0" bIns="0" anchor="ctr"/>
          <a:lstStyle/>
          <a:p>
            <a:pPr algn="ctr">
              <a:defRPr>
                <a:latin typeface="Malgun Gothic"/>
                <a:ea typeface="Malgun Gothic"/>
                <a:cs typeface="Malgun Gothic"/>
                <a:sym typeface="Malgun Gothic"/>
              </a:defRPr>
            </a:pPr>
            <a:endParaRPr/>
          </a:p>
        </p:txBody>
      </p:sp>
      <p:sp>
        <p:nvSpPr>
          <p:cNvPr id="109" name="Shape 19"/>
          <p:cNvSpPr/>
          <p:nvPr/>
        </p:nvSpPr>
        <p:spPr>
          <a:xfrm>
            <a:off x="4626864" y="2918841"/>
            <a:ext cx="658371" cy="246891"/>
          </a:xfrm>
          <a:prstGeom prst="roundRect">
            <a:avLst>
              <a:gd name="adj" fmla="val 18519"/>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110" name="Text 20"/>
          <p:cNvSpPr txBox="1"/>
          <p:nvPr/>
        </p:nvSpPr>
        <p:spPr>
          <a:xfrm>
            <a:off x="4626864" y="2918841"/>
            <a:ext cx="658371" cy="246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400" b="1">
                <a:solidFill>
                  <a:srgbClr val="FFFFFF"/>
                </a:solidFill>
                <a:latin typeface="Noto Sans CJK KR"/>
                <a:ea typeface="Noto Sans CJK KR"/>
                <a:cs typeface="Noto Sans CJK KR"/>
                <a:sym typeface="Noto Sans CJK KR"/>
              </a:defRPr>
            </a:lvl1pPr>
          </a:lstStyle>
          <a:p>
            <a:r>
              <a:t>WHO</a:t>
            </a:r>
          </a:p>
        </p:txBody>
      </p:sp>
      <p:sp>
        <p:nvSpPr>
          <p:cNvPr id="111" name="Text 21"/>
          <p:cNvSpPr txBox="1"/>
          <p:nvPr/>
        </p:nvSpPr>
        <p:spPr>
          <a:xfrm>
            <a:off x="4553710" y="2924936"/>
            <a:ext cx="2642618" cy="219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905255">
              <a:lnSpc>
                <a:spcPct val="90000"/>
              </a:lnSpc>
              <a:defRPr sz="1400" b="1">
                <a:solidFill>
                  <a:srgbClr val="102033"/>
                </a:solidFill>
                <a:latin typeface="맑은 고딕"/>
                <a:ea typeface="맑은 고딕"/>
                <a:cs typeface="맑은 고딕"/>
                <a:sym typeface="맑은 고딕"/>
              </a:defRPr>
            </a:lvl1pPr>
          </a:lstStyle>
          <a:p>
            <a:r>
              <a:t>대상</a:t>
            </a:r>
          </a:p>
        </p:txBody>
      </p:sp>
      <p:sp>
        <p:nvSpPr>
          <p:cNvPr id="112" name="Text 22"/>
          <p:cNvSpPr txBox="1"/>
          <p:nvPr/>
        </p:nvSpPr>
        <p:spPr>
          <a:xfrm>
            <a:off x="4553710" y="3340608"/>
            <a:ext cx="2642618" cy="2194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lvl1pPr algn="ctr">
              <a:defRPr sz="1200">
                <a:solidFill>
                  <a:srgbClr val="334155"/>
                </a:solidFill>
                <a:latin typeface="맑은 고딕"/>
                <a:ea typeface="맑은 고딕"/>
                <a:cs typeface="맑은 고딕"/>
                <a:sym typeface="맑은 고딕"/>
              </a:defRPr>
            </a:lvl1pPr>
          </a:lstStyle>
          <a:p>
            <a:r>
              <a:t>가천대 공강 학생</a:t>
            </a:r>
          </a:p>
        </p:txBody>
      </p:sp>
      <p:sp>
        <p:nvSpPr>
          <p:cNvPr id="113" name="Shape 23"/>
          <p:cNvSpPr/>
          <p:nvPr/>
        </p:nvSpPr>
        <p:spPr>
          <a:xfrm>
            <a:off x="7909559" y="2626230"/>
            <a:ext cx="2971803" cy="1133859"/>
          </a:xfrm>
          <a:prstGeom prst="roundRect">
            <a:avLst>
              <a:gd name="adj" fmla="val 11429"/>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14" name="Shape 24"/>
          <p:cNvSpPr/>
          <p:nvPr/>
        </p:nvSpPr>
        <p:spPr>
          <a:xfrm>
            <a:off x="8147304" y="2918841"/>
            <a:ext cx="658371" cy="246891"/>
          </a:xfrm>
          <a:prstGeom prst="roundRect">
            <a:avLst>
              <a:gd name="adj" fmla="val 18519"/>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115" name="Text 25"/>
          <p:cNvSpPr txBox="1"/>
          <p:nvPr/>
        </p:nvSpPr>
        <p:spPr>
          <a:xfrm>
            <a:off x="8147304" y="2918841"/>
            <a:ext cx="658371" cy="246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400" b="1">
                <a:solidFill>
                  <a:srgbClr val="FFFFFF"/>
                </a:solidFill>
                <a:latin typeface="Noto Sans CJK KR"/>
                <a:ea typeface="Noto Sans CJK KR"/>
                <a:cs typeface="Noto Sans CJK KR"/>
                <a:sym typeface="Noto Sans CJK KR"/>
              </a:defRPr>
            </a:lvl1pPr>
          </a:lstStyle>
          <a:p>
            <a:r>
              <a:t>WHEN</a:t>
            </a:r>
          </a:p>
        </p:txBody>
      </p:sp>
      <p:sp>
        <p:nvSpPr>
          <p:cNvPr id="116" name="Text 26"/>
          <p:cNvSpPr txBox="1"/>
          <p:nvPr/>
        </p:nvSpPr>
        <p:spPr>
          <a:xfrm>
            <a:off x="8074152" y="2924936"/>
            <a:ext cx="2642619" cy="219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22958">
              <a:lnSpc>
                <a:spcPct val="90000"/>
              </a:lnSpc>
              <a:defRPr sz="1300" b="1">
                <a:solidFill>
                  <a:srgbClr val="102033"/>
                </a:solidFill>
                <a:latin typeface="맑은 고딕"/>
                <a:ea typeface="맑은 고딕"/>
                <a:cs typeface="맑은 고딕"/>
                <a:sym typeface="맑은 고딕"/>
              </a:defRPr>
            </a:lvl1pPr>
          </a:lstStyle>
          <a:p>
            <a:r>
              <a:t>사용 시점</a:t>
            </a:r>
          </a:p>
        </p:txBody>
      </p:sp>
      <p:sp>
        <p:nvSpPr>
          <p:cNvPr id="117" name="Text 27"/>
          <p:cNvSpPr txBox="1"/>
          <p:nvPr/>
        </p:nvSpPr>
        <p:spPr>
          <a:xfrm>
            <a:off x="8074152" y="3340608"/>
            <a:ext cx="2642619" cy="2194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맑은 고딕"/>
                <a:ea typeface="맑은 고딕"/>
                <a:cs typeface="맑은 고딕"/>
                <a:sym typeface="맑은 고딕"/>
              </a:defRPr>
            </a:pPr>
            <a:r>
              <a:t>수업 전</a:t>
            </a:r>
            <a:r>
              <a:rPr>
                <a:latin typeface="Noto Sans CJK KR"/>
                <a:ea typeface="Noto Sans CJK KR"/>
                <a:cs typeface="Noto Sans CJK KR"/>
                <a:sym typeface="Noto Sans CJK KR"/>
              </a:rPr>
              <a:t>·</a:t>
            </a:r>
            <a:r>
              <a:t>사이</a:t>
            </a:r>
            <a:r>
              <a:rPr>
                <a:latin typeface="Noto Sans CJK KR"/>
                <a:ea typeface="Noto Sans CJK KR"/>
                <a:cs typeface="Noto Sans CJK KR"/>
                <a:sym typeface="Noto Sans CJK KR"/>
              </a:rPr>
              <a:t>·</a:t>
            </a:r>
            <a:r>
              <a:t>후</a:t>
            </a:r>
          </a:p>
        </p:txBody>
      </p:sp>
      <p:sp>
        <p:nvSpPr>
          <p:cNvPr id="118" name="Shape 28"/>
          <p:cNvSpPr/>
          <p:nvPr/>
        </p:nvSpPr>
        <p:spPr>
          <a:xfrm>
            <a:off x="868680" y="3924679"/>
            <a:ext cx="2971801" cy="1133859"/>
          </a:xfrm>
          <a:prstGeom prst="roundRect">
            <a:avLst>
              <a:gd name="adj" fmla="val 11429"/>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19" name="Shape 29"/>
          <p:cNvSpPr/>
          <p:nvPr/>
        </p:nvSpPr>
        <p:spPr>
          <a:xfrm>
            <a:off x="1106424" y="4217289"/>
            <a:ext cx="658371" cy="246891"/>
          </a:xfrm>
          <a:prstGeom prst="roundRect">
            <a:avLst>
              <a:gd name="adj" fmla="val 18519"/>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120" name="Text 30"/>
          <p:cNvSpPr txBox="1"/>
          <p:nvPr/>
        </p:nvSpPr>
        <p:spPr>
          <a:xfrm>
            <a:off x="1106424" y="4239131"/>
            <a:ext cx="658371"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300" b="1">
                <a:solidFill>
                  <a:srgbClr val="FFFFFF"/>
                </a:solidFill>
                <a:latin typeface="Noto Sans CJK KR"/>
                <a:ea typeface="Noto Sans CJK KR"/>
                <a:cs typeface="Noto Sans CJK KR"/>
                <a:sym typeface="Noto Sans CJK KR"/>
              </a:defRPr>
            </a:lvl1pPr>
          </a:lstStyle>
          <a:p>
            <a:r>
              <a:t>WHERE</a:t>
            </a:r>
          </a:p>
        </p:txBody>
      </p:sp>
      <p:sp>
        <p:nvSpPr>
          <p:cNvPr id="121" name="Text 31"/>
          <p:cNvSpPr txBox="1"/>
          <p:nvPr/>
        </p:nvSpPr>
        <p:spPr>
          <a:xfrm>
            <a:off x="1033272" y="4223384"/>
            <a:ext cx="2642617" cy="2194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905255">
              <a:lnSpc>
                <a:spcPct val="90000"/>
              </a:lnSpc>
              <a:defRPr sz="1400" b="1">
                <a:solidFill>
                  <a:srgbClr val="102033"/>
                </a:solidFill>
                <a:latin typeface="맑은 고딕"/>
                <a:ea typeface="맑은 고딕"/>
                <a:cs typeface="맑은 고딕"/>
                <a:sym typeface="맑은 고딕"/>
              </a:defRPr>
            </a:lvl1pPr>
          </a:lstStyle>
          <a:p>
            <a:r>
              <a:t>장소</a:t>
            </a:r>
          </a:p>
        </p:txBody>
      </p:sp>
      <p:sp>
        <p:nvSpPr>
          <p:cNvPr id="122" name="Text 32"/>
          <p:cNvSpPr txBox="1"/>
          <p:nvPr/>
        </p:nvSpPr>
        <p:spPr>
          <a:xfrm>
            <a:off x="1106424" y="4639054"/>
            <a:ext cx="2642618" cy="2194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lvl1pPr algn="ctr">
              <a:defRPr sz="1200">
                <a:solidFill>
                  <a:srgbClr val="334155"/>
                </a:solidFill>
                <a:latin typeface="맑은 고딕"/>
                <a:ea typeface="맑은 고딕"/>
                <a:cs typeface="맑은 고딕"/>
                <a:sym typeface="맑은 고딕"/>
              </a:defRPr>
            </a:lvl1pPr>
          </a:lstStyle>
          <a:p>
            <a:r>
              <a:t>가천대 캠퍼스 내부</a:t>
            </a:r>
          </a:p>
        </p:txBody>
      </p:sp>
      <p:sp>
        <p:nvSpPr>
          <p:cNvPr id="123" name="Shape 33"/>
          <p:cNvSpPr/>
          <p:nvPr/>
        </p:nvSpPr>
        <p:spPr>
          <a:xfrm>
            <a:off x="4389120" y="3924679"/>
            <a:ext cx="2971803" cy="1133859"/>
          </a:xfrm>
          <a:prstGeom prst="roundRect">
            <a:avLst>
              <a:gd name="adj" fmla="val 11429"/>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24" name="Shape 34"/>
          <p:cNvSpPr/>
          <p:nvPr/>
        </p:nvSpPr>
        <p:spPr>
          <a:xfrm>
            <a:off x="4626864" y="4217289"/>
            <a:ext cx="658371" cy="246891"/>
          </a:xfrm>
          <a:prstGeom prst="roundRect">
            <a:avLst>
              <a:gd name="adj" fmla="val 18519"/>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125" name="Text 35"/>
          <p:cNvSpPr txBox="1"/>
          <p:nvPr/>
        </p:nvSpPr>
        <p:spPr>
          <a:xfrm>
            <a:off x="4626864" y="4217289"/>
            <a:ext cx="658371" cy="246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400" b="1">
                <a:solidFill>
                  <a:srgbClr val="FFFFFF"/>
                </a:solidFill>
                <a:latin typeface="Noto Sans CJK KR"/>
                <a:ea typeface="Noto Sans CJK KR"/>
                <a:cs typeface="Noto Sans CJK KR"/>
                <a:sym typeface="Noto Sans CJK KR"/>
              </a:defRPr>
            </a:lvl1pPr>
          </a:lstStyle>
          <a:p>
            <a:r>
              <a:t>WHY</a:t>
            </a:r>
          </a:p>
        </p:txBody>
      </p:sp>
      <p:sp>
        <p:nvSpPr>
          <p:cNvPr id="126" name="Text 36"/>
          <p:cNvSpPr txBox="1"/>
          <p:nvPr/>
        </p:nvSpPr>
        <p:spPr>
          <a:xfrm>
            <a:off x="4553710" y="4223384"/>
            <a:ext cx="2642618" cy="2194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905255">
              <a:lnSpc>
                <a:spcPct val="90000"/>
              </a:lnSpc>
              <a:defRPr sz="1400" b="1">
                <a:solidFill>
                  <a:srgbClr val="102033"/>
                </a:solidFill>
                <a:latin typeface="맑은 고딕"/>
                <a:ea typeface="맑은 고딕"/>
                <a:cs typeface="맑은 고딕"/>
                <a:sym typeface="맑은 고딕"/>
              </a:defRPr>
            </a:lvl1pPr>
          </a:lstStyle>
          <a:p>
            <a:r>
              <a:t>필요성</a:t>
            </a:r>
          </a:p>
        </p:txBody>
      </p:sp>
      <p:sp>
        <p:nvSpPr>
          <p:cNvPr id="127" name="Text 37"/>
          <p:cNvSpPr txBox="1"/>
          <p:nvPr/>
        </p:nvSpPr>
        <p:spPr>
          <a:xfrm>
            <a:off x="4553710" y="4556759"/>
            <a:ext cx="2642618" cy="384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맑은 고딕"/>
                <a:ea typeface="맑은 고딕"/>
                <a:cs typeface="맑은 고딕"/>
                <a:sym typeface="맑은 고딕"/>
              </a:defRPr>
            </a:pPr>
            <a:r>
              <a:t>이동</a:t>
            </a:r>
            <a:r>
              <a:rPr>
                <a:latin typeface="Noto Sans CJK KR"/>
                <a:ea typeface="Noto Sans CJK KR"/>
                <a:cs typeface="Noto Sans CJK KR"/>
                <a:sym typeface="Noto Sans CJK KR"/>
              </a:rPr>
              <a:t>·</a:t>
            </a:r>
            <a:r>
              <a:t>혼잡 비교 부담 감소</a:t>
            </a:r>
          </a:p>
        </p:txBody>
      </p:sp>
      <p:sp>
        <p:nvSpPr>
          <p:cNvPr id="128" name="Shape 38"/>
          <p:cNvSpPr/>
          <p:nvPr/>
        </p:nvSpPr>
        <p:spPr>
          <a:xfrm>
            <a:off x="7909559" y="3924679"/>
            <a:ext cx="2971803" cy="1133859"/>
          </a:xfrm>
          <a:prstGeom prst="roundRect">
            <a:avLst>
              <a:gd name="adj" fmla="val 11429"/>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29" name="Shape 39"/>
          <p:cNvSpPr/>
          <p:nvPr/>
        </p:nvSpPr>
        <p:spPr>
          <a:xfrm>
            <a:off x="8147304" y="4217289"/>
            <a:ext cx="658371" cy="246891"/>
          </a:xfrm>
          <a:prstGeom prst="roundRect">
            <a:avLst>
              <a:gd name="adj" fmla="val 18519"/>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130" name="Text 40"/>
          <p:cNvSpPr txBox="1"/>
          <p:nvPr/>
        </p:nvSpPr>
        <p:spPr>
          <a:xfrm>
            <a:off x="8147304" y="4217289"/>
            <a:ext cx="658371" cy="246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400" b="1">
                <a:solidFill>
                  <a:srgbClr val="FFFFFF"/>
                </a:solidFill>
                <a:latin typeface="Noto Sans CJK KR"/>
                <a:ea typeface="Noto Sans CJK KR"/>
                <a:cs typeface="Noto Sans CJK KR"/>
                <a:sym typeface="Noto Sans CJK KR"/>
              </a:defRPr>
            </a:lvl1pPr>
          </a:lstStyle>
          <a:p>
            <a:r>
              <a:t>HOW</a:t>
            </a:r>
          </a:p>
        </p:txBody>
      </p:sp>
      <p:sp>
        <p:nvSpPr>
          <p:cNvPr id="131" name="Text 41"/>
          <p:cNvSpPr txBox="1"/>
          <p:nvPr/>
        </p:nvSpPr>
        <p:spPr>
          <a:xfrm>
            <a:off x="8074152" y="4223384"/>
            <a:ext cx="2642619" cy="2194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22958">
              <a:lnSpc>
                <a:spcPct val="90000"/>
              </a:lnSpc>
              <a:defRPr sz="1300" b="1">
                <a:solidFill>
                  <a:srgbClr val="102033"/>
                </a:solidFill>
                <a:latin typeface="맑은 고딕"/>
                <a:ea typeface="맑은 고딕"/>
                <a:cs typeface="맑은 고딕"/>
                <a:sym typeface="맑은 고딕"/>
              </a:defRPr>
            </a:lvl1pPr>
          </a:lstStyle>
          <a:p>
            <a:r>
              <a:t>  계산 방식</a:t>
            </a:r>
          </a:p>
        </p:txBody>
      </p:sp>
      <p:sp>
        <p:nvSpPr>
          <p:cNvPr id="132" name="Text 42"/>
          <p:cNvSpPr txBox="1"/>
          <p:nvPr/>
        </p:nvSpPr>
        <p:spPr>
          <a:xfrm>
            <a:off x="8074152" y="4556759"/>
            <a:ext cx="2642619" cy="384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lvl1pPr algn="ctr">
              <a:defRPr sz="1200">
                <a:solidFill>
                  <a:srgbClr val="364153"/>
                </a:solidFill>
                <a:latin typeface="Noto Sans CJK KR"/>
                <a:ea typeface="Noto Sans CJK KR"/>
                <a:cs typeface="Noto Sans CJK KR"/>
                <a:sym typeface="Noto Sans CJK KR"/>
              </a:defRPr>
            </a:lvl1pPr>
          </a:lstStyle>
          <a:p>
            <a:r>
              <a:t>시간표→경로→혼잡도→추천</a:t>
            </a:r>
          </a:p>
        </p:txBody>
      </p:sp>
      <p:sp>
        <p:nvSpPr>
          <p:cNvPr id="133" name="Text 43"/>
          <p:cNvSpPr txBox="1"/>
          <p:nvPr/>
        </p:nvSpPr>
        <p:spPr>
          <a:xfrm>
            <a:off x="868677" y="5458967"/>
            <a:ext cx="9692646"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334155"/>
                </a:solidFill>
                <a:latin typeface="Malgun Gothic"/>
                <a:ea typeface="Malgun Gothic"/>
                <a:cs typeface="Malgun Gothic"/>
                <a:sym typeface="Malgun Gothic"/>
              </a:defRPr>
            </a:pPr>
            <a:r>
              <a:t>핵심 질문 </a:t>
            </a:r>
            <a:r>
              <a:rPr>
                <a:latin typeface="Noto Sans CJK KR"/>
                <a:ea typeface="Noto Sans CJK KR"/>
                <a:cs typeface="Noto Sans CJK KR"/>
                <a:sym typeface="Noto Sans CJK KR"/>
              </a:rPr>
              <a:t>| </a:t>
            </a:r>
            <a:r>
              <a:t>지금 남은 시간 안에 어디까지 다녀올 수 있고</a:t>
            </a:r>
            <a:r>
              <a:rPr>
                <a:latin typeface="Noto Sans CJK KR"/>
                <a:ea typeface="Noto Sans CJK KR"/>
                <a:cs typeface="Noto Sans CJK KR"/>
                <a:sym typeface="Noto Sans CJK KR"/>
              </a:rPr>
              <a:t>, </a:t>
            </a:r>
            <a:r>
              <a:t>어떤 장소가 목적에 맞는가</a:t>
            </a:r>
            <a:r>
              <a:rPr>
                <a:latin typeface="Noto Sans CJK KR"/>
                <a:ea typeface="Noto Sans CJK KR"/>
                <a:cs typeface="Noto Sans CJK KR"/>
                <a:sym typeface="Noto Sans CJK KR"/>
              </a:rPr>
              <a: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136"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137"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DIFFERENTIATION</a:t>
            </a:r>
          </a:p>
        </p:txBody>
      </p:sp>
      <p:sp>
        <p:nvSpPr>
          <p:cNvPr id="138"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04</a:t>
            </a:r>
          </a:p>
        </p:txBody>
      </p:sp>
      <p:sp>
        <p:nvSpPr>
          <p:cNvPr id="139"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140"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141"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142"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143"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144" name="Shape 9"/>
          <p:cNvSpPr/>
          <p:nvPr/>
        </p:nvSpPr>
        <p:spPr>
          <a:xfrm>
            <a:off x="758951" y="813816"/>
            <a:ext cx="225856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145" name="Text 10"/>
          <p:cNvSpPr txBox="1"/>
          <p:nvPr/>
        </p:nvSpPr>
        <p:spPr>
          <a:xfrm>
            <a:off x="859536" y="868860"/>
            <a:ext cx="2057401"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DIFFERENTIATION</a:t>
            </a:r>
          </a:p>
        </p:txBody>
      </p:sp>
      <p:sp>
        <p:nvSpPr>
          <p:cNvPr id="146" name="Text 11"/>
          <p:cNvSpPr txBox="1"/>
          <p:nvPr/>
        </p:nvSpPr>
        <p:spPr>
          <a:xfrm>
            <a:off x="758951" y="1741932"/>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defRPr sz="2800" b="1">
                <a:solidFill>
                  <a:srgbClr val="102033"/>
                </a:solidFill>
                <a:latin typeface="Malgun Gothic"/>
                <a:ea typeface="Malgun Gothic"/>
                <a:cs typeface="Malgun Gothic"/>
                <a:sym typeface="Malgun Gothic"/>
              </a:defRPr>
            </a:pPr>
            <a:r>
              <a:t>서비스 차별성 </a:t>
            </a:r>
            <a:r>
              <a:rPr>
                <a:latin typeface="Noto Sans CJK KR"/>
                <a:ea typeface="Noto Sans CJK KR"/>
                <a:cs typeface="Noto Sans CJK KR"/>
                <a:sym typeface="Noto Sans CJK KR"/>
              </a:rPr>
              <a:t>: </a:t>
            </a:r>
            <a:r>
              <a:t>기존 방식의 한계 해결</a:t>
            </a:r>
          </a:p>
        </p:txBody>
      </p:sp>
      <p:sp>
        <p:nvSpPr>
          <p:cNvPr id="147" name="Text 12"/>
          <p:cNvSpPr txBox="1"/>
          <p:nvPr/>
        </p:nvSpPr>
        <p:spPr>
          <a:xfrm>
            <a:off x="758951" y="2272283"/>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Malgun Gothic"/>
                <a:ea typeface="Malgun Gothic"/>
                <a:cs typeface="Malgun Gothic"/>
                <a:sym typeface="Malgun Gothic"/>
              </a:defRPr>
            </a:pPr>
            <a:r>
              <a:t>시간</a:t>
            </a:r>
            <a:r>
              <a:rPr>
                <a:latin typeface="Noto Sans CJK KR"/>
                <a:ea typeface="Noto Sans CJK KR"/>
                <a:cs typeface="Noto Sans CJK KR"/>
                <a:sym typeface="Noto Sans CJK KR"/>
              </a:rPr>
              <a:t>·</a:t>
            </a:r>
            <a:r>
              <a:t>동선</a:t>
            </a:r>
            <a:r>
              <a:rPr>
                <a:latin typeface="Noto Sans CJK KR"/>
                <a:ea typeface="Noto Sans CJK KR"/>
                <a:cs typeface="Noto Sans CJK KR"/>
                <a:sym typeface="Noto Sans CJK KR"/>
              </a:rPr>
              <a:t>·</a:t>
            </a:r>
            <a:r>
              <a:t>혼잡도를 함께 계산해 실제 이용 가능한 장소를 추천합니다</a:t>
            </a:r>
            <a:r>
              <a:rPr>
                <a:latin typeface="Noto Sans CJK KR"/>
                <a:ea typeface="Noto Sans CJK KR"/>
                <a:cs typeface="Noto Sans CJK KR"/>
                <a:sym typeface="Noto Sans CJK KR"/>
              </a:rPr>
              <a:t>.</a:t>
            </a:r>
          </a:p>
        </p:txBody>
      </p:sp>
      <p:sp>
        <p:nvSpPr>
          <p:cNvPr id="148" name="Shape 13"/>
          <p:cNvSpPr/>
          <p:nvPr/>
        </p:nvSpPr>
        <p:spPr>
          <a:xfrm>
            <a:off x="868680" y="2894076"/>
            <a:ext cx="4480560" cy="1783080"/>
          </a:xfrm>
          <a:prstGeom prst="roundRect">
            <a:avLst>
              <a:gd name="adj" fmla="val 5714"/>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49" name="Text 14"/>
          <p:cNvSpPr txBox="1"/>
          <p:nvPr/>
        </p:nvSpPr>
        <p:spPr>
          <a:xfrm>
            <a:off x="1033272" y="3246120"/>
            <a:ext cx="4151377" cy="256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768094">
              <a:lnSpc>
                <a:spcPct val="90000"/>
              </a:lnSpc>
              <a:defRPr sz="1500" b="1">
                <a:solidFill>
                  <a:srgbClr val="102033"/>
                </a:solidFill>
                <a:latin typeface="맑은 고딕"/>
                <a:ea typeface="맑은 고딕"/>
                <a:cs typeface="맑은 고딕"/>
                <a:sym typeface="맑은 고딕"/>
              </a:defRPr>
            </a:lvl1pPr>
          </a:lstStyle>
          <a:p>
            <a:r>
              <a:t>기존 방식의 한계</a:t>
            </a:r>
          </a:p>
        </p:txBody>
      </p:sp>
      <p:sp>
        <p:nvSpPr>
          <p:cNvPr id="150" name="Text 15"/>
          <p:cNvSpPr txBox="1"/>
          <p:nvPr/>
        </p:nvSpPr>
        <p:spPr>
          <a:xfrm>
            <a:off x="1033272" y="3685032"/>
            <a:ext cx="4151377" cy="6400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400">
                <a:solidFill>
                  <a:srgbClr val="334155"/>
                </a:solidFill>
                <a:latin typeface="맑은 고딕"/>
                <a:ea typeface="맑은 고딕"/>
                <a:cs typeface="맑은 고딕"/>
                <a:sym typeface="맑은 고딕"/>
              </a:defRPr>
            </a:pPr>
            <a:r>
              <a:t>시간</a:t>
            </a:r>
            <a:r>
              <a:rPr>
                <a:latin typeface="Noto Sans CJK KR"/>
                <a:ea typeface="Noto Sans CJK KR"/>
                <a:cs typeface="Noto Sans CJK KR"/>
                <a:sym typeface="Noto Sans CJK KR"/>
              </a:rPr>
              <a:t>·</a:t>
            </a:r>
            <a:r>
              <a:t>동선</a:t>
            </a:r>
            <a:r>
              <a:rPr>
                <a:latin typeface="Noto Sans CJK KR"/>
                <a:ea typeface="Noto Sans CJK KR"/>
                <a:cs typeface="Noto Sans CJK KR"/>
                <a:sym typeface="Noto Sans CJK KR"/>
              </a:rPr>
              <a:t>·</a:t>
            </a:r>
            <a:r>
              <a:t>혼잡도</a:t>
            </a:r>
            <a:r>
              <a:rPr>
                <a:latin typeface="Noto Sans CJK KR"/>
                <a:ea typeface="Noto Sans CJK KR"/>
                <a:cs typeface="Noto Sans CJK KR"/>
                <a:sym typeface="Noto Sans CJK KR"/>
              </a:rPr>
              <a:t>·</a:t>
            </a:r>
            <a:r>
              <a:t>목적을 직접 비교해야 하며</a:t>
            </a:r>
            <a:endParaRPr sz="1600"/>
          </a:p>
          <a:p>
            <a:pPr algn="ctr">
              <a:defRPr sz="1400">
                <a:solidFill>
                  <a:srgbClr val="334155"/>
                </a:solidFill>
                <a:latin typeface="맑은 고딕"/>
                <a:ea typeface="맑은 고딕"/>
                <a:cs typeface="맑은 고딕"/>
                <a:sym typeface="맑은 고딕"/>
              </a:defRPr>
            </a:pPr>
            <a:r>
              <a:t>대기</a:t>
            </a:r>
            <a:r>
              <a:rPr>
                <a:latin typeface="Noto Sans CJK KR"/>
                <a:ea typeface="Noto Sans CJK KR"/>
                <a:cs typeface="Noto Sans CJK KR"/>
                <a:sym typeface="Noto Sans CJK KR"/>
              </a:rPr>
              <a:t>·</a:t>
            </a:r>
            <a:r>
              <a:t>복귀 시간이 길면 실제 이용이 어렵습니다</a:t>
            </a:r>
            <a:r>
              <a:rPr>
                <a:latin typeface="Noto Sans CJK KR"/>
                <a:ea typeface="Noto Sans CJK KR"/>
                <a:cs typeface="Noto Sans CJK KR"/>
                <a:sym typeface="Noto Sans CJK KR"/>
              </a:rPr>
              <a:t>.</a:t>
            </a:r>
          </a:p>
        </p:txBody>
      </p:sp>
      <p:sp>
        <p:nvSpPr>
          <p:cNvPr id="151" name="Shape 17"/>
          <p:cNvSpPr/>
          <p:nvPr/>
        </p:nvSpPr>
        <p:spPr>
          <a:xfrm>
            <a:off x="6629400" y="2894076"/>
            <a:ext cx="4480560" cy="1783080"/>
          </a:xfrm>
          <a:prstGeom prst="roundRect">
            <a:avLst>
              <a:gd name="adj" fmla="val 5714"/>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52" name="Text 18"/>
          <p:cNvSpPr txBox="1"/>
          <p:nvPr/>
        </p:nvSpPr>
        <p:spPr>
          <a:xfrm>
            <a:off x="6793992" y="3246120"/>
            <a:ext cx="4151377" cy="256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768094">
              <a:lnSpc>
                <a:spcPct val="90000"/>
              </a:lnSpc>
              <a:defRPr sz="1500" b="1">
                <a:solidFill>
                  <a:srgbClr val="102033"/>
                </a:solidFill>
                <a:latin typeface="맑은 고딕"/>
                <a:ea typeface="맑은 고딕"/>
                <a:cs typeface="맑은 고딕"/>
                <a:sym typeface="맑은 고딕"/>
              </a:defRPr>
            </a:lvl1pPr>
          </a:lstStyle>
          <a:p>
            <a:r>
              <a:t>공강 플래너의 해결 방식</a:t>
            </a:r>
          </a:p>
        </p:txBody>
      </p:sp>
      <p:sp>
        <p:nvSpPr>
          <p:cNvPr id="153" name="Text 19"/>
          <p:cNvSpPr txBox="1"/>
          <p:nvPr/>
        </p:nvSpPr>
        <p:spPr>
          <a:xfrm>
            <a:off x="6629400" y="3685032"/>
            <a:ext cx="4480560" cy="6400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400">
                <a:solidFill>
                  <a:srgbClr val="334155"/>
                </a:solidFill>
                <a:latin typeface="맑은 고딕"/>
                <a:ea typeface="맑은 고딕"/>
                <a:cs typeface="맑은 고딕"/>
                <a:sym typeface="맑은 고딕"/>
              </a:defRPr>
            </a:pPr>
            <a:r>
              <a:t>시간표</a:t>
            </a:r>
            <a:r>
              <a:rPr>
                <a:latin typeface="Noto Sans CJK KR"/>
                <a:ea typeface="Noto Sans CJK KR"/>
                <a:cs typeface="Noto Sans CJK KR"/>
                <a:sym typeface="Noto Sans CJK KR"/>
              </a:rPr>
              <a:t>→</a:t>
            </a:r>
            <a:r>
              <a:t>경로</a:t>
            </a:r>
            <a:r>
              <a:rPr>
                <a:latin typeface="Noto Sans CJK KR"/>
                <a:ea typeface="Noto Sans CJK KR"/>
                <a:cs typeface="Noto Sans CJK KR"/>
                <a:sym typeface="Noto Sans CJK KR"/>
              </a:rPr>
              <a:t>→</a:t>
            </a:r>
            <a:r>
              <a:t>혼잡도</a:t>
            </a:r>
            <a:r>
              <a:rPr>
                <a:latin typeface="Noto Sans CJK KR"/>
                <a:ea typeface="Noto Sans CJK KR"/>
                <a:cs typeface="Noto Sans CJK KR"/>
                <a:sym typeface="Noto Sans CJK KR"/>
              </a:rPr>
              <a:t>→</a:t>
            </a:r>
            <a:r>
              <a:t>추천 순위를 연결해</a:t>
            </a:r>
            <a:endParaRPr sz="1600"/>
          </a:p>
          <a:p>
            <a:pPr algn="ctr">
              <a:defRPr sz="1400">
                <a:solidFill>
                  <a:srgbClr val="334155"/>
                </a:solidFill>
                <a:latin typeface="맑은 고딕"/>
                <a:ea typeface="맑은 고딕"/>
                <a:cs typeface="맑은 고딕"/>
                <a:sym typeface="맑은 고딕"/>
              </a:defRPr>
            </a:pPr>
            <a:r>
              <a:t>공강 안에 다녀올 수 있는 장소를 우선 추천합니다</a:t>
            </a:r>
            <a:r>
              <a:rPr>
                <a:latin typeface="Noto Sans CJK KR"/>
                <a:ea typeface="Noto Sans CJK KR"/>
                <a:cs typeface="Noto Sans CJK KR"/>
                <a:sym typeface="Noto Sans CJK KR"/>
              </a:rPr>
              <a:t>.</a:t>
            </a:r>
          </a:p>
        </p:txBody>
      </p:sp>
      <p:sp>
        <p:nvSpPr>
          <p:cNvPr id="154" name="Text 20"/>
          <p:cNvSpPr txBox="1"/>
          <p:nvPr/>
        </p:nvSpPr>
        <p:spPr>
          <a:xfrm>
            <a:off x="1746250" y="5128514"/>
            <a:ext cx="8686800" cy="5003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700" b="1">
                <a:solidFill>
                  <a:srgbClr val="364153"/>
                </a:solidFill>
                <a:latin typeface="Noto Sans CJK KR"/>
                <a:ea typeface="Noto Sans CJK KR"/>
                <a:cs typeface="Noto Sans CJK KR"/>
                <a:sym typeface="Noto Sans CJK KR"/>
              </a:defRPr>
            </a:lvl1pPr>
          </a:lstStyle>
          <a:p>
            <a:r>
              <a:t>차별점 | 이동시간 + 대기시간 + 최소 이용시간 + 복귀 가능성을 함께 고려합니다.</a:t>
            </a:r>
          </a:p>
        </p:txBody>
      </p:sp>
      <p:sp>
        <p:nvSpPr>
          <p:cNvPr id="155" name="화살표 23"/>
          <p:cNvSpPr/>
          <p:nvPr/>
        </p:nvSpPr>
        <p:spPr>
          <a:xfrm>
            <a:off x="5472834" y="3785613"/>
            <a:ext cx="1026103" cy="4"/>
          </a:xfrm>
          <a:prstGeom prst="line">
            <a:avLst/>
          </a:prstGeom>
          <a:ln w="63500" cap="rnd">
            <a:solidFill>
              <a:schemeClr val="accent1"/>
            </a:solidFill>
            <a:tailEnd type="triangle"/>
          </a:ln>
        </p:spPr>
        <p:txBody>
          <a:bodyPr lIns="45718" tIns="45718" rIns="45718" bIns="45718"/>
          <a:lstStyle/>
          <a:p>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8"/>
          <p:cNvSpPr/>
          <p:nvPr/>
        </p:nvSpPr>
        <p:spPr>
          <a:xfrm>
            <a:off x="859535" y="5211376"/>
            <a:ext cx="10149842" cy="962667"/>
          </a:xfrm>
          <a:prstGeom prst="roundRect">
            <a:avLst>
              <a:gd name="adj" fmla="val 19355"/>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58" name="Shape 13"/>
          <p:cNvSpPr/>
          <p:nvPr/>
        </p:nvSpPr>
        <p:spPr>
          <a:xfrm>
            <a:off x="859535" y="4145593"/>
            <a:ext cx="10149842" cy="962667"/>
          </a:xfrm>
          <a:prstGeom prst="roundRect">
            <a:avLst>
              <a:gd name="adj" fmla="val 19355"/>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59"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160"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161"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TEAM</a:t>
            </a:r>
          </a:p>
        </p:txBody>
      </p:sp>
      <p:sp>
        <p:nvSpPr>
          <p:cNvPr id="162"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05</a:t>
            </a:r>
          </a:p>
        </p:txBody>
      </p:sp>
      <p:sp>
        <p:nvSpPr>
          <p:cNvPr id="163"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164" name="Shape 5"/>
          <p:cNvSpPr/>
          <p:nvPr/>
        </p:nvSpPr>
        <p:spPr>
          <a:xfrm>
            <a:off x="658368" y="6532626"/>
            <a:ext cx="10881360" cy="1"/>
          </a:xfrm>
          <a:prstGeom prst="line">
            <a:avLst/>
          </a:prstGeom>
          <a:ln w="10160">
            <a:solidFill>
              <a:srgbClr val="D8E3ED">
                <a:alpha val="90000"/>
              </a:srgbClr>
            </a:solidFill>
          </a:ln>
        </p:spPr>
        <p:txBody>
          <a:bodyPr lIns="45718" tIns="45718" rIns="45718" bIns="45718"/>
          <a:lstStyle/>
          <a:p>
            <a:endParaRPr/>
          </a:p>
        </p:txBody>
      </p:sp>
      <p:sp>
        <p:nvSpPr>
          <p:cNvPr id="165"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166"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167"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168" name="Shape 9"/>
          <p:cNvSpPr/>
          <p:nvPr/>
        </p:nvSpPr>
        <p:spPr>
          <a:xfrm>
            <a:off x="758951" y="813816"/>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169" name="Text 10"/>
          <p:cNvSpPr txBox="1"/>
          <p:nvPr/>
        </p:nvSpPr>
        <p:spPr>
          <a:xfrm>
            <a:off x="859536" y="868860"/>
            <a:ext cx="12801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TEAM</a:t>
            </a:r>
          </a:p>
        </p:txBody>
      </p:sp>
      <p:sp>
        <p:nvSpPr>
          <p:cNvPr id="170" name="Text 11"/>
          <p:cNvSpPr txBox="1"/>
          <p:nvPr/>
        </p:nvSpPr>
        <p:spPr>
          <a:xfrm>
            <a:off x="758949" y="1467611"/>
            <a:ext cx="9710934"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defRPr sz="2800" b="1">
                <a:solidFill>
                  <a:srgbClr val="102033"/>
                </a:solidFill>
                <a:latin typeface="맑은 고딕"/>
                <a:ea typeface="맑은 고딕"/>
                <a:cs typeface="맑은 고딕"/>
                <a:sym typeface="맑은 고딕"/>
              </a:defRPr>
            </a:pPr>
            <a:r>
              <a:t>업무 분장 </a:t>
            </a:r>
            <a:r>
              <a:rPr>
                <a:latin typeface="Noto Sans CJK KR"/>
                <a:ea typeface="Noto Sans CJK KR"/>
                <a:cs typeface="Noto Sans CJK KR"/>
                <a:sym typeface="Noto Sans CJK KR"/>
              </a:rPr>
              <a:t>: </a:t>
            </a:r>
            <a:r>
              <a:t>모듈</a:t>
            </a:r>
            <a:r>
              <a:rPr>
                <a:latin typeface="Noto Sans CJK KR"/>
                <a:ea typeface="Noto Sans CJK KR"/>
                <a:cs typeface="Noto Sans CJK KR"/>
                <a:sym typeface="Noto Sans CJK KR"/>
              </a:rPr>
              <a:t>·</a:t>
            </a:r>
            <a:r>
              <a:t>서비스 메뉴</a:t>
            </a:r>
            <a:r>
              <a:rPr>
                <a:latin typeface="Noto Sans CJK KR"/>
                <a:ea typeface="Noto Sans CJK KR"/>
                <a:cs typeface="Noto Sans CJK KR"/>
                <a:sym typeface="Noto Sans CJK KR"/>
              </a:rPr>
              <a:t>·</a:t>
            </a:r>
            <a:r>
              <a:t>기여 매핑</a:t>
            </a:r>
          </a:p>
        </p:txBody>
      </p:sp>
      <p:sp>
        <p:nvSpPr>
          <p:cNvPr id="171" name="Shape 13"/>
          <p:cNvSpPr/>
          <p:nvPr/>
        </p:nvSpPr>
        <p:spPr>
          <a:xfrm>
            <a:off x="859536" y="2039109"/>
            <a:ext cx="10149842" cy="962667"/>
          </a:xfrm>
          <a:prstGeom prst="roundRect">
            <a:avLst>
              <a:gd name="adj" fmla="val 19355"/>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72" name="Text 14"/>
          <p:cNvSpPr txBox="1"/>
          <p:nvPr/>
        </p:nvSpPr>
        <p:spPr>
          <a:xfrm>
            <a:off x="1078991" y="2380096"/>
            <a:ext cx="914404"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905255">
              <a:lnSpc>
                <a:spcPct val="90000"/>
              </a:lnSpc>
              <a:defRPr sz="1400" b="1">
                <a:solidFill>
                  <a:srgbClr val="2563EB"/>
                </a:solidFill>
                <a:latin typeface="맑은 고딕"/>
                <a:ea typeface="맑은 고딕"/>
                <a:cs typeface="맑은 고딕"/>
                <a:sym typeface="맑은 고딕"/>
              </a:defRPr>
            </a:lvl1pPr>
          </a:lstStyle>
          <a:p>
            <a:r>
              <a:t>김희민</a:t>
            </a:r>
          </a:p>
        </p:txBody>
      </p:sp>
      <p:sp>
        <p:nvSpPr>
          <p:cNvPr id="173" name="Text 16"/>
          <p:cNvSpPr txBox="1"/>
          <p:nvPr/>
        </p:nvSpPr>
        <p:spPr>
          <a:xfrm>
            <a:off x="4421375" y="2380096"/>
            <a:ext cx="2532891"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500" b="1">
                <a:solidFill>
                  <a:srgbClr val="2563EB"/>
                </a:solidFill>
                <a:latin typeface="Noto Sans CJK KR"/>
                <a:ea typeface="Noto Sans CJK KR"/>
                <a:cs typeface="Noto Sans CJK KR"/>
                <a:sym typeface="Noto Sans CJK KR"/>
              </a:defRPr>
            </a:lvl1pPr>
          </a:lstStyle>
          <a:p>
            <a:r>
              <a:t>List, Dictionary</a:t>
            </a:r>
          </a:p>
        </p:txBody>
      </p:sp>
      <p:sp>
        <p:nvSpPr>
          <p:cNvPr id="174" name="Text 17"/>
          <p:cNvSpPr txBox="1"/>
          <p:nvPr/>
        </p:nvSpPr>
        <p:spPr>
          <a:xfrm>
            <a:off x="6739128" y="2386769"/>
            <a:ext cx="3749044"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400">
                <a:solidFill>
                  <a:srgbClr val="334155"/>
                </a:solidFill>
                <a:latin typeface="Malgun Gothic"/>
                <a:ea typeface="Malgun Gothic"/>
                <a:cs typeface="Malgun Gothic"/>
                <a:sym typeface="Malgun Gothic"/>
              </a:defRPr>
            </a:pPr>
            <a:r>
              <a:t>정렬 </a:t>
            </a:r>
            <a:r>
              <a:rPr>
                <a:latin typeface="Noto Sans CJK KR"/>
                <a:ea typeface="Noto Sans CJK KR"/>
                <a:cs typeface="Noto Sans CJK KR"/>
                <a:sym typeface="Noto Sans CJK KR"/>
              </a:rPr>
              <a:t>· </a:t>
            </a:r>
            <a:r>
              <a:t>이진 탐색 </a:t>
            </a:r>
            <a:r>
              <a:rPr>
                <a:latin typeface="Noto Sans CJK KR"/>
                <a:ea typeface="Noto Sans CJK KR"/>
                <a:cs typeface="Noto Sans CJK KR"/>
                <a:sym typeface="Noto Sans CJK KR"/>
              </a:rPr>
              <a:t>· </a:t>
            </a:r>
            <a:r>
              <a:t>구간 비교</a:t>
            </a:r>
          </a:p>
        </p:txBody>
      </p:sp>
      <p:sp>
        <p:nvSpPr>
          <p:cNvPr id="175" name="Shape 18"/>
          <p:cNvSpPr/>
          <p:nvPr/>
        </p:nvSpPr>
        <p:spPr>
          <a:xfrm>
            <a:off x="859535" y="3089166"/>
            <a:ext cx="10149842" cy="962667"/>
          </a:xfrm>
          <a:prstGeom prst="roundRect">
            <a:avLst>
              <a:gd name="adj" fmla="val 19355"/>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176" name="Text 19"/>
          <p:cNvSpPr txBox="1"/>
          <p:nvPr/>
        </p:nvSpPr>
        <p:spPr>
          <a:xfrm>
            <a:off x="1079375" y="3460624"/>
            <a:ext cx="914403"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905255">
              <a:lnSpc>
                <a:spcPct val="90000"/>
              </a:lnSpc>
              <a:defRPr sz="1400" b="1">
                <a:solidFill>
                  <a:srgbClr val="2563EB"/>
                </a:solidFill>
                <a:latin typeface="맑은 고딕"/>
                <a:ea typeface="맑은 고딕"/>
                <a:cs typeface="맑은 고딕"/>
                <a:sym typeface="맑은 고딕"/>
              </a:defRPr>
            </a:lvl1pPr>
          </a:lstStyle>
          <a:p>
            <a:r>
              <a:t>전병호</a:t>
            </a:r>
          </a:p>
        </p:txBody>
      </p:sp>
      <p:sp>
        <p:nvSpPr>
          <p:cNvPr id="177" name="Text 20"/>
          <p:cNvSpPr txBox="1"/>
          <p:nvPr/>
        </p:nvSpPr>
        <p:spPr>
          <a:xfrm>
            <a:off x="2240278" y="3212736"/>
            <a:ext cx="2136902" cy="6430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fontScale="92500" lnSpcReduction="10000"/>
          </a:bodyPr>
          <a:lstStyle/>
          <a:p>
            <a:pPr algn="ctr">
              <a:lnSpc>
                <a:spcPct val="90000"/>
              </a:lnSpc>
              <a:defRPr sz="1400">
                <a:solidFill>
                  <a:srgbClr val="364153"/>
                </a:solidFill>
                <a:latin typeface="Noto Sans CJK KR"/>
                <a:ea typeface="Noto Sans CJK KR"/>
                <a:cs typeface="Noto Sans CJK KR"/>
                <a:sym typeface="Noto Sans CJK KR"/>
              </a:defRPr>
            </a:pPr>
            <a:r>
              <a:t>최단경로·시각화</a:t>
            </a:r>
            <a:endParaRPr sz="1600"/>
          </a:p>
          <a:p>
            <a:pPr algn="ctr">
              <a:lnSpc>
                <a:spcPct val="90000"/>
              </a:lnSpc>
              <a:defRPr sz="400">
                <a:solidFill>
                  <a:srgbClr val="364153"/>
                </a:solidFill>
                <a:latin typeface="Noto Sans CJK KR"/>
                <a:ea typeface="Noto Sans CJK KR"/>
                <a:cs typeface="Noto Sans CJK KR"/>
                <a:sym typeface="Noto Sans CJK KR"/>
              </a:defRPr>
            </a:pPr>
            <a:endParaRPr sz="1600"/>
          </a:p>
          <a:p>
            <a:pPr algn="ctr">
              <a:lnSpc>
                <a:spcPct val="90000"/>
              </a:lnSpc>
              <a:defRPr sz="800">
                <a:solidFill>
                  <a:srgbClr val="364153"/>
                </a:solidFill>
                <a:latin typeface="Noto Sans CJK KR"/>
                <a:ea typeface="Noto Sans CJK KR"/>
                <a:cs typeface="Noto Sans CJK KR"/>
                <a:sym typeface="Noto Sans CJK KR"/>
              </a:defRPr>
            </a:pPr>
            <a:r>
              <a:t>통합 코드 검수 및 버그 수정, 시연 시나리오 경로 검증(수요일/목요일/금요일/화요일 4가지), 카카오맵 API 및 OSRM 경로 API 연동 시도</a:t>
            </a:r>
          </a:p>
        </p:txBody>
      </p:sp>
      <p:sp>
        <p:nvSpPr>
          <p:cNvPr id="178" name="Text 21"/>
          <p:cNvSpPr txBox="1"/>
          <p:nvPr/>
        </p:nvSpPr>
        <p:spPr>
          <a:xfrm>
            <a:off x="4421375" y="3355147"/>
            <a:ext cx="2532891"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859536">
              <a:lnSpc>
                <a:spcPct val="81000"/>
              </a:lnSpc>
              <a:defRPr sz="1400" b="1">
                <a:solidFill>
                  <a:srgbClr val="2563EB"/>
                </a:solidFill>
                <a:latin typeface="Noto Sans CJK KR"/>
                <a:ea typeface="Noto Sans CJK KR"/>
                <a:cs typeface="Noto Sans CJK KR"/>
                <a:sym typeface="Noto Sans CJK KR"/>
              </a:defRPr>
            </a:pPr>
            <a:r>
              <a:t>Graph</a:t>
            </a:r>
            <a:endParaRPr sz="1100"/>
          </a:p>
          <a:p>
            <a:pPr algn="ctr" defTabSz="859536">
              <a:lnSpc>
                <a:spcPct val="81000"/>
              </a:lnSpc>
              <a:defRPr sz="1400" b="1">
                <a:solidFill>
                  <a:srgbClr val="2563EB"/>
                </a:solidFill>
                <a:latin typeface="Noto Sans CJK KR"/>
                <a:ea typeface="Noto Sans CJK KR"/>
                <a:cs typeface="Noto Sans CJK KR"/>
                <a:sym typeface="Noto Sans CJK KR"/>
              </a:defRPr>
            </a:pPr>
            <a:r>
              <a:t>Priority Queue</a:t>
            </a:r>
          </a:p>
        </p:txBody>
      </p:sp>
      <p:sp>
        <p:nvSpPr>
          <p:cNvPr id="179" name="Text 22"/>
          <p:cNvSpPr txBox="1"/>
          <p:nvPr/>
        </p:nvSpPr>
        <p:spPr>
          <a:xfrm>
            <a:off x="6739128" y="3463997"/>
            <a:ext cx="3749044"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400">
                <a:solidFill>
                  <a:srgbClr val="334155"/>
                </a:solidFill>
                <a:latin typeface="Malgun Gothic"/>
                <a:ea typeface="Malgun Gothic"/>
                <a:cs typeface="Malgun Gothic"/>
                <a:sym typeface="Malgun Gothic"/>
              </a:defRPr>
            </a:pPr>
            <a:r>
              <a:t>다익스트라 </a:t>
            </a:r>
            <a:r>
              <a:rPr>
                <a:latin typeface="Noto Sans CJK KR"/>
                <a:ea typeface="Noto Sans CJK KR"/>
                <a:cs typeface="Noto Sans CJK KR"/>
                <a:sym typeface="Noto Sans CJK KR"/>
              </a:rPr>
              <a:t>· </a:t>
            </a:r>
            <a:r>
              <a:t>경로 복원</a:t>
            </a:r>
          </a:p>
        </p:txBody>
      </p:sp>
      <p:sp>
        <p:nvSpPr>
          <p:cNvPr id="180" name="Text 24"/>
          <p:cNvSpPr txBox="1"/>
          <p:nvPr/>
        </p:nvSpPr>
        <p:spPr>
          <a:xfrm>
            <a:off x="1069849" y="4538598"/>
            <a:ext cx="914403"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905255">
              <a:lnSpc>
                <a:spcPct val="90000"/>
              </a:lnSpc>
              <a:defRPr sz="1400" b="1">
                <a:solidFill>
                  <a:srgbClr val="2563EB"/>
                </a:solidFill>
                <a:latin typeface="맑은 고딕"/>
                <a:ea typeface="맑은 고딕"/>
                <a:cs typeface="맑은 고딕"/>
                <a:sym typeface="맑은 고딕"/>
              </a:defRPr>
            </a:lvl1pPr>
          </a:lstStyle>
          <a:p>
            <a:r>
              <a:t>김시형</a:t>
            </a:r>
          </a:p>
        </p:txBody>
      </p:sp>
      <p:sp>
        <p:nvSpPr>
          <p:cNvPr id="181" name="Text 26"/>
          <p:cNvSpPr txBox="1"/>
          <p:nvPr/>
        </p:nvSpPr>
        <p:spPr>
          <a:xfrm>
            <a:off x="4470017" y="4479002"/>
            <a:ext cx="2532891"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500" b="1">
                <a:solidFill>
                  <a:srgbClr val="2563EB"/>
                </a:solidFill>
                <a:latin typeface="Noto Sans CJK KR"/>
                <a:ea typeface="Noto Sans CJK KR"/>
                <a:cs typeface="Noto Sans CJK KR"/>
                <a:sym typeface="Noto Sans CJK KR"/>
              </a:defRPr>
            </a:lvl1pPr>
          </a:lstStyle>
          <a:p>
            <a:r>
              <a:t>List, Dictionary</a:t>
            </a:r>
          </a:p>
        </p:txBody>
      </p:sp>
      <p:sp>
        <p:nvSpPr>
          <p:cNvPr id="182" name="Text 27"/>
          <p:cNvSpPr txBox="1"/>
          <p:nvPr/>
        </p:nvSpPr>
        <p:spPr>
          <a:xfrm>
            <a:off x="6739128" y="4495808"/>
            <a:ext cx="3749044"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400">
                <a:solidFill>
                  <a:srgbClr val="334155"/>
                </a:solidFill>
                <a:latin typeface="Malgun Gothic"/>
                <a:ea typeface="Malgun Gothic"/>
                <a:cs typeface="Malgun Gothic"/>
                <a:sym typeface="Malgun Gothic"/>
              </a:defRPr>
            </a:pPr>
            <a:r>
              <a:t>이진 탐색 </a:t>
            </a:r>
            <a:r>
              <a:rPr>
                <a:latin typeface="Noto Sans CJK KR"/>
                <a:ea typeface="Noto Sans CJK KR"/>
                <a:cs typeface="Noto Sans CJK KR"/>
                <a:sym typeface="Noto Sans CJK KR"/>
              </a:rPr>
              <a:t>· </a:t>
            </a:r>
            <a:r>
              <a:t>규칙 기반 계산</a:t>
            </a:r>
          </a:p>
        </p:txBody>
      </p:sp>
      <p:sp>
        <p:nvSpPr>
          <p:cNvPr id="183" name="Text 29"/>
          <p:cNvSpPr txBox="1"/>
          <p:nvPr/>
        </p:nvSpPr>
        <p:spPr>
          <a:xfrm>
            <a:off x="1078991" y="5578409"/>
            <a:ext cx="914404"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905255">
              <a:lnSpc>
                <a:spcPct val="90000"/>
              </a:lnSpc>
              <a:defRPr sz="1400" b="1">
                <a:solidFill>
                  <a:srgbClr val="2563EB"/>
                </a:solidFill>
                <a:latin typeface="맑은 고딕"/>
                <a:ea typeface="맑은 고딕"/>
                <a:cs typeface="맑은 고딕"/>
                <a:sym typeface="맑은 고딕"/>
              </a:defRPr>
            </a:lvl1pPr>
          </a:lstStyle>
          <a:p>
            <a:r>
              <a:t>강서현</a:t>
            </a:r>
          </a:p>
        </p:txBody>
      </p:sp>
      <p:sp>
        <p:nvSpPr>
          <p:cNvPr id="184" name="Text 31"/>
          <p:cNvSpPr txBox="1"/>
          <p:nvPr/>
        </p:nvSpPr>
        <p:spPr>
          <a:xfrm>
            <a:off x="4470017" y="5586421"/>
            <a:ext cx="2532891"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500" b="1">
                <a:solidFill>
                  <a:srgbClr val="2563EB"/>
                </a:solidFill>
                <a:latin typeface="Noto Sans CJK KR"/>
                <a:ea typeface="Noto Sans CJK KR"/>
                <a:cs typeface="Noto Sans CJK KR"/>
                <a:sym typeface="Noto Sans CJK KR"/>
              </a:defRPr>
            </a:lvl1pPr>
          </a:lstStyle>
          <a:p>
            <a:r>
              <a:t>Dictionary, List</a:t>
            </a:r>
          </a:p>
        </p:txBody>
      </p:sp>
      <p:sp>
        <p:nvSpPr>
          <p:cNvPr id="185" name="Text 32"/>
          <p:cNvSpPr txBox="1"/>
          <p:nvPr/>
        </p:nvSpPr>
        <p:spPr>
          <a:xfrm>
            <a:off x="6739128" y="5551454"/>
            <a:ext cx="3749044" cy="228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400">
                <a:solidFill>
                  <a:srgbClr val="334155"/>
                </a:solidFill>
                <a:latin typeface="Malgun Gothic"/>
                <a:ea typeface="Malgun Gothic"/>
                <a:cs typeface="Malgun Gothic"/>
                <a:sym typeface="Malgun Gothic"/>
              </a:defRPr>
            </a:pPr>
            <a:r>
              <a:t>필터링 </a:t>
            </a:r>
            <a:r>
              <a:rPr>
                <a:latin typeface="Noto Sans CJK KR"/>
                <a:ea typeface="Noto Sans CJK KR"/>
                <a:cs typeface="Noto Sans CJK KR"/>
                <a:sym typeface="Noto Sans CJK KR"/>
              </a:rPr>
              <a:t>· </a:t>
            </a:r>
            <a:r>
              <a:t>가중합 </a:t>
            </a:r>
            <a:r>
              <a:rPr>
                <a:latin typeface="Noto Sans CJK KR"/>
                <a:ea typeface="Noto Sans CJK KR"/>
                <a:cs typeface="Noto Sans CJK KR"/>
                <a:sym typeface="Noto Sans CJK KR"/>
              </a:rPr>
              <a:t>· </a:t>
            </a:r>
            <a:r>
              <a:t>정렬</a:t>
            </a:r>
          </a:p>
        </p:txBody>
      </p:sp>
      <p:sp>
        <p:nvSpPr>
          <p:cNvPr id="186" name="Text 20"/>
          <p:cNvSpPr txBox="1"/>
          <p:nvPr/>
        </p:nvSpPr>
        <p:spPr>
          <a:xfrm>
            <a:off x="2333118" y="2201867"/>
            <a:ext cx="2136902" cy="6430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fontScale="92500"/>
          </a:bodyPr>
          <a:lstStyle/>
          <a:p>
            <a:pPr algn="ctr" defTabSz="896111">
              <a:lnSpc>
                <a:spcPct val="90000"/>
              </a:lnSpc>
              <a:defRPr sz="1372">
                <a:solidFill>
                  <a:srgbClr val="334155"/>
                </a:solidFill>
                <a:latin typeface="Malgun Gothic"/>
                <a:ea typeface="Malgun Gothic"/>
                <a:cs typeface="Malgun Gothic"/>
                <a:sym typeface="Malgun Gothic"/>
              </a:defRPr>
            </a:pPr>
            <a:r>
              <a:t>시간표/공강 분석</a:t>
            </a:r>
            <a:endParaRPr sz="1176"/>
          </a:p>
          <a:p>
            <a:pPr algn="ctr" defTabSz="896111">
              <a:lnSpc>
                <a:spcPct val="90000"/>
              </a:lnSpc>
              <a:defRPr sz="392">
                <a:solidFill>
                  <a:srgbClr val="364153"/>
                </a:solidFill>
                <a:latin typeface="Noto Sans CJK KR"/>
                <a:ea typeface="Noto Sans CJK KR"/>
                <a:cs typeface="Noto Sans CJK KR"/>
                <a:sym typeface="Noto Sans CJK KR"/>
              </a:defRPr>
            </a:pPr>
            <a:endParaRPr sz="1176"/>
          </a:p>
          <a:p>
            <a:pPr algn="ctr" defTabSz="896111">
              <a:lnSpc>
                <a:spcPct val="90000"/>
              </a:lnSpc>
              <a:defRPr sz="784">
                <a:solidFill>
                  <a:srgbClr val="364153"/>
                </a:solidFill>
                <a:latin typeface="Noto Sans CJK KR"/>
                <a:ea typeface="Noto Sans CJK KR"/>
                <a:cs typeface="Noto Sans CJK KR"/>
                <a:sym typeface="Noto Sans CJK KR"/>
              </a:defRPr>
            </a:pPr>
            <a:r>
              <a:t>시간표/공강 시간 분석 모듈 구현, 발표자료(PPT) 전체 디자인·구성 및 최종 수정, 팀원별 기능 설명·실행 결과 자료 취합, 발표 흐름·시연 영상 구성, 최종 발표 진행</a:t>
            </a:r>
          </a:p>
        </p:txBody>
      </p:sp>
      <p:sp>
        <p:nvSpPr>
          <p:cNvPr id="187" name="Text 20"/>
          <p:cNvSpPr txBox="1"/>
          <p:nvPr/>
        </p:nvSpPr>
        <p:spPr>
          <a:xfrm>
            <a:off x="2240279" y="5363459"/>
            <a:ext cx="2136902" cy="6430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lnSpcReduction="10000"/>
          </a:bodyPr>
          <a:lstStyle/>
          <a:p>
            <a:pPr algn="ctr">
              <a:defRPr sz="1500">
                <a:solidFill>
                  <a:srgbClr val="364153"/>
                </a:solidFill>
                <a:latin typeface="Noto Sans CJK KR"/>
                <a:ea typeface="Noto Sans CJK KR"/>
                <a:cs typeface="Noto Sans CJK KR"/>
                <a:sym typeface="Noto Sans CJK KR"/>
              </a:defRPr>
            </a:pPr>
            <a:r>
              <a:t>장소 추천·UI</a:t>
            </a:r>
            <a:endParaRPr sz="1400"/>
          </a:p>
          <a:p>
            <a:pPr algn="ctr">
              <a:defRPr sz="500">
                <a:solidFill>
                  <a:srgbClr val="364153"/>
                </a:solidFill>
                <a:latin typeface="Noto Sans CJK KR"/>
                <a:ea typeface="Noto Sans CJK KR"/>
                <a:cs typeface="Noto Sans CJK KR"/>
                <a:sym typeface="Noto Sans CJK KR"/>
              </a:defRPr>
            </a:pPr>
            <a:endParaRPr sz="1400"/>
          </a:p>
          <a:p>
            <a:pPr algn="ctr">
              <a:defRPr sz="800">
                <a:solidFill>
                  <a:srgbClr val="364153"/>
                </a:solidFill>
                <a:latin typeface="Noto Sans CJK KR"/>
                <a:ea typeface="Noto Sans CJK KR"/>
                <a:cs typeface="Noto Sans CJK KR"/>
                <a:sym typeface="Noto Sans CJK KR"/>
              </a:defRPr>
            </a:pPr>
            <a:r>
              <a:t>공통 개발 가이드라인과 변수명 규칙 문서화, 교내 장소 범위 통합 데이터 작성</a:t>
            </a:r>
          </a:p>
        </p:txBody>
      </p:sp>
      <p:sp>
        <p:nvSpPr>
          <p:cNvPr id="188" name="Text 20"/>
          <p:cNvSpPr txBox="1"/>
          <p:nvPr/>
        </p:nvSpPr>
        <p:spPr>
          <a:xfrm>
            <a:off x="2333117" y="4322943"/>
            <a:ext cx="2136902" cy="6430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fontScale="92500" lnSpcReduction="10000"/>
          </a:bodyPr>
          <a:lstStyle/>
          <a:p>
            <a:pPr algn="ctr">
              <a:lnSpc>
                <a:spcPct val="90000"/>
              </a:lnSpc>
              <a:defRPr sz="1400">
                <a:solidFill>
                  <a:srgbClr val="364153"/>
                </a:solidFill>
                <a:latin typeface="Noto Sans CJK KR"/>
                <a:ea typeface="Noto Sans CJK KR"/>
                <a:cs typeface="Noto Sans CJK KR"/>
                <a:sym typeface="Noto Sans CJK KR"/>
              </a:defRPr>
            </a:pPr>
            <a:r>
              <a:t>혼잡도/대기시간</a:t>
            </a:r>
            <a:endParaRPr sz="1600"/>
          </a:p>
          <a:p>
            <a:pPr algn="ctr">
              <a:lnSpc>
                <a:spcPct val="90000"/>
              </a:lnSpc>
              <a:defRPr sz="400">
                <a:solidFill>
                  <a:srgbClr val="364153"/>
                </a:solidFill>
                <a:latin typeface="Noto Sans CJK KR"/>
                <a:ea typeface="Noto Sans CJK KR"/>
                <a:cs typeface="Noto Sans CJK KR"/>
                <a:sym typeface="Noto Sans CJK KR"/>
              </a:defRPr>
            </a:pPr>
            <a:endParaRPr sz="1600"/>
          </a:p>
          <a:p>
            <a:pPr algn="ctr">
              <a:lnSpc>
                <a:spcPct val="90000"/>
              </a:lnSpc>
              <a:defRPr sz="800">
                <a:solidFill>
                  <a:srgbClr val="364153"/>
                </a:solidFill>
                <a:latin typeface="Noto Sans CJK KR"/>
                <a:ea typeface="Noto Sans CJK KR"/>
                <a:cs typeface="Noto Sans CJK KR"/>
                <a:sym typeface="Noto Sans CJK KR"/>
              </a:defRPr>
            </a:pPr>
            <a:r>
              <a:t>통합 코드 검수 및 버그 수정, 시연 시나리오 경로 검증(수요일/목요일/금요일/화요일 4가지), 카카오맵 API 및 OSRM 경로 API 연동 시도</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191"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192"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DATA</a:t>
            </a:r>
          </a:p>
        </p:txBody>
      </p:sp>
      <p:sp>
        <p:nvSpPr>
          <p:cNvPr id="193"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06</a:t>
            </a:r>
          </a:p>
        </p:txBody>
      </p:sp>
      <p:sp>
        <p:nvSpPr>
          <p:cNvPr id="194"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195"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196"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197"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198"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199" name="Shape 9"/>
          <p:cNvSpPr/>
          <p:nvPr/>
        </p:nvSpPr>
        <p:spPr>
          <a:xfrm>
            <a:off x="758951" y="813816"/>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200" name="Text 10"/>
          <p:cNvSpPr txBox="1"/>
          <p:nvPr/>
        </p:nvSpPr>
        <p:spPr>
          <a:xfrm>
            <a:off x="859536" y="859807"/>
            <a:ext cx="12801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DATA</a:t>
            </a:r>
          </a:p>
        </p:txBody>
      </p:sp>
      <p:sp>
        <p:nvSpPr>
          <p:cNvPr id="201" name="Text 11"/>
          <p:cNvSpPr txBox="1"/>
          <p:nvPr/>
        </p:nvSpPr>
        <p:spPr>
          <a:xfrm>
            <a:off x="758949" y="1371600"/>
            <a:ext cx="9025134"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lnSpc>
                <a:spcPct val="90000"/>
              </a:lnSpc>
              <a:defRPr sz="2800" b="1">
                <a:solidFill>
                  <a:srgbClr val="102033"/>
                </a:solidFill>
                <a:latin typeface="Noto Sans CJK KR"/>
                <a:ea typeface="Noto Sans CJK KR"/>
                <a:cs typeface="Noto Sans CJK KR"/>
                <a:sym typeface="Noto Sans CJK KR"/>
              </a:defRPr>
            </a:pPr>
            <a:r>
              <a:t>Input </a:t>
            </a:r>
            <a:r>
              <a:rPr>
                <a:latin typeface="맑은 고딕"/>
                <a:ea typeface="맑은 고딕"/>
                <a:cs typeface="맑은 고딕"/>
                <a:sym typeface="맑은 고딕"/>
              </a:rPr>
              <a:t>데이터 정의 </a:t>
            </a:r>
            <a:r>
              <a:t>: </a:t>
            </a:r>
            <a:r>
              <a:rPr>
                <a:latin typeface="맑은 고딕"/>
                <a:ea typeface="맑은 고딕"/>
                <a:cs typeface="맑은 고딕"/>
                <a:sym typeface="맑은 고딕"/>
              </a:rPr>
              <a:t>사용자 입력과 참조 데이터</a:t>
            </a:r>
          </a:p>
        </p:txBody>
      </p:sp>
      <p:sp>
        <p:nvSpPr>
          <p:cNvPr id="202" name="Text 12"/>
          <p:cNvSpPr txBox="1"/>
          <p:nvPr/>
        </p:nvSpPr>
        <p:spPr>
          <a:xfrm>
            <a:off x="758951" y="1901949"/>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Malgun Gothic"/>
                <a:ea typeface="Malgun Gothic"/>
                <a:cs typeface="Malgun Gothic"/>
                <a:sym typeface="Malgun Gothic"/>
              </a:defRPr>
            </a:pPr>
            <a:r>
              <a:t>통합 실행 입력과 모듈별 참조 데이터를 분리해 데이터 흐름을 명확히 했습니다</a:t>
            </a:r>
            <a:r>
              <a:rPr>
                <a:latin typeface="Noto Sans CJK KR"/>
                <a:ea typeface="Noto Sans CJK KR"/>
                <a:cs typeface="Noto Sans CJK KR"/>
                <a:sym typeface="Noto Sans CJK KR"/>
              </a:rPr>
              <a:t>.</a:t>
            </a:r>
          </a:p>
        </p:txBody>
      </p:sp>
      <p:sp>
        <p:nvSpPr>
          <p:cNvPr id="203" name="Shape 13"/>
          <p:cNvSpPr/>
          <p:nvPr/>
        </p:nvSpPr>
        <p:spPr>
          <a:xfrm>
            <a:off x="822960" y="2362580"/>
            <a:ext cx="10241282" cy="448059"/>
          </a:xfrm>
          <a:prstGeom prst="roundRect">
            <a:avLst>
              <a:gd name="adj" fmla="val 2449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04" name="Text 14"/>
          <p:cNvSpPr txBox="1"/>
          <p:nvPr/>
        </p:nvSpPr>
        <p:spPr>
          <a:xfrm>
            <a:off x="1051560" y="2519552"/>
            <a:ext cx="150876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32102">
              <a:lnSpc>
                <a:spcPct val="90000"/>
              </a:lnSpc>
              <a:defRPr sz="1000" b="1">
                <a:solidFill>
                  <a:srgbClr val="2563EB"/>
                </a:solidFill>
                <a:latin typeface="맑은 고딕"/>
                <a:ea typeface="맑은 고딕"/>
                <a:cs typeface="맑은 고딕"/>
                <a:sym typeface="맑은 고딕"/>
              </a:defRPr>
            </a:lvl1pPr>
          </a:lstStyle>
          <a:p>
            <a:r>
              <a:t>사용자 입력</a:t>
            </a:r>
          </a:p>
        </p:txBody>
      </p:sp>
      <p:sp>
        <p:nvSpPr>
          <p:cNvPr id="205" name="Text 15"/>
          <p:cNvSpPr txBox="1"/>
          <p:nvPr/>
        </p:nvSpPr>
        <p:spPr>
          <a:xfrm>
            <a:off x="2788920" y="2417445"/>
            <a:ext cx="4456856" cy="338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100" b="1">
                <a:solidFill>
                  <a:srgbClr val="102033"/>
                </a:solidFill>
                <a:latin typeface="맑은 고딕"/>
                <a:ea typeface="맑은 고딕"/>
                <a:cs typeface="맑은 고딕"/>
                <a:sym typeface="맑은 고딕"/>
              </a:defRPr>
            </a:pPr>
            <a:r>
              <a:t>오늘 요일 </a:t>
            </a:r>
            <a:r>
              <a:rPr>
                <a:latin typeface="Noto Sans CJK KR"/>
                <a:ea typeface="Noto Sans CJK KR"/>
                <a:cs typeface="Noto Sans CJK KR"/>
                <a:sym typeface="Noto Sans CJK KR"/>
              </a:rPr>
              <a:t>· </a:t>
            </a:r>
            <a:r>
              <a:t>현재 시간</a:t>
            </a:r>
            <a:r>
              <a:rPr>
                <a:latin typeface="Noto Sans CJK KR"/>
                <a:ea typeface="Noto Sans CJK KR"/>
                <a:cs typeface="Noto Sans CJK KR"/>
                <a:sym typeface="Noto Sans CJK KR"/>
              </a:rPr>
              <a:t> · </a:t>
            </a:r>
            <a:r>
              <a:t>현재 위치 </a:t>
            </a:r>
            <a:r>
              <a:rPr>
                <a:latin typeface="Noto Sans CJK KR"/>
                <a:ea typeface="Noto Sans CJK KR"/>
                <a:cs typeface="Noto Sans CJK KR"/>
                <a:sym typeface="Noto Sans CJK KR"/>
              </a:rPr>
              <a:t>· </a:t>
            </a:r>
            <a:r>
              <a:t>사용 목적</a:t>
            </a:r>
          </a:p>
        </p:txBody>
      </p:sp>
      <p:sp>
        <p:nvSpPr>
          <p:cNvPr id="206" name="Text 16"/>
          <p:cNvSpPr txBox="1"/>
          <p:nvPr/>
        </p:nvSpPr>
        <p:spPr>
          <a:xfrm>
            <a:off x="7360918" y="2519552"/>
            <a:ext cx="3200403" cy="1936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698965">
              <a:lnSpc>
                <a:spcPct val="90000"/>
              </a:lnSpc>
              <a:defRPr sz="1092">
                <a:solidFill>
                  <a:srgbClr val="334155"/>
                </a:solidFill>
                <a:latin typeface="Noto Sans CJK KR"/>
                <a:ea typeface="Noto Sans CJK KR"/>
                <a:cs typeface="Noto Sans CJK KR"/>
                <a:sym typeface="Noto Sans CJK KR"/>
              </a:defRPr>
            </a:pPr>
            <a:r>
              <a:t>main.py</a:t>
            </a:r>
            <a:r>
              <a:rPr>
                <a:latin typeface="맑은 고딕"/>
                <a:ea typeface="맑은 고딕"/>
                <a:cs typeface="맑은 고딕"/>
                <a:sym typeface="맑은 고딕"/>
              </a:rPr>
              <a:t>에서 사용자가 직접 입력</a:t>
            </a:r>
          </a:p>
        </p:txBody>
      </p:sp>
      <p:sp>
        <p:nvSpPr>
          <p:cNvPr id="207" name="Shape 17"/>
          <p:cNvSpPr/>
          <p:nvPr/>
        </p:nvSpPr>
        <p:spPr>
          <a:xfrm>
            <a:off x="822960" y="2947797"/>
            <a:ext cx="10241282" cy="448056"/>
          </a:xfrm>
          <a:prstGeom prst="roundRect">
            <a:avLst>
              <a:gd name="adj" fmla="val 2449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08" name="Text 18"/>
          <p:cNvSpPr txBox="1"/>
          <p:nvPr/>
        </p:nvSpPr>
        <p:spPr>
          <a:xfrm>
            <a:off x="1051560" y="3104769"/>
            <a:ext cx="1508763"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768094">
              <a:lnSpc>
                <a:spcPct val="90000"/>
              </a:lnSpc>
              <a:defRPr sz="1000" b="1">
                <a:solidFill>
                  <a:srgbClr val="2563EB"/>
                </a:solidFill>
                <a:latin typeface="맑은 고딕"/>
                <a:ea typeface="맑은 고딕"/>
                <a:cs typeface="맑은 고딕"/>
                <a:sym typeface="맑은 고딕"/>
              </a:defRPr>
            </a:lvl1pPr>
          </a:lstStyle>
          <a:p>
            <a:r>
              <a:t>시간표 데이터</a:t>
            </a:r>
          </a:p>
        </p:txBody>
      </p:sp>
      <p:sp>
        <p:nvSpPr>
          <p:cNvPr id="209" name="Text 19"/>
          <p:cNvSpPr txBox="1"/>
          <p:nvPr/>
        </p:nvSpPr>
        <p:spPr>
          <a:xfrm>
            <a:off x="2788920" y="3066669"/>
            <a:ext cx="4456856"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768094">
              <a:lnSpc>
                <a:spcPct val="90000"/>
              </a:lnSpc>
              <a:defRPr sz="1000" b="1">
                <a:solidFill>
                  <a:srgbClr val="102033"/>
                </a:solidFill>
                <a:latin typeface="맑은 고딕"/>
                <a:ea typeface="맑은 고딕"/>
                <a:cs typeface="맑은 고딕"/>
                <a:sym typeface="맑은 고딕"/>
              </a:defRPr>
            </a:pPr>
            <a:r>
              <a:t>요일 </a:t>
            </a:r>
            <a:r>
              <a:rPr>
                <a:latin typeface="Noto Sans CJK KR"/>
                <a:ea typeface="Noto Sans CJK KR"/>
                <a:cs typeface="Noto Sans CJK KR"/>
                <a:sym typeface="Noto Sans CJK KR"/>
              </a:rPr>
              <a:t>· </a:t>
            </a:r>
            <a:r>
              <a:t>시작시간 </a:t>
            </a:r>
            <a:r>
              <a:rPr>
                <a:latin typeface="Noto Sans CJK KR"/>
                <a:ea typeface="Noto Sans CJK KR"/>
                <a:cs typeface="Noto Sans CJK KR"/>
                <a:sym typeface="Noto Sans CJK KR"/>
              </a:rPr>
              <a:t>· </a:t>
            </a:r>
            <a:r>
              <a:t>종료시간 </a:t>
            </a:r>
            <a:r>
              <a:rPr>
                <a:latin typeface="Noto Sans CJK KR"/>
                <a:ea typeface="Noto Sans CJK KR"/>
                <a:cs typeface="Noto Sans CJK KR"/>
                <a:sym typeface="Noto Sans CJK KR"/>
              </a:rPr>
              <a:t>· </a:t>
            </a:r>
            <a:r>
              <a:t>과목명 </a:t>
            </a:r>
            <a:r>
              <a:rPr>
                <a:latin typeface="Noto Sans CJK KR"/>
                <a:ea typeface="Noto Sans CJK KR"/>
                <a:cs typeface="Noto Sans CJK KR"/>
                <a:sym typeface="Noto Sans CJK KR"/>
              </a:rPr>
              <a:t>· </a:t>
            </a:r>
            <a:r>
              <a:t>수업 건물</a:t>
            </a:r>
          </a:p>
        </p:txBody>
      </p:sp>
      <p:sp>
        <p:nvSpPr>
          <p:cNvPr id="210" name="Text 20"/>
          <p:cNvSpPr txBox="1"/>
          <p:nvPr/>
        </p:nvSpPr>
        <p:spPr>
          <a:xfrm>
            <a:off x="7360918" y="3002658"/>
            <a:ext cx="3200403" cy="338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맑은 고딕"/>
                <a:ea typeface="맑은 고딕"/>
                <a:cs typeface="맑은 고딕"/>
                <a:sym typeface="맑은 고딕"/>
              </a:defRPr>
            </a:pPr>
            <a:r>
              <a:t>가천대 수강신청 시간표 화면 참고</a:t>
            </a:r>
            <a:endParaRPr sz="1200"/>
          </a:p>
          <a:p>
            <a:pPr algn="ctr">
              <a:lnSpc>
                <a:spcPct val="90000"/>
              </a:lnSpc>
              <a:defRPr sz="1100">
                <a:solidFill>
                  <a:srgbClr val="334155"/>
                </a:solidFill>
                <a:latin typeface="맑은 고딕"/>
                <a:ea typeface="맑은 고딕"/>
                <a:cs typeface="맑은 고딕"/>
                <a:sym typeface="맑은 고딕"/>
              </a:defRPr>
            </a:pPr>
            <a:r>
              <a:t>발표용 샘플 시간표</a:t>
            </a:r>
          </a:p>
        </p:txBody>
      </p:sp>
      <p:sp>
        <p:nvSpPr>
          <p:cNvPr id="211" name="Shape 21"/>
          <p:cNvSpPr/>
          <p:nvPr/>
        </p:nvSpPr>
        <p:spPr>
          <a:xfrm>
            <a:off x="822960" y="3533013"/>
            <a:ext cx="10241282" cy="448059"/>
          </a:xfrm>
          <a:prstGeom prst="roundRect">
            <a:avLst>
              <a:gd name="adj" fmla="val 2449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12" name="Text 22"/>
          <p:cNvSpPr txBox="1"/>
          <p:nvPr/>
        </p:nvSpPr>
        <p:spPr>
          <a:xfrm>
            <a:off x="1051560" y="3689984"/>
            <a:ext cx="150876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32102">
              <a:lnSpc>
                <a:spcPct val="90000"/>
              </a:lnSpc>
              <a:defRPr sz="1000" b="1">
                <a:solidFill>
                  <a:srgbClr val="2563EB"/>
                </a:solidFill>
                <a:latin typeface="맑은 고딕"/>
                <a:ea typeface="맑은 고딕"/>
                <a:cs typeface="맑은 고딕"/>
                <a:sym typeface="맑은 고딕"/>
              </a:defRPr>
            </a:lvl1pPr>
          </a:lstStyle>
          <a:p>
            <a:r>
              <a:t>장소 데이터</a:t>
            </a:r>
          </a:p>
        </p:txBody>
      </p:sp>
      <p:sp>
        <p:nvSpPr>
          <p:cNvPr id="213" name="Text 23"/>
          <p:cNvSpPr txBox="1"/>
          <p:nvPr/>
        </p:nvSpPr>
        <p:spPr>
          <a:xfrm>
            <a:off x="2788920" y="3587877"/>
            <a:ext cx="4456856" cy="338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b="1">
                <a:solidFill>
                  <a:srgbClr val="102033"/>
                </a:solidFill>
                <a:latin typeface="맑은 고딕"/>
                <a:ea typeface="맑은 고딕"/>
                <a:cs typeface="맑은 고딕"/>
                <a:sym typeface="맑은 고딕"/>
              </a:defRPr>
            </a:pPr>
            <a:r>
              <a:t>표준 장소명 </a:t>
            </a:r>
            <a:r>
              <a:rPr>
                <a:latin typeface="Noto Sans CJK KR"/>
                <a:ea typeface="Noto Sans CJK KR"/>
                <a:cs typeface="Noto Sans CJK KR"/>
                <a:sym typeface="Noto Sans CJK KR"/>
              </a:rPr>
              <a:t>· </a:t>
            </a:r>
            <a:r>
              <a:t>장소 유형 </a:t>
            </a:r>
            <a:r>
              <a:rPr>
                <a:latin typeface="Noto Sans CJK KR"/>
                <a:ea typeface="Noto Sans CJK KR"/>
                <a:cs typeface="Noto Sans CJK KR"/>
                <a:sym typeface="Noto Sans CJK KR"/>
              </a:rPr>
              <a:t>· </a:t>
            </a:r>
            <a:r>
              <a:t>최소 이용시간</a:t>
            </a:r>
            <a:r>
              <a:rPr>
                <a:latin typeface="Noto Sans CJK KR"/>
                <a:ea typeface="Noto Sans CJK KR"/>
                <a:cs typeface="Noto Sans CJK KR"/>
                <a:sym typeface="Noto Sans CJK KR"/>
              </a:rPr>
              <a:t> · </a:t>
            </a:r>
            <a:r>
              <a:t>활동 태그 </a:t>
            </a:r>
            <a:r>
              <a:rPr>
                <a:latin typeface="Noto Sans CJK KR"/>
                <a:ea typeface="Noto Sans CJK KR"/>
                <a:cs typeface="Noto Sans CJK KR"/>
                <a:sym typeface="Noto Sans CJK KR"/>
              </a:rPr>
              <a:t>· </a:t>
            </a:r>
            <a:r>
              <a:t>경로 노드</a:t>
            </a:r>
          </a:p>
        </p:txBody>
      </p:sp>
      <p:sp>
        <p:nvSpPr>
          <p:cNvPr id="214" name="Text 24"/>
          <p:cNvSpPr txBox="1"/>
          <p:nvPr/>
        </p:nvSpPr>
        <p:spPr>
          <a:xfrm>
            <a:off x="7360918" y="3587877"/>
            <a:ext cx="3200403" cy="338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Noto Sans CJK KR"/>
                <a:ea typeface="Noto Sans CJK KR"/>
                <a:cs typeface="Noto Sans CJK KR"/>
                <a:sym typeface="Noto Sans CJK KR"/>
              </a:defRPr>
            </a:pPr>
            <a:r>
              <a:t>place_data_v4 </a:t>
            </a:r>
            <a:r>
              <a:rPr>
                <a:latin typeface="맑은 고딕"/>
                <a:ea typeface="맑은 고딕"/>
                <a:cs typeface="맑은 고딕"/>
                <a:sym typeface="맑은 고딕"/>
              </a:rPr>
              <a:t>교내 장소 엑셀</a:t>
            </a:r>
          </a:p>
          <a:p>
            <a:pPr algn="ctr">
              <a:lnSpc>
                <a:spcPct val="90000"/>
              </a:lnSpc>
              <a:defRPr sz="1100">
                <a:solidFill>
                  <a:srgbClr val="334155"/>
                </a:solidFill>
                <a:latin typeface="맑은 고딕"/>
                <a:ea typeface="맑은 고딕"/>
                <a:cs typeface="맑은 고딕"/>
                <a:sym typeface="맑은 고딕"/>
              </a:defRPr>
            </a:pPr>
            <a:r>
              <a:t>장소명</a:t>
            </a:r>
            <a:r>
              <a:rPr>
                <a:latin typeface="Noto Sans CJK KR"/>
                <a:ea typeface="Noto Sans CJK KR"/>
                <a:cs typeface="Noto Sans CJK KR"/>
                <a:sym typeface="Noto Sans CJK KR"/>
              </a:rPr>
              <a:t>·</a:t>
            </a:r>
            <a:r>
              <a:t>추천후보 표준화</a:t>
            </a:r>
          </a:p>
        </p:txBody>
      </p:sp>
      <p:sp>
        <p:nvSpPr>
          <p:cNvPr id="215" name="Shape 25"/>
          <p:cNvSpPr/>
          <p:nvPr/>
        </p:nvSpPr>
        <p:spPr>
          <a:xfrm>
            <a:off x="822960" y="4118228"/>
            <a:ext cx="10241282" cy="448059"/>
          </a:xfrm>
          <a:prstGeom prst="roundRect">
            <a:avLst>
              <a:gd name="adj" fmla="val 2449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16" name="Text 26"/>
          <p:cNvSpPr txBox="1"/>
          <p:nvPr/>
        </p:nvSpPr>
        <p:spPr>
          <a:xfrm>
            <a:off x="1051560" y="4275201"/>
            <a:ext cx="1508763"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768094">
              <a:lnSpc>
                <a:spcPct val="90000"/>
              </a:lnSpc>
              <a:defRPr sz="1000" b="1">
                <a:solidFill>
                  <a:srgbClr val="2563EB"/>
                </a:solidFill>
                <a:latin typeface="맑은 고딕"/>
                <a:ea typeface="맑은 고딕"/>
                <a:cs typeface="맑은 고딕"/>
                <a:sym typeface="맑은 고딕"/>
              </a:defRPr>
            </a:lvl1pPr>
          </a:lstStyle>
          <a:p>
            <a:r>
              <a:t>경로 데이터</a:t>
            </a:r>
          </a:p>
        </p:txBody>
      </p:sp>
      <p:sp>
        <p:nvSpPr>
          <p:cNvPr id="217" name="Text 27"/>
          <p:cNvSpPr txBox="1"/>
          <p:nvPr/>
        </p:nvSpPr>
        <p:spPr>
          <a:xfrm>
            <a:off x="2788920" y="4173092"/>
            <a:ext cx="4456856" cy="338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b="1">
                <a:solidFill>
                  <a:srgbClr val="102033"/>
                </a:solidFill>
                <a:latin typeface="맑은 고딕"/>
                <a:ea typeface="맑은 고딕"/>
                <a:cs typeface="맑은 고딕"/>
                <a:sym typeface="맑은 고딕"/>
              </a:defRPr>
            </a:pPr>
            <a:r>
              <a:t>건물 연결 그래프 </a:t>
            </a:r>
            <a:r>
              <a:rPr>
                <a:latin typeface="Noto Sans CJK KR"/>
                <a:ea typeface="Noto Sans CJK KR"/>
                <a:cs typeface="Noto Sans CJK KR"/>
                <a:sym typeface="Noto Sans CJK KR"/>
              </a:rPr>
              <a:t>· </a:t>
            </a:r>
            <a:r>
              <a:t>건물 좌표</a:t>
            </a:r>
            <a:r>
              <a:rPr>
                <a:latin typeface="Noto Sans CJK KR"/>
                <a:ea typeface="Noto Sans CJK KR"/>
                <a:cs typeface="Noto Sans CJK KR"/>
                <a:sym typeface="Noto Sans CJK KR"/>
              </a:rPr>
              <a:t> · </a:t>
            </a:r>
            <a:r>
              <a:t>보행 경로 좌표</a:t>
            </a:r>
          </a:p>
        </p:txBody>
      </p:sp>
      <p:sp>
        <p:nvSpPr>
          <p:cNvPr id="218" name="Text 28"/>
          <p:cNvSpPr txBox="1"/>
          <p:nvPr/>
        </p:nvSpPr>
        <p:spPr>
          <a:xfrm>
            <a:off x="7360918" y="4173092"/>
            <a:ext cx="3200403" cy="338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맑은 고딕"/>
                <a:ea typeface="맑은 고딕"/>
                <a:cs typeface="맑은 고딕"/>
                <a:sym typeface="맑은 고딕"/>
              </a:defRPr>
            </a:pPr>
            <a:r>
              <a:t>캠퍼스 지도</a:t>
            </a:r>
            <a:r>
              <a:rPr>
                <a:latin typeface="Noto Sans CJK KR"/>
                <a:ea typeface="Noto Sans CJK KR"/>
                <a:cs typeface="Noto Sans CJK KR"/>
                <a:sym typeface="Noto Sans CJK KR"/>
              </a:rPr>
              <a:t>·</a:t>
            </a:r>
            <a:r>
              <a:t>네이버 지도 보행 기준</a:t>
            </a:r>
            <a:endParaRPr sz="1200"/>
          </a:p>
          <a:p>
            <a:pPr algn="ctr">
              <a:lnSpc>
                <a:spcPct val="90000"/>
              </a:lnSpc>
              <a:defRPr sz="1100">
                <a:solidFill>
                  <a:srgbClr val="334155"/>
                </a:solidFill>
                <a:latin typeface="맑은 고딕"/>
                <a:ea typeface="맑은 고딕"/>
                <a:cs typeface="맑은 고딕"/>
                <a:sym typeface="맑은 고딕"/>
              </a:defRPr>
            </a:pPr>
            <a:r>
              <a:t>건물 연결 정보 수작업 입력</a:t>
            </a:r>
          </a:p>
        </p:txBody>
      </p:sp>
      <p:sp>
        <p:nvSpPr>
          <p:cNvPr id="219" name="Shape 29"/>
          <p:cNvSpPr/>
          <p:nvPr/>
        </p:nvSpPr>
        <p:spPr>
          <a:xfrm>
            <a:off x="822960" y="4703445"/>
            <a:ext cx="10241282" cy="448059"/>
          </a:xfrm>
          <a:prstGeom prst="roundRect">
            <a:avLst>
              <a:gd name="adj" fmla="val 2449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20" name="Text 30"/>
          <p:cNvSpPr txBox="1"/>
          <p:nvPr/>
        </p:nvSpPr>
        <p:spPr>
          <a:xfrm>
            <a:off x="1051560" y="4860416"/>
            <a:ext cx="150876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32102">
              <a:lnSpc>
                <a:spcPct val="90000"/>
              </a:lnSpc>
              <a:defRPr sz="1000" b="1">
                <a:solidFill>
                  <a:srgbClr val="2563EB"/>
                </a:solidFill>
                <a:latin typeface="맑은 고딕"/>
                <a:ea typeface="맑은 고딕"/>
                <a:cs typeface="맑은 고딕"/>
                <a:sym typeface="맑은 고딕"/>
              </a:defRPr>
            </a:lvl1pPr>
          </a:lstStyle>
          <a:p>
            <a:r>
              <a:t>혼잡도 데이터</a:t>
            </a:r>
          </a:p>
        </p:txBody>
      </p:sp>
      <p:sp>
        <p:nvSpPr>
          <p:cNvPr id="221" name="Text 31"/>
          <p:cNvSpPr txBox="1"/>
          <p:nvPr/>
        </p:nvSpPr>
        <p:spPr>
          <a:xfrm>
            <a:off x="2788920" y="4758309"/>
            <a:ext cx="4456856" cy="338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b="1">
                <a:solidFill>
                  <a:srgbClr val="102033"/>
                </a:solidFill>
                <a:latin typeface="맑은 고딕"/>
                <a:ea typeface="맑은 고딕"/>
                <a:cs typeface="맑은 고딕"/>
                <a:sym typeface="맑은 고딕"/>
              </a:defRPr>
            </a:pPr>
            <a:r>
              <a:t>혼잡도 점수 </a:t>
            </a:r>
            <a:r>
              <a:rPr>
                <a:latin typeface="Noto Sans CJK KR"/>
                <a:ea typeface="Noto Sans CJK KR"/>
                <a:cs typeface="Noto Sans CJK KR"/>
                <a:sym typeface="Noto Sans CJK KR"/>
              </a:rPr>
              <a:t>· </a:t>
            </a:r>
            <a:r>
              <a:t>예상 대기시간</a:t>
            </a:r>
            <a:r>
              <a:rPr>
                <a:latin typeface="Noto Sans CJK KR"/>
                <a:ea typeface="Noto Sans CJK KR"/>
                <a:cs typeface="Noto Sans CJK KR"/>
                <a:sym typeface="Noto Sans CJK KR"/>
              </a:rPr>
              <a:t> · </a:t>
            </a:r>
            <a:r>
              <a:t>시간대 구간</a:t>
            </a:r>
          </a:p>
        </p:txBody>
      </p:sp>
      <p:sp>
        <p:nvSpPr>
          <p:cNvPr id="222" name="Text 32"/>
          <p:cNvSpPr txBox="1"/>
          <p:nvPr/>
        </p:nvSpPr>
        <p:spPr>
          <a:xfrm>
            <a:off x="7360918" y="4758309"/>
            <a:ext cx="3200403" cy="338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100">
                <a:solidFill>
                  <a:srgbClr val="334155"/>
                </a:solidFill>
                <a:latin typeface="맑은 고딕"/>
                <a:ea typeface="맑은 고딕"/>
                <a:cs typeface="맑은 고딕"/>
                <a:sym typeface="맑은 고딕"/>
              </a:defRPr>
            </a:pPr>
            <a:r>
              <a:t>혼잡도대상 시트 </a:t>
            </a:r>
            <a:r>
              <a:rPr>
                <a:latin typeface="Noto Sans CJK KR"/>
                <a:ea typeface="Noto Sans CJK KR"/>
                <a:cs typeface="Noto Sans CJK KR"/>
                <a:sym typeface="Noto Sans CJK KR"/>
              </a:rPr>
              <a:t>+ </a:t>
            </a:r>
            <a:r>
              <a:t>시간대별 규칙</a:t>
            </a:r>
            <a:endParaRPr sz="1200"/>
          </a:p>
          <a:p>
            <a:pPr algn="ctr">
              <a:lnSpc>
                <a:spcPct val="90000"/>
              </a:lnSpc>
              <a:defRPr sz="1100">
                <a:solidFill>
                  <a:srgbClr val="334155"/>
                </a:solidFill>
                <a:latin typeface="맑은 고딕"/>
                <a:ea typeface="맑은 고딕"/>
                <a:cs typeface="맑은 고딕"/>
                <a:sym typeface="맑은 고딕"/>
              </a:defRPr>
            </a:pPr>
            <a:r>
              <a:t>대기시간 계산용 샘플 데이터</a:t>
            </a:r>
          </a:p>
        </p:txBody>
      </p:sp>
      <p:sp>
        <p:nvSpPr>
          <p:cNvPr id="223" name="Shape 33"/>
          <p:cNvSpPr/>
          <p:nvPr/>
        </p:nvSpPr>
        <p:spPr>
          <a:xfrm>
            <a:off x="822960" y="5449823"/>
            <a:ext cx="10241282" cy="438915"/>
          </a:xfrm>
          <a:prstGeom prst="roundRect">
            <a:avLst>
              <a:gd name="adj" fmla="val 25000"/>
            </a:avLst>
          </a:prstGeom>
          <a:solidFill>
            <a:srgbClr val="2563EB"/>
          </a:solidFill>
          <a:ln w="1016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224" name="Text 34"/>
          <p:cNvSpPr txBox="1"/>
          <p:nvPr/>
        </p:nvSpPr>
        <p:spPr>
          <a:xfrm>
            <a:off x="987550" y="5504688"/>
            <a:ext cx="9912100" cy="3291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800" b="1">
                <a:solidFill>
                  <a:srgbClr val="FFFFFF"/>
                </a:solidFill>
                <a:latin typeface="Noto Sans CJK KR"/>
                <a:ea typeface="Noto Sans CJK KR"/>
                <a:cs typeface="Noto Sans CJK KR"/>
                <a:sym typeface="Noto Sans CJK KR"/>
              </a:defRPr>
            </a:lvl1pPr>
          </a:lstStyle>
          <a:p>
            <a:r>
              <a:t>데이터 구분 | 실제 참고: 시간표 화면·캠퍼스 지도·교내 장소 엑셀 / 샘플: 발표용 시간표·혼잡도·대기시간 규칙</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227"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228"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DATA SOURCE</a:t>
            </a:r>
          </a:p>
        </p:txBody>
      </p:sp>
      <p:sp>
        <p:nvSpPr>
          <p:cNvPr id="229"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07</a:t>
            </a:r>
          </a:p>
        </p:txBody>
      </p:sp>
      <p:sp>
        <p:nvSpPr>
          <p:cNvPr id="230"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231"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232"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233"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234"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235" name="Shape 9"/>
          <p:cNvSpPr/>
          <p:nvPr/>
        </p:nvSpPr>
        <p:spPr>
          <a:xfrm>
            <a:off x="758951" y="813816"/>
            <a:ext cx="19385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236" name="Text 10"/>
          <p:cNvSpPr txBox="1"/>
          <p:nvPr/>
        </p:nvSpPr>
        <p:spPr>
          <a:xfrm>
            <a:off x="859536" y="868860"/>
            <a:ext cx="17373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DATA SOURCE</a:t>
            </a:r>
          </a:p>
        </p:txBody>
      </p:sp>
      <p:sp>
        <p:nvSpPr>
          <p:cNvPr id="237" name="Text 11"/>
          <p:cNvSpPr txBox="1"/>
          <p:nvPr/>
        </p:nvSpPr>
        <p:spPr>
          <a:xfrm>
            <a:off x="758951" y="1536191"/>
            <a:ext cx="6858001" cy="4754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41247">
              <a:defRPr sz="2800" b="1">
                <a:solidFill>
                  <a:srgbClr val="102033"/>
                </a:solidFill>
                <a:latin typeface="Malgun Gothic"/>
                <a:ea typeface="Malgun Gothic"/>
                <a:cs typeface="Malgun Gothic"/>
                <a:sym typeface="Malgun Gothic"/>
              </a:defRPr>
            </a:lvl1pPr>
          </a:lstStyle>
          <a:p>
            <a:r>
              <a:t>데이터 출처 및 표준화</a:t>
            </a:r>
          </a:p>
        </p:txBody>
      </p:sp>
      <p:sp>
        <p:nvSpPr>
          <p:cNvPr id="238" name="Text 12"/>
          <p:cNvSpPr txBox="1"/>
          <p:nvPr/>
        </p:nvSpPr>
        <p:spPr>
          <a:xfrm>
            <a:off x="758951" y="2066544"/>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Malgun Gothic"/>
                <a:ea typeface="Malgun Gothic"/>
                <a:cs typeface="Malgun Gothic"/>
                <a:sym typeface="Malgun Gothic"/>
              </a:defRPr>
            </a:pPr>
            <a:r>
              <a:t>학교 시간표</a:t>
            </a:r>
            <a:r>
              <a:rPr>
                <a:latin typeface="Noto Sans CJK KR"/>
                <a:ea typeface="Noto Sans CJK KR"/>
                <a:cs typeface="Noto Sans CJK KR"/>
                <a:sym typeface="Noto Sans CJK KR"/>
              </a:rPr>
              <a:t>·</a:t>
            </a:r>
            <a:r>
              <a:t>교내 장소 엑셀</a:t>
            </a:r>
            <a:r>
              <a:rPr>
                <a:latin typeface="Noto Sans CJK KR"/>
                <a:ea typeface="Noto Sans CJK KR"/>
                <a:cs typeface="Noto Sans CJK KR"/>
                <a:sym typeface="Noto Sans CJK KR"/>
              </a:rPr>
              <a:t>·</a:t>
            </a:r>
            <a:r>
              <a:t>지도 기준을 기반으로 프로토타입 데이터를 구성했습니다</a:t>
            </a:r>
            <a:r>
              <a:rPr>
                <a:latin typeface="Noto Sans CJK KR"/>
                <a:ea typeface="Noto Sans CJK KR"/>
                <a:cs typeface="Noto Sans CJK KR"/>
                <a:sym typeface="Noto Sans CJK KR"/>
              </a:rPr>
              <a:t>.</a:t>
            </a:r>
          </a:p>
        </p:txBody>
      </p:sp>
      <p:sp>
        <p:nvSpPr>
          <p:cNvPr id="239" name="Shape 13"/>
          <p:cNvSpPr/>
          <p:nvPr/>
        </p:nvSpPr>
        <p:spPr>
          <a:xfrm>
            <a:off x="868680" y="2670048"/>
            <a:ext cx="2240280" cy="1783080"/>
          </a:xfrm>
          <a:prstGeom prst="roundRect">
            <a:avLst>
              <a:gd name="adj" fmla="val 6154"/>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40" name="Text 14"/>
          <p:cNvSpPr txBox="1"/>
          <p:nvPr/>
        </p:nvSpPr>
        <p:spPr>
          <a:xfrm>
            <a:off x="1033272" y="2907792"/>
            <a:ext cx="1911096"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Malgun Gothic"/>
                <a:ea typeface="Malgun Gothic"/>
                <a:cs typeface="Malgun Gothic"/>
                <a:sym typeface="Malgun Gothic"/>
              </a:defRPr>
            </a:lvl1pPr>
          </a:lstStyle>
          <a:p>
            <a:r>
              <a:t>시간표 원천</a:t>
            </a:r>
          </a:p>
        </p:txBody>
      </p:sp>
      <p:sp>
        <p:nvSpPr>
          <p:cNvPr id="241" name="Text 15"/>
          <p:cNvSpPr txBox="1"/>
          <p:nvPr/>
        </p:nvSpPr>
        <p:spPr>
          <a:xfrm>
            <a:off x="859536" y="3346703"/>
            <a:ext cx="2249424" cy="978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300">
                <a:solidFill>
                  <a:srgbClr val="334155"/>
                </a:solidFill>
                <a:latin typeface="맑은 고딕"/>
                <a:ea typeface="맑은 고딕"/>
                <a:cs typeface="맑은 고딕"/>
                <a:sym typeface="맑은 고딕"/>
              </a:defRPr>
            </a:pPr>
            <a:r>
              <a:t>가천대학교 수강신청 시스템</a:t>
            </a:r>
          </a:p>
          <a:p>
            <a:pPr algn="ctr">
              <a:defRPr sz="1300">
                <a:solidFill>
                  <a:srgbClr val="334155"/>
                </a:solidFill>
                <a:latin typeface="맑은 고딕"/>
                <a:ea typeface="맑은 고딕"/>
                <a:cs typeface="맑은 고딕"/>
                <a:sym typeface="맑은 고딕"/>
              </a:defRPr>
            </a:pPr>
            <a:r>
              <a:t>본인 </a:t>
            </a:r>
            <a:r>
              <a:rPr>
                <a:latin typeface="Noto Sans CJK KR"/>
                <a:ea typeface="Noto Sans CJK KR"/>
                <a:cs typeface="Noto Sans CJK KR"/>
                <a:sym typeface="Noto Sans CJK KR"/>
              </a:rPr>
              <a:t>2026-1</a:t>
            </a:r>
            <a:r>
              <a:t>학기</a:t>
            </a:r>
          </a:p>
          <a:p>
            <a:pPr algn="ctr">
              <a:defRPr sz="1300">
                <a:solidFill>
                  <a:srgbClr val="334155"/>
                </a:solidFill>
                <a:latin typeface="맑은 고딕"/>
                <a:ea typeface="맑은 고딕"/>
                <a:cs typeface="맑은 고딕"/>
                <a:sym typeface="맑은 고딕"/>
              </a:defRPr>
            </a:pPr>
            <a:r>
              <a:t>시간표 화면 참고</a:t>
            </a:r>
          </a:p>
        </p:txBody>
      </p:sp>
      <p:sp>
        <p:nvSpPr>
          <p:cNvPr id="242" name="Shape 16"/>
          <p:cNvSpPr/>
          <p:nvPr/>
        </p:nvSpPr>
        <p:spPr>
          <a:xfrm>
            <a:off x="3566159" y="2670048"/>
            <a:ext cx="2240283" cy="1783080"/>
          </a:xfrm>
          <a:prstGeom prst="roundRect">
            <a:avLst>
              <a:gd name="adj" fmla="val 6154"/>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43" name="Text 17"/>
          <p:cNvSpPr txBox="1"/>
          <p:nvPr/>
        </p:nvSpPr>
        <p:spPr>
          <a:xfrm>
            <a:off x="3730752" y="2907792"/>
            <a:ext cx="1911097"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Malgun Gothic"/>
                <a:ea typeface="Malgun Gothic"/>
                <a:cs typeface="Malgun Gothic"/>
                <a:sym typeface="Malgun Gothic"/>
              </a:defRPr>
            </a:lvl1pPr>
          </a:lstStyle>
          <a:p>
            <a:r>
              <a:t>장소 범위</a:t>
            </a:r>
          </a:p>
        </p:txBody>
      </p:sp>
      <p:sp>
        <p:nvSpPr>
          <p:cNvPr id="244" name="Text 18"/>
          <p:cNvSpPr txBox="1"/>
          <p:nvPr/>
        </p:nvSpPr>
        <p:spPr>
          <a:xfrm>
            <a:off x="3667381" y="3346703"/>
            <a:ext cx="2075689" cy="978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Noto Sans CJK KR"/>
                <a:ea typeface="Noto Sans CJK KR"/>
                <a:cs typeface="Noto Sans CJK KR"/>
                <a:sym typeface="Noto Sans CJK KR"/>
              </a:defRPr>
            </a:pPr>
            <a:r>
              <a:t>place_data_v4 </a:t>
            </a:r>
            <a:r>
              <a:rPr>
                <a:latin typeface="맑은 고딕"/>
                <a:ea typeface="맑은 고딕"/>
                <a:cs typeface="맑은 고딕"/>
                <a:sym typeface="맑은 고딕"/>
              </a:rPr>
              <a:t>교내장소 통합 엑셀</a:t>
            </a:r>
          </a:p>
          <a:p>
            <a:pPr algn="ctr">
              <a:defRPr sz="1200">
                <a:solidFill>
                  <a:srgbClr val="334155"/>
                </a:solidFill>
                <a:latin typeface="맑은 고딕"/>
                <a:ea typeface="맑은 고딕"/>
                <a:cs typeface="맑은 고딕"/>
                <a:sym typeface="맑은 고딕"/>
              </a:defRPr>
            </a:pPr>
            <a:r>
              <a:t>수업건물</a:t>
            </a:r>
            <a:r>
              <a:rPr>
                <a:latin typeface="Noto Sans CJK KR"/>
                <a:ea typeface="Noto Sans CJK KR"/>
                <a:cs typeface="Noto Sans CJK KR"/>
                <a:sym typeface="Noto Sans CJK KR"/>
              </a:rPr>
              <a:t>·</a:t>
            </a:r>
            <a:r>
              <a:t>추천후보</a:t>
            </a:r>
            <a:r>
              <a:rPr>
                <a:latin typeface="Noto Sans CJK KR"/>
                <a:ea typeface="Noto Sans CJK KR"/>
                <a:cs typeface="Noto Sans CJK KR"/>
                <a:sym typeface="Noto Sans CJK KR"/>
              </a:rPr>
              <a:t>·</a:t>
            </a:r>
            <a:r>
              <a:t>혼잡도대상 시트</a:t>
            </a:r>
          </a:p>
        </p:txBody>
      </p:sp>
      <p:sp>
        <p:nvSpPr>
          <p:cNvPr id="245" name="Shape 19"/>
          <p:cNvSpPr/>
          <p:nvPr/>
        </p:nvSpPr>
        <p:spPr>
          <a:xfrm>
            <a:off x="6263640" y="2670048"/>
            <a:ext cx="2240283" cy="1783080"/>
          </a:xfrm>
          <a:prstGeom prst="roundRect">
            <a:avLst>
              <a:gd name="adj" fmla="val 6154"/>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46" name="Text 20"/>
          <p:cNvSpPr txBox="1"/>
          <p:nvPr/>
        </p:nvSpPr>
        <p:spPr>
          <a:xfrm>
            <a:off x="6428232" y="2907792"/>
            <a:ext cx="1911096"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Malgun Gothic"/>
                <a:ea typeface="Malgun Gothic"/>
                <a:cs typeface="Malgun Gothic"/>
                <a:sym typeface="Malgun Gothic"/>
              </a:defRPr>
            </a:lvl1pPr>
          </a:lstStyle>
          <a:p>
            <a:r>
              <a:t>경로 기준</a:t>
            </a:r>
          </a:p>
        </p:txBody>
      </p:sp>
      <p:sp>
        <p:nvSpPr>
          <p:cNvPr id="247" name="Text 21"/>
          <p:cNvSpPr txBox="1"/>
          <p:nvPr/>
        </p:nvSpPr>
        <p:spPr>
          <a:xfrm>
            <a:off x="6254496" y="3346703"/>
            <a:ext cx="2249427" cy="978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300">
                <a:solidFill>
                  <a:srgbClr val="334155"/>
                </a:solidFill>
                <a:latin typeface="맑은 고딕"/>
                <a:ea typeface="맑은 고딕"/>
                <a:cs typeface="맑은 고딕"/>
                <a:sym typeface="맑은 고딕"/>
              </a:defRPr>
            </a:pPr>
            <a:r>
              <a:t>캠퍼스 지도</a:t>
            </a:r>
            <a:r>
              <a:rPr>
                <a:latin typeface="Noto Sans CJK KR"/>
                <a:ea typeface="Noto Sans CJK KR"/>
                <a:cs typeface="Noto Sans CJK KR"/>
                <a:sym typeface="Noto Sans CJK KR"/>
              </a:rPr>
              <a:t>·</a:t>
            </a:r>
            <a:r>
              <a:t>네이버 지도 </a:t>
            </a:r>
          </a:p>
          <a:p>
            <a:pPr algn="ctr">
              <a:defRPr sz="1300">
                <a:solidFill>
                  <a:srgbClr val="334155"/>
                </a:solidFill>
                <a:latin typeface="맑은 고딕"/>
                <a:ea typeface="맑은 고딕"/>
                <a:cs typeface="맑은 고딕"/>
                <a:sym typeface="맑은 고딕"/>
              </a:defRPr>
            </a:pPr>
            <a:r>
              <a:t>건물 연결</a:t>
            </a:r>
            <a:r>
              <a:rPr>
                <a:latin typeface="Noto Sans CJK KR"/>
                <a:ea typeface="Noto Sans CJK KR"/>
                <a:cs typeface="Noto Sans CJK KR"/>
                <a:sym typeface="Noto Sans CJK KR"/>
              </a:rPr>
              <a:t>·</a:t>
            </a:r>
            <a:r>
              <a:t>이동시간</a:t>
            </a:r>
            <a:r>
              <a:rPr>
                <a:latin typeface="Noto Sans CJK KR"/>
                <a:ea typeface="Noto Sans CJK KR"/>
                <a:cs typeface="Noto Sans CJK KR"/>
                <a:sym typeface="Noto Sans CJK KR"/>
              </a:rPr>
              <a:t>·</a:t>
            </a:r>
            <a:r>
              <a:t>좌표</a:t>
            </a:r>
            <a:r>
              <a:rPr>
                <a:latin typeface="Noto Sans CJK KR"/>
                <a:ea typeface="Noto Sans CJK KR"/>
                <a:cs typeface="Noto Sans CJK KR"/>
                <a:sym typeface="Noto Sans CJK KR"/>
              </a:rPr>
              <a:t> </a:t>
            </a:r>
            <a:r>
              <a:t>수작업 정리</a:t>
            </a:r>
          </a:p>
        </p:txBody>
      </p:sp>
      <p:sp>
        <p:nvSpPr>
          <p:cNvPr id="248" name="Shape 22"/>
          <p:cNvSpPr/>
          <p:nvPr/>
        </p:nvSpPr>
        <p:spPr>
          <a:xfrm>
            <a:off x="8961118" y="2670048"/>
            <a:ext cx="2240283" cy="1783080"/>
          </a:xfrm>
          <a:prstGeom prst="roundRect">
            <a:avLst>
              <a:gd name="adj" fmla="val 6154"/>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49" name="Text 23"/>
          <p:cNvSpPr txBox="1"/>
          <p:nvPr/>
        </p:nvSpPr>
        <p:spPr>
          <a:xfrm>
            <a:off x="9125711" y="2907792"/>
            <a:ext cx="1911097"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Malgun Gothic"/>
                <a:ea typeface="Malgun Gothic"/>
                <a:cs typeface="Malgun Gothic"/>
                <a:sym typeface="Malgun Gothic"/>
              </a:defRPr>
            </a:lvl1pPr>
          </a:lstStyle>
          <a:p>
            <a:r>
              <a:t>혼잡도 기준</a:t>
            </a:r>
          </a:p>
        </p:txBody>
      </p:sp>
      <p:sp>
        <p:nvSpPr>
          <p:cNvPr id="250" name="Text 24"/>
          <p:cNvSpPr txBox="1"/>
          <p:nvPr/>
        </p:nvSpPr>
        <p:spPr>
          <a:xfrm>
            <a:off x="8951976" y="3346703"/>
            <a:ext cx="2249424" cy="978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300">
                <a:solidFill>
                  <a:srgbClr val="334155"/>
                </a:solidFill>
                <a:latin typeface="맑은 고딕"/>
                <a:ea typeface="맑은 고딕"/>
                <a:cs typeface="맑은 고딕"/>
                <a:sym typeface="맑은 고딕"/>
              </a:defRPr>
            </a:pPr>
            <a:r>
              <a:t>혼잡도대상 시트 </a:t>
            </a:r>
            <a:r>
              <a:rPr>
                <a:latin typeface="Noto Sans CJK KR"/>
                <a:ea typeface="Noto Sans CJK KR"/>
                <a:cs typeface="Noto Sans CJK KR"/>
                <a:sym typeface="Noto Sans CJK KR"/>
              </a:rPr>
              <a:t>+ </a:t>
            </a:r>
            <a:r>
              <a:t>시간대별 가상 규칙</a:t>
            </a:r>
          </a:p>
          <a:p>
            <a:pPr algn="ctr">
              <a:defRPr sz="1300">
                <a:solidFill>
                  <a:srgbClr val="334155"/>
                </a:solidFill>
                <a:latin typeface="맑은 고딕"/>
                <a:ea typeface="맑은 고딕"/>
                <a:cs typeface="맑은 고딕"/>
                <a:sym typeface="맑은 고딕"/>
              </a:defRPr>
            </a:pPr>
            <a:r>
              <a:t>식당</a:t>
            </a:r>
            <a:r>
              <a:rPr>
                <a:latin typeface="Noto Sans CJK KR"/>
                <a:ea typeface="Noto Sans CJK KR"/>
                <a:cs typeface="Noto Sans CJK KR"/>
                <a:sym typeface="Noto Sans CJK KR"/>
              </a:rPr>
              <a:t>·</a:t>
            </a:r>
            <a:r>
              <a:t>카페</a:t>
            </a:r>
            <a:r>
              <a:rPr>
                <a:latin typeface="Noto Sans CJK KR"/>
                <a:ea typeface="Noto Sans CJK KR"/>
                <a:cs typeface="Noto Sans CJK KR"/>
                <a:sym typeface="Noto Sans CJK KR"/>
              </a:rPr>
              <a:t>·</a:t>
            </a:r>
            <a:r>
              <a:t>도서관 대기시간 추정</a:t>
            </a:r>
          </a:p>
        </p:txBody>
      </p:sp>
      <p:sp>
        <p:nvSpPr>
          <p:cNvPr id="251" name="Text 25"/>
          <p:cNvSpPr txBox="1"/>
          <p:nvPr/>
        </p:nvSpPr>
        <p:spPr>
          <a:xfrm>
            <a:off x="677086" y="5029200"/>
            <a:ext cx="10825128" cy="6177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600" b="1">
                <a:solidFill>
                  <a:srgbClr val="364153"/>
                </a:solidFill>
                <a:latin typeface="Noto Sans CJK KR"/>
                <a:ea typeface="Noto Sans CJK KR"/>
                <a:cs typeface="Noto Sans CJK KR"/>
                <a:sym typeface="Noto Sans CJK KR"/>
              </a:defRPr>
            </a:lvl1pPr>
          </a:lstStyle>
          <a:p>
            <a:r>
              <a:t>표준화 핵심 | 별칭→표준명으로 통일하고, 세부 장소는 추천명으로 유지하되 경로 계산은 대표 건물 노드로 매핑했습니다.</a:t>
            </a:r>
          </a:p>
        </p:txBody>
      </p:sp>
      <p:sp>
        <p:nvSpPr>
          <p:cNvPr id="252" name="선 27"/>
          <p:cNvSpPr/>
          <p:nvPr/>
        </p:nvSpPr>
        <p:spPr>
          <a:xfrm>
            <a:off x="868680" y="3311650"/>
            <a:ext cx="2240280" cy="5"/>
          </a:xfrm>
          <a:prstGeom prst="line">
            <a:avLst/>
          </a:prstGeom>
          <a:solidFill>
            <a:schemeClr val="accent1"/>
          </a:solidFill>
          <a:ln w="12700">
            <a:solidFill>
              <a:srgbClr val="21375E"/>
            </a:solidFill>
          </a:ln>
        </p:spPr>
        <p:txBody>
          <a:bodyPr lIns="45718" tIns="45718" rIns="45718" bIns="45718"/>
          <a:lstStyle/>
          <a:p>
            <a:endParaRPr/>
          </a:p>
        </p:txBody>
      </p:sp>
      <p:sp>
        <p:nvSpPr>
          <p:cNvPr id="253" name="선 28"/>
          <p:cNvSpPr/>
          <p:nvPr/>
        </p:nvSpPr>
        <p:spPr>
          <a:xfrm>
            <a:off x="3566159" y="3324985"/>
            <a:ext cx="2240283" cy="3"/>
          </a:xfrm>
          <a:prstGeom prst="line">
            <a:avLst/>
          </a:prstGeom>
          <a:solidFill>
            <a:schemeClr val="accent1"/>
          </a:solidFill>
          <a:ln w="12700">
            <a:solidFill>
              <a:srgbClr val="21375E"/>
            </a:solidFill>
          </a:ln>
        </p:spPr>
        <p:txBody>
          <a:bodyPr lIns="45718" tIns="45718" rIns="45718" bIns="45718"/>
          <a:lstStyle/>
          <a:p>
            <a:endParaRPr/>
          </a:p>
        </p:txBody>
      </p:sp>
      <p:sp>
        <p:nvSpPr>
          <p:cNvPr id="254" name="선 29"/>
          <p:cNvSpPr/>
          <p:nvPr/>
        </p:nvSpPr>
        <p:spPr>
          <a:xfrm>
            <a:off x="6263640" y="3311650"/>
            <a:ext cx="2240283" cy="5"/>
          </a:xfrm>
          <a:prstGeom prst="line">
            <a:avLst/>
          </a:prstGeom>
          <a:solidFill>
            <a:schemeClr val="accent1"/>
          </a:solidFill>
          <a:ln w="12700">
            <a:solidFill>
              <a:srgbClr val="21375E"/>
            </a:solidFill>
          </a:ln>
        </p:spPr>
        <p:txBody>
          <a:bodyPr lIns="45718" tIns="45718" rIns="45718" bIns="45718"/>
          <a:lstStyle/>
          <a:p>
            <a:endParaRPr/>
          </a:p>
        </p:txBody>
      </p:sp>
      <p:sp>
        <p:nvSpPr>
          <p:cNvPr id="255" name="선 30"/>
          <p:cNvSpPr/>
          <p:nvPr/>
        </p:nvSpPr>
        <p:spPr>
          <a:xfrm>
            <a:off x="8961118" y="3324985"/>
            <a:ext cx="2240283" cy="3"/>
          </a:xfrm>
          <a:prstGeom prst="line">
            <a:avLst/>
          </a:prstGeom>
          <a:solidFill>
            <a:schemeClr val="accent1"/>
          </a:solidFill>
          <a:ln w="12700">
            <a:solidFill>
              <a:srgbClr val="21375E"/>
            </a:solidFill>
          </a:ln>
        </p:spPr>
        <p:txBody>
          <a:bodyPr lIns="45718" tIns="45718" rIns="45718" bIns="45718"/>
          <a:lstStyle/>
          <a:p>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258"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259"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ARCHITECTURE</a:t>
            </a:r>
          </a:p>
        </p:txBody>
      </p:sp>
      <p:sp>
        <p:nvSpPr>
          <p:cNvPr id="260"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08</a:t>
            </a:r>
          </a:p>
        </p:txBody>
      </p:sp>
      <p:sp>
        <p:nvSpPr>
          <p:cNvPr id="261"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262"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263"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264"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265"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266" name="Shape 9"/>
          <p:cNvSpPr/>
          <p:nvPr/>
        </p:nvSpPr>
        <p:spPr>
          <a:xfrm>
            <a:off x="758951" y="813816"/>
            <a:ext cx="19385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267" name="Text 10"/>
          <p:cNvSpPr txBox="1"/>
          <p:nvPr/>
        </p:nvSpPr>
        <p:spPr>
          <a:xfrm>
            <a:off x="859536" y="868860"/>
            <a:ext cx="17373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ARCHITECTURE</a:t>
            </a:r>
          </a:p>
        </p:txBody>
      </p:sp>
      <p:sp>
        <p:nvSpPr>
          <p:cNvPr id="268" name="Text 11"/>
          <p:cNvSpPr txBox="1"/>
          <p:nvPr/>
        </p:nvSpPr>
        <p:spPr>
          <a:xfrm>
            <a:off x="758951" y="1371600"/>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41247">
              <a:defRPr sz="2800" b="1">
                <a:solidFill>
                  <a:srgbClr val="102033"/>
                </a:solidFill>
                <a:latin typeface="Malgun Gothic"/>
                <a:ea typeface="Malgun Gothic"/>
                <a:cs typeface="Malgun Gothic"/>
                <a:sym typeface="Malgun Gothic"/>
              </a:defRPr>
            </a:lvl1pPr>
          </a:lstStyle>
          <a:p>
            <a:r>
              <a:t>전체 시스템 구조</a:t>
            </a:r>
          </a:p>
        </p:txBody>
      </p:sp>
      <p:sp>
        <p:nvSpPr>
          <p:cNvPr id="269" name="Text 12"/>
          <p:cNvSpPr txBox="1"/>
          <p:nvPr/>
        </p:nvSpPr>
        <p:spPr>
          <a:xfrm>
            <a:off x="758951" y="1901949"/>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Malgun Gothic"/>
                <a:ea typeface="Malgun Gothic"/>
                <a:cs typeface="Malgun Gothic"/>
                <a:sym typeface="Malgun Gothic"/>
              </a:defRPr>
            </a:pPr>
            <a:r>
              <a:t>사용자 입력이 시간표</a:t>
            </a:r>
            <a:r>
              <a:rPr>
                <a:latin typeface="Noto Sans CJK KR"/>
                <a:ea typeface="Noto Sans CJK KR"/>
                <a:cs typeface="Noto Sans CJK KR"/>
                <a:sym typeface="Noto Sans CJK KR"/>
              </a:rPr>
              <a:t>·</a:t>
            </a:r>
            <a:r>
              <a:t>경로</a:t>
            </a:r>
            <a:r>
              <a:rPr>
                <a:latin typeface="Noto Sans CJK KR"/>
                <a:ea typeface="Noto Sans CJK KR"/>
                <a:cs typeface="Noto Sans CJK KR"/>
                <a:sym typeface="Noto Sans CJK KR"/>
              </a:rPr>
              <a:t>·</a:t>
            </a:r>
            <a:r>
              <a:t>혼잡도</a:t>
            </a:r>
            <a:r>
              <a:rPr>
                <a:latin typeface="Noto Sans CJK KR"/>
                <a:ea typeface="Noto Sans CJK KR"/>
                <a:cs typeface="Noto Sans CJK KR"/>
                <a:sym typeface="Noto Sans CJK KR"/>
              </a:rPr>
              <a:t>·</a:t>
            </a:r>
            <a:r>
              <a:t>추천 계산을 거쳐 최종 결과로 연결됩니다</a:t>
            </a:r>
            <a:r>
              <a:rPr>
                <a:latin typeface="Noto Sans CJK KR"/>
                <a:ea typeface="Noto Sans CJK KR"/>
                <a:cs typeface="Noto Sans CJK KR"/>
                <a:sym typeface="Noto Sans CJK KR"/>
              </a:rPr>
              <a:t>.</a:t>
            </a:r>
          </a:p>
        </p:txBody>
      </p:sp>
      <p:sp>
        <p:nvSpPr>
          <p:cNvPr id="270" name="Shape 13"/>
          <p:cNvSpPr/>
          <p:nvPr/>
        </p:nvSpPr>
        <p:spPr>
          <a:xfrm>
            <a:off x="777240" y="2734055"/>
            <a:ext cx="1554481" cy="1078993"/>
          </a:xfrm>
          <a:prstGeom prst="roundRect">
            <a:avLst>
              <a:gd name="adj" fmla="val 10169"/>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71" name="Text 14"/>
          <p:cNvSpPr txBox="1"/>
          <p:nvPr/>
        </p:nvSpPr>
        <p:spPr>
          <a:xfrm>
            <a:off x="941832" y="2905125"/>
            <a:ext cx="1225299" cy="301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2563EB"/>
                </a:solidFill>
                <a:latin typeface="맑은 고딕"/>
                <a:ea typeface="맑은 고딕"/>
                <a:cs typeface="맑은 고딕"/>
                <a:sym typeface="맑은 고딕"/>
              </a:defRPr>
            </a:lvl1pPr>
          </a:lstStyle>
          <a:p>
            <a:r>
              <a:t>사용자 입력</a:t>
            </a:r>
          </a:p>
        </p:txBody>
      </p:sp>
      <p:sp>
        <p:nvSpPr>
          <p:cNvPr id="272" name="Text 15"/>
          <p:cNvSpPr txBox="1"/>
          <p:nvPr/>
        </p:nvSpPr>
        <p:spPr>
          <a:xfrm>
            <a:off x="786381" y="3410710"/>
            <a:ext cx="1545340" cy="2743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lnSpc>
                <a:spcPct val="90000"/>
              </a:lnSpc>
              <a:defRPr sz="1200">
                <a:solidFill>
                  <a:srgbClr val="334155"/>
                </a:solidFill>
                <a:latin typeface="맑은 고딕"/>
                <a:ea typeface="맑은 고딕"/>
                <a:cs typeface="맑은 고딕"/>
                <a:sym typeface="맑은 고딕"/>
              </a:defRPr>
            </a:pPr>
            <a:r>
              <a:t>요일</a:t>
            </a:r>
            <a:r>
              <a:rPr>
                <a:latin typeface="Noto Sans CJK KR"/>
                <a:ea typeface="Noto Sans CJK KR"/>
                <a:cs typeface="Noto Sans CJK KR"/>
                <a:sym typeface="Noto Sans CJK KR"/>
              </a:rPr>
              <a:t>·</a:t>
            </a:r>
            <a:r>
              <a:t>시간</a:t>
            </a:r>
            <a:r>
              <a:rPr>
                <a:latin typeface="Noto Sans CJK KR"/>
                <a:ea typeface="Noto Sans CJK KR"/>
                <a:cs typeface="Noto Sans CJK KR"/>
                <a:sym typeface="Noto Sans CJK KR"/>
              </a:rPr>
              <a:t>·</a:t>
            </a:r>
            <a:r>
              <a:t>위치</a:t>
            </a:r>
            <a:r>
              <a:rPr>
                <a:latin typeface="Noto Sans CJK KR"/>
                <a:ea typeface="Noto Sans CJK KR"/>
                <a:cs typeface="Noto Sans CJK KR"/>
                <a:sym typeface="Noto Sans CJK KR"/>
              </a:rPr>
              <a:t>·</a:t>
            </a:r>
            <a:r>
              <a:t>목적</a:t>
            </a:r>
          </a:p>
        </p:txBody>
      </p:sp>
      <p:sp>
        <p:nvSpPr>
          <p:cNvPr id="273" name="Shape 16"/>
          <p:cNvSpPr/>
          <p:nvPr/>
        </p:nvSpPr>
        <p:spPr>
          <a:xfrm>
            <a:off x="2383513" y="3282696"/>
            <a:ext cx="159306" cy="3"/>
          </a:xfrm>
          <a:prstGeom prst="line">
            <a:avLst/>
          </a:prstGeom>
          <a:ln w="25400">
            <a:solidFill>
              <a:srgbClr val="2563EB"/>
            </a:solidFill>
          </a:ln>
        </p:spPr>
        <p:txBody>
          <a:bodyPr lIns="45718" tIns="45718" rIns="45718" bIns="45718"/>
          <a:lstStyle/>
          <a:p>
            <a:endParaRPr/>
          </a:p>
        </p:txBody>
      </p:sp>
      <p:sp>
        <p:nvSpPr>
          <p:cNvPr id="274" name="Shape 17"/>
          <p:cNvSpPr/>
          <p:nvPr/>
        </p:nvSpPr>
        <p:spPr>
          <a:xfrm>
            <a:off x="2606038" y="2734055"/>
            <a:ext cx="1554482" cy="1078993"/>
          </a:xfrm>
          <a:prstGeom prst="roundRect">
            <a:avLst>
              <a:gd name="adj" fmla="val 10169"/>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75" name="Text 18"/>
          <p:cNvSpPr txBox="1"/>
          <p:nvPr/>
        </p:nvSpPr>
        <p:spPr>
          <a:xfrm>
            <a:off x="2770632" y="2905125"/>
            <a:ext cx="1225299" cy="301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시간표 분석</a:t>
            </a:r>
          </a:p>
        </p:txBody>
      </p:sp>
      <p:sp>
        <p:nvSpPr>
          <p:cNvPr id="276" name="Text 19"/>
          <p:cNvSpPr txBox="1"/>
          <p:nvPr/>
        </p:nvSpPr>
        <p:spPr>
          <a:xfrm>
            <a:off x="2596894" y="3355847"/>
            <a:ext cx="1545340" cy="384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000">
                <a:solidFill>
                  <a:srgbClr val="334155"/>
                </a:solidFill>
                <a:latin typeface="맑은 고딕"/>
                <a:ea typeface="맑은 고딕"/>
                <a:cs typeface="맑은 고딕"/>
                <a:sym typeface="맑은 고딕"/>
              </a:defRPr>
            </a:pPr>
            <a:r>
              <a:t>공강 여부</a:t>
            </a:r>
            <a:r>
              <a:rPr>
                <a:latin typeface="Noto Sans CJK KR"/>
                <a:ea typeface="Noto Sans CJK KR"/>
                <a:cs typeface="Noto Sans CJK KR"/>
                <a:sym typeface="Noto Sans CJK KR"/>
              </a:rPr>
              <a:t> </a:t>
            </a:r>
          </a:p>
          <a:p>
            <a:pPr algn="ctr">
              <a:defRPr sz="1000">
                <a:solidFill>
                  <a:srgbClr val="334155"/>
                </a:solidFill>
                <a:latin typeface="맑은 고딕"/>
                <a:ea typeface="맑은 고딕"/>
                <a:cs typeface="맑은 고딕"/>
                <a:sym typeface="맑은 고딕"/>
              </a:defRPr>
            </a:pPr>
            <a:r>
              <a:t>추천 가능 시간</a:t>
            </a:r>
          </a:p>
        </p:txBody>
      </p:sp>
      <p:sp>
        <p:nvSpPr>
          <p:cNvPr id="277" name="Shape 20"/>
          <p:cNvSpPr/>
          <p:nvPr/>
        </p:nvSpPr>
        <p:spPr>
          <a:xfrm>
            <a:off x="4212313" y="3282696"/>
            <a:ext cx="159306" cy="3"/>
          </a:xfrm>
          <a:prstGeom prst="line">
            <a:avLst/>
          </a:prstGeom>
          <a:ln w="25400">
            <a:solidFill>
              <a:srgbClr val="2563EB"/>
            </a:solidFill>
          </a:ln>
        </p:spPr>
        <p:txBody>
          <a:bodyPr lIns="45718" tIns="45718" rIns="45718" bIns="45718"/>
          <a:lstStyle/>
          <a:p>
            <a:endParaRPr/>
          </a:p>
        </p:txBody>
      </p:sp>
      <p:sp>
        <p:nvSpPr>
          <p:cNvPr id="278" name="Shape 21"/>
          <p:cNvSpPr/>
          <p:nvPr/>
        </p:nvSpPr>
        <p:spPr>
          <a:xfrm>
            <a:off x="4434840" y="2734055"/>
            <a:ext cx="1554483" cy="1078993"/>
          </a:xfrm>
          <a:prstGeom prst="roundRect">
            <a:avLst>
              <a:gd name="adj" fmla="val 10169"/>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79" name="Text 22"/>
          <p:cNvSpPr txBox="1"/>
          <p:nvPr/>
        </p:nvSpPr>
        <p:spPr>
          <a:xfrm>
            <a:off x="4599432" y="2905125"/>
            <a:ext cx="1225299" cy="301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경로 계산</a:t>
            </a:r>
          </a:p>
        </p:txBody>
      </p:sp>
      <p:sp>
        <p:nvSpPr>
          <p:cNvPr id="280" name="Text 23"/>
          <p:cNvSpPr txBox="1"/>
          <p:nvPr/>
        </p:nvSpPr>
        <p:spPr>
          <a:xfrm>
            <a:off x="4443984" y="3410710"/>
            <a:ext cx="1545339" cy="2743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lnSpc>
                <a:spcPct val="80000"/>
              </a:lnSpc>
              <a:defRPr sz="1000">
                <a:solidFill>
                  <a:srgbClr val="334155"/>
                </a:solidFill>
                <a:latin typeface="맑은 고딕"/>
                <a:ea typeface="맑은 고딕"/>
                <a:cs typeface="맑은 고딕"/>
                <a:sym typeface="맑은 고딕"/>
              </a:defRPr>
            </a:pPr>
            <a:r>
              <a:t>왕복 이동시간</a:t>
            </a:r>
            <a:r>
              <a:rPr>
                <a:latin typeface="Noto Sans CJK KR"/>
                <a:ea typeface="Noto Sans CJK KR"/>
                <a:cs typeface="Noto Sans CJK KR"/>
                <a:sym typeface="Noto Sans CJK KR"/>
              </a:rPr>
              <a:t>·</a:t>
            </a:r>
            <a:r>
              <a:t>최단경로</a:t>
            </a:r>
          </a:p>
        </p:txBody>
      </p:sp>
      <p:sp>
        <p:nvSpPr>
          <p:cNvPr id="281" name="Shape 24"/>
          <p:cNvSpPr/>
          <p:nvPr/>
        </p:nvSpPr>
        <p:spPr>
          <a:xfrm>
            <a:off x="6041113" y="3282696"/>
            <a:ext cx="159306" cy="3"/>
          </a:xfrm>
          <a:prstGeom prst="line">
            <a:avLst/>
          </a:prstGeom>
          <a:ln w="25400">
            <a:solidFill>
              <a:srgbClr val="2563EB"/>
            </a:solidFill>
          </a:ln>
        </p:spPr>
        <p:txBody>
          <a:bodyPr lIns="45718" tIns="45718" rIns="45718" bIns="45718"/>
          <a:lstStyle/>
          <a:p>
            <a:endParaRPr/>
          </a:p>
        </p:txBody>
      </p:sp>
      <p:sp>
        <p:nvSpPr>
          <p:cNvPr id="282" name="Shape 25"/>
          <p:cNvSpPr/>
          <p:nvPr/>
        </p:nvSpPr>
        <p:spPr>
          <a:xfrm>
            <a:off x="6263640" y="2734055"/>
            <a:ext cx="1554483" cy="1078993"/>
          </a:xfrm>
          <a:prstGeom prst="roundRect">
            <a:avLst>
              <a:gd name="adj" fmla="val 10169"/>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83" name="Text 26"/>
          <p:cNvSpPr txBox="1"/>
          <p:nvPr/>
        </p:nvSpPr>
        <p:spPr>
          <a:xfrm>
            <a:off x="6428232" y="2905125"/>
            <a:ext cx="1225299" cy="301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혼잡도 분석</a:t>
            </a:r>
          </a:p>
        </p:txBody>
      </p:sp>
      <p:sp>
        <p:nvSpPr>
          <p:cNvPr id="284" name="Text 27"/>
          <p:cNvSpPr txBox="1"/>
          <p:nvPr/>
        </p:nvSpPr>
        <p:spPr>
          <a:xfrm>
            <a:off x="6272784" y="3410710"/>
            <a:ext cx="1545339" cy="2743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lnSpc>
                <a:spcPct val="90000"/>
              </a:lnSpc>
              <a:defRPr sz="1200">
                <a:solidFill>
                  <a:srgbClr val="334155"/>
                </a:solidFill>
                <a:latin typeface="맑은 고딕"/>
                <a:ea typeface="맑은 고딕"/>
                <a:cs typeface="맑은 고딕"/>
                <a:sym typeface="맑은 고딕"/>
              </a:defRPr>
            </a:pPr>
            <a:r>
              <a:t>혼잡도</a:t>
            </a:r>
            <a:r>
              <a:rPr>
                <a:latin typeface="Noto Sans CJK KR"/>
                <a:ea typeface="Noto Sans CJK KR"/>
                <a:cs typeface="Noto Sans CJK KR"/>
                <a:sym typeface="Noto Sans CJK KR"/>
              </a:rPr>
              <a:t>·</a:t>
            </a:r>
            <a:r>
              <a:t>예상 대기시간</a:t>
            </a:r>
          </a:p>
        </p:txBody>
      </p:sp>
      <p:sp>
        <p:nvSpPr>
          <p:cNvPr id="285" name="Shape 28"/>
          <p:cNvSpPr/>
          <p:nvPr/>
        </p:nvSpPr>
        <p:spPr>
          <a:xfrm>
            <a:off x="7869911" y="3282696"/>
            <a:ext cx="159306" cy="3"/>
          </a:xfrm>
          <a:prstGeom prst="line">
            <a:avLst/>
          </a:prstGeom>
          <a:ln w="25400">
            <a:solidFill>
              <a:srgbClr val="2563EB"/>
            </a:solidFill>
          </a:ln>
        </p:spPr>
        <p:txBody>
          <a:bodyPr lIns="45718" tIns="45718" rIns="45718" bIns="45718"/>
          <a:lstStyle/>
          <a:p>
            <a:endParaRPr/>
          </a:p>
        </p:txBody>
      </p:sp>
      <p:sp>
        <p:nvSpPr>
          <p:cNvPr id="286" name="Shape 29"/>
          <p:cNvSpPr/>
          <p:nvPr/>
        </p:nvSpPr>
        <p:spPr>
          <a:xfrm>
            <a:off x="8092440" y="2734055"/>
            <a:ext cx="1554483" cy="1078993"/>
          </a:xfrm>
          <a:prstGeom prst="roundRect">
            <a:avLst>
              <a:gd name="adj" fmla="val 10169"/>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87" name="Text 30"/>
          <p:cNvSpPr txBox="1"/>
          <p:nvPr/>
        </p:nvSpPr>
        <p:spPr>
          <a:xfrm>
            <a:off x="8257030" y="2905125"/>
            <a:ext cx="1225299" cy="301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추천 순위</a:t>
            </a:r>
          </a:p>
        </p:txBody>
      </p:sp>
      <p:sp>
        <p:nvSpPr>
          <p:cNvPr id="288" name="Text 31"/>
          <p:cNvSpPr txBox="1"/>
          <p:nvPr/>
        </p:nvSpPr>
        <p:spPr>
          <a:xfrm>
            <a:off x="8101583" y="3410710"/>
            <a:ext cx="1545339" cy="2743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Noto Sans CJK KR"/>
                <a:ea typeface="Noto Sans CJK KR"/>
                <a:cs typeface="Noto Sans CJK KR"/>
                <a:sym typeface="Noto Sans CJK KR"/>
              </a:defRPr>
            </a:pPr>
            <a:r>
              <a:t>TOP 3 </a:t>
            </a:r>
            <a:r>
              <a:rPr>
                <a:latin typeface="맑은 고딕"/>
                <a:ea typeface="맑은 고딕"/>
                <a:cs typeface="맑은 고딕"/>
                <a:sym typeface="맑은 고딕"/>
              </a:rPr>
              <a:t>추천 결과</a:t>
            </a:r>
          </a:p>
        </p:txBody>
      </p:sp>
      <p:sp>
        <p:nvSpPr>
          <p:cNvPr id="289" name="Shape 32"/>
          <p:cNvSpPr/>
          <p:nvPr/>
        </p:nvSpPr>
        <p:spPr>
          <a:xfrm>
            <a:off x="9698714" y="3282696"/>
            <a:ext cx="159306" cy="3"/>
          </a:xfrm>
          <a:prstGeom prst="line">
            <a:avLst/>
          </a:prstGeom>
          <a:ln w="25400">
            <a:solidFill>
              <a:srgbClr val="2563EB"/>
            </a:solidFill>
          </a:ln>
        </p:spPr>
        <p:txBody>
          <a:bodyPr lIns="45718" tIns="45718" rIns="45718" bIns="45718"/>
          <a:lstStyle/>
          <a:p>
            <a:endParaRPr/>
          </a:p>
        </p:txBody>
      </p:sp>
      <p:sp>
        <p:nvSpPr>
          <p:cNvPr id="290" name="Shape 33"/>
          <p:cNvSpPr/>
          <p:nvPr/>
        </p:nvSpPr>
        <p:spPr>
          <a:xfrm>
            <a:off x="9921240" y="2734055"/>
            <a:ext cx="1554483" cy="1078993"/>
          </a:xfrm>
          <a:prstGeom prst="roundRect">
            <a:avLst>
              <a:gd name="adj" fmla="val 10169"/>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291" name="Text 34"/>
          <p:cNvSpPr txBox="1"/>
          <p:nvPr/>
        </p:nvSpPr>
        <p:spPr>
          <a:xfrm>
            <a:off x="10085830" y="2905125"/>
            <a:ext cx="1225299" cy="301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795527">
              <a:defRPr sz="1500" b="1">
                <a:solidFill>
                  <a:srgbClr val="102033"/>
                </a:solidFill>
                <a:latin typeface="Noto Sans CJK KR"/>
                <a:ea typeface="Noto Sans CJK KR"/>
                <a:cs typeface="Noto Sans CJK KR"/>
                <a:sym typeface="Noto Sans CJK KR"/>
              </a:defRPr>
            </a:pPr>
            <a:r>
              <a:t>Folium </a:t>
            </a:r>
            <a:r>
              <a:rPr>
                <a:latin typeface="맑은 고딕"/>
                <a:ea typeface="맑은 고딕"/>
                <a:cs typeface="맑은 고딕"/>
                <a:sym typeface="맑은 고딕"/>
              </a:rPr>
              <a:t>시각화</a:t>
            </a:r>
          </a:p>
        </p:txBody>
      </p:sp>
      <p:sp>
        <p:nvSpPr>
          <p:cNvPr id="292" name="Text 35"/>
          <p:cNvSpPr txBox="1"/>
          <p:nvPr/>
        </p:nvSpPr>
        <p:spPr>
          <a:xfrm>
            <a:off x="9930383" y="3410710"/>
            <a:ext cx="1545339" cy="2743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맑은 고딕"/>
                <a:ea typeface="맑은 고딕"/>
                <a:cs typeface="맑은 고딕"/>
                <a:sym typeface="맑은 고딕"/>
              </a:defRPr>
            </a:pPr>
            <a:r>
              <a:t>지도 </a:t>
            </a:r>
            <a:r>
              <a:rPr>
                <a:latin typeface="Noto Sans CJK KR"/>
                <a:ea typeface="Noto Sans CJK KR"/>
                <a:cs typeface="Noto Sans CJK KR"/>
                <a:sym typeface="Noto Sans CJK KR"/>
              </a:rPr>
              <a:t>HTML·</a:t>
            </a:r>
            <a:r>
              <a:t>실행 캡처</a:t>
            </a:r>
          </a:p>
        </p:txBody>
      </p:sp>
      <p:sp>
        <p:nvSpPr>
          <p:cNvPr id="293" name="Text 36"/>
          <p:cNvSpPr txBox="1"/>
          <p:nvPr/>
        </p:nvSpPr>
        <p:spPr>
          <a:xfrm>
            <a:off x="1887297" y="4370832"/>
            <a:ext cx="1097282" cy="2194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50391">
              <a:lnSpc>
                <a:spcPct val="80000"/>
              </a:lnSpc>
              <a:defRPr sz="1488" b="1">
                <a:solidFill>
                  <a:srgbClr val="2563EB"/>
                </a:solidFill>
                <a:latin typeface="Noto Sans CJK KR"/>
                <a:ea typeface="Noto Sans CJK KR"/>
                <a:cs typeface="Noto Sans CJK KR"/>
                <a:sym typeface="Noto Sans CJK KR"/>
              </a:defRPr>
            </a:lvl1pPr>
          </a:lstStyle>
          <a:p>
            <a:r>
              <a:t>Pipeline</a:t>
            </a:r>
          </a:p>
        </p:txBody>
      </p:sp>
      <p:sp>
        <p:nvSpPr>
          <p:cNvPr id="294" name="Text 37"/>
          <p:cNvSpPr txBox="1"/>
          <p:nvPr/>
        </p:nvSpPr>
        <p:spPr>
          <a:xfrm>
            <a:off x="3012313" y="4297679"/>
            <a:ext cx="7772401"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77823">
              <a:defRPr sz="1536">
                <a:solidFill>
                  <a:srgbClr val="334155"/>
                </a:solidFill>
                <a:latin typeface="Noto Sans CJK KR"/>
                <a:ea typeface="Noto Sans CJK KR"/>
                <a:cs typeface="Noto Sans CJK KR"/>
                <a:sym typeface="Noto Sans CJK KR"/>
              </a:defRPr>
            </a:lvl1pPr>
          </a:lstStyle>
          <a:p>
            <a:r>
              <a:t>analyze_timetable() → find_shortest_paths() → analyze_crowd() → recommend_places()</a:t>
            </a:r>
          </a:p>
        </p:txBody>
      </p:sp>
      <p:sp>
        <p:nvSpPr>
          <p:cNvPr id="295" name="Shape 38"/>
          <p:cNvSpPr/>
          <p:nvPr/>
        </p:nvSpPr>
        <p:spPr>
          <a:xfrm>
            <a:off x="1106169" y="5221225"/>
            <a:ext cx="9966961" cy="566931"/>
          </a:xfrm>
          <a:prstGeom prst="roundRect">
            <a:avLst>
              <a:gd name="adj" fmla="val 19355"/>
            </a:avLst>
          </a:prstGeom>
          <a:solidFill>
            <a:srgbClr val="2563EB"/>
          </a:solidFill>
          <a:ln w="1016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296" name="Text 39"/>
          <p:cNvSpPr txBox="1"/>
          <p:nvPr/>
        </p:nvSpPr>
        <p:spPr>
          <a:xfrm>
            <a:off x="1270762" y="5328287"/>
            <a:ext cx="9637777" cy="384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300">
                <a:solidFill>
                  <a:srgbClr val="FFFFFF"/>
                </a:solidFill>
                <a:latin typeface="맑은 고딕"/>
                <a:ea typeface="맑은 고딕"/>
                <a:cs typeface="맑은 고딕"/>
                <a:sym typeface="맑은 고딕"/>
              </a:defRPr>
            </a:pPr>
            <a:r>
              <a:t>핵심 설계 원칙 </a:t>
            </a:r>
            <a:r>
              <a:rPr>
                <a:latin typeface="Noto Sans CJK KR"/>
                <a:ea typeface="Noto Sans CJK KR"/>
                <a:cs typeface="Noto Sans CJK KR"/>
                <a:sym typeface="Noto Sans CJK KR"/>
              </a:rPr>
              <a:t>| </a:t>
            </a:r>
            <a:r>
              <a:t>각 기능은 독립 파일로 유지하고</a:t>
            </a:r>
            <a:r>
              <a:rPr>
                <a:latin typeface="Noto Sans CJK KR"/>
                <a:ea typeface="Noto Sans CJK KR"/>
                <a:cs typeface="Noto Sans CJK KR"/>
                <a:sym typeface="Noto Sans CJK KR"/>
              </a:rPr>
              <a:t>, </a:t>
            </a:r>
            <a:r>
              <a:t>대표 함수의 입력</a:t>
            </a:r>
            <a:r>
              <a:rPr>
                <a:latin typeface="Noto Sans CJK KR"/>
                <a:ea typeface="Noto Sans CJK KR"/>
                <a:cs typeface="Noto Sans CJK KR"/>
                <a:sym typeface="Noto Sans CJK KR"/>
              </a:rPr>
              <a:t>·</a:t>
            </a:r>
            <a:r>
              <a:t>출력 규칙을 맞춰 통합합니다</a:t>
            </a:r>
            <a:r>
              <a:rPr>
                <a:latin typeface="Noto Sans CJK KR"/>
                <a:ea typeface="Noto Sans CJK KR"/>
                <a:cs typeface="Noto Sans CJK KR"/>
                <a:sym typeface="Noto Sans CJK KR"/>
              </a:rPr>
              <a:t>.</a:t>
            </a:r>
          </a:p>
        </p:txBody>
      </p:sp>
      <p:sp>
        <p:nvSpPr>
          <p:cNvPr id="297" name="선 45"/>
          <p:cNvSpPr/>
          <p:nvPr/>
        </p:nvSpPr>
        <p:spPr>
          <a:xfrm>
            <a:off x="777237" y="3273552"/>
            <a:ext cx="1554484" cy="1"/>
          </a:xfrm>
          <a:prstGeom prst="line">
            <a:avLst/>
          </a:prstGeom>
          <a:ln w="6350">
            <a:solidFill>
              <a:schemeClr val="accent1"/>
            </a:solidFill>
          </a:ln>
        </p:spPr>
        <p:txBody>
          <a:bodyPr lIns="45718" tIns="45718" rIns="45718" bIns="45718"/>
          <a:lstStyle/>
          <a:p>
            <a:endParaRPr/>
          </a:p>
        </p:txBody>
      </p:sp>
      <p:sp>
        <p:nvSpPr>
          <p:cNvPr id="298" name="선 46"/>
          <p:cNvSpPr/>
          <p:nvPr/>
        </p:nvSpPr>
        <p:spPr>
          <a:xfrm>
            <a:off x="2606038" y="3282696"/>
            <a:ext cx="1554483" cy="1"/>
          </a:xfrm>
          <a:prstGeom prst="line">
            <a:avLst/>
          </a:prstGeom>
          <a:ln w="6350">
            <a:solidFill>
              <a:schemeClr val="accent1"/>
            </a:solidFill>
          </a:ln>
        </p:spPr>
        <p:txBody>
          <a:bodyPr lIns="45718" tIns="45718" rIns="45718" bIns="45718"/>
          <a:lstStyle/>
          <a:p>
            <a:endParaRPr/>
          </a:p>
        </p:txBody>
      </p:sp>
      <p:sp>
        <p:nvSpPr>
          <p:cNvPr id="299" name="선 47"/>
          <p:cNvSpPr/>
          <p:nvPr/>
        </p:nvSpPr>
        <p:spPr>
          <a:xfrm>
            <a:off x="4434840" y="3282696"/>
            <a:ext cx="1554482" cy="1"/>
          </a:xfrm>
          <a:prstGeom prst="line">
            <a:avLst/>
          </a:prstGeom>
          <a:ln w="6350">
            <a:solidFill>
              <a:schemeClr val="accent1"/>
            </a:solidFill>
          </a:ln>
        </p:spPr>
        <p:txBody>
          <a:bodyPr lIns="45718" tIns="45718" rIns="45718" bIns="45718"/>
          <a:lstStyle/>
          <a:p>
            <a:endParaRPr/>
          </a:p>
        </p:txBody>
      </p:sp>
      <p:sp>
        <p:nvSpPr>
          <p:cNvPr id="300" name="선 52"/>
          <p:cNvSpPr/>
          <p:nvPr/>
        </p:nvSpPr>
        <p:spPr>
          <a:xfrm>
            <a:off x="6263640" y="3282696"/>
            <a:ext cx="1554482" cy="1"/>
          </a:xfrm>
          <a:prstGeom prst="line">
            <a:avLst/>
          </a:prstGeom>
          <a:ln w="6350">
            <a:solidFill>
              <a:schemeClr val="accent1"/>
            </a:solidFill>
          </a:ln>
        </p:spPr>
        <p:txBody>
          <a:bodyPr lIns="45718" tIns="45718" rIns="45718" bIns="45718"/>
          <a:lstStyle/>
          <a:p>
            <a:endParaRPr/>
          </a:p>
        </p:txBody>
      </p:sp>
      <p:sp>
        <p:nvSpPr>
          <p:cNvPr id="301" name="선 53"/>
          <p:cNvSpPr/>
          <p:nvPr/>
        </p:nvSpPr>
        <p:spPr>
          <a:xfrm>
            <a:off x="8092439" y="3273552"/>
            <a:ext cx="1554482" cy="1"/>
          </a:xfrm>
          <a:prstGeom prst="line">
            <a:avLst/>
          </a:prstGeom>
          <a:ln w="6350">
            <a:solidFill>
              <a:schemeClr val="accent1"/>
            </a:solidFill>
          </a:ln>
        </p:spPr>
        <p:txBody>
          <a:bodyPr lIns="45718" tIns="45718" rIns="45718" bIns="45718"/>
          <a:lstStyle/>
          <a:p>
            <a:endParaRPr/>
          </a:p>
        </p:txBody>
      </p:sp>
      <p:sp>
        <p:nvSpPr>
          <p:cNvPr id="302" name="선 54"/>
          <p:cNvSpPr/>
          <p:nvPr/>
        </p:nvSpPr>
        <p:spPr>
          <a:xfrm>
            <a:off x="9921240" y="3273552"/>
            <a:ext cx="1554482" cy="1"/>
          </a:xfrm>
          <a:prstGeom prst="line">
            <a:avLst/>
          </a:prstGeom>
          <a:ln w="6350">
            <a:solidFill>
              <a:schemeClr val="accent1"/>
            </a:solidFill>
          </a:ln>
        </p:spPr>
        <p:txBody>
          <a:bodyPr lIns="45718" tIns="45718" rIns="45718" bIns="45718"/>
          <a:lstStyle/>
          <a:p>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305"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306"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STRUCTURE</a:t>
            </a:r>
          </a:p>
        </p:txBody>
      </p:sp>
      <p:sp>
        <p:nvSpPr>
          <p:cNvPr id="307"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09</a:t>
            </a:r>
          </a:p>
        </p:txBody>
      </p:sp>
      <p:sp>
        <p:nvSpPr>
          <p:cNvPr id="308"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309"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310"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311"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312"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313" name="Shape 9"/>
          <p:cNvSpPr/>
          <p:nvPr/>
        </p:nvSpPr>
        <p:spPr>
          <a:xfrm>
            <a:off x="758951" y="813816"/>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314" name="Text 10"/>
          <p:cNvSpPr txBox="1"/>
          <p:nvPr/>
        </p:nvSpPr>
        <p:spPr>
          <a:xfrm>
            <a:off x="859536" y="868860"/>
            <a:ext cx="12801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STRUCTURE</a:t>
            </a:r>
          </a:p>
        </p:txBody>
      </p:sp>
      <p:sp>
        <p:nvSpPr>
          <p:cNvPr id="315" name="Text 11"/>
          <p:cNvSpPr txBox="1"/>
          <p:nvPr/>
        </p:nvSpPr>
        <p:spPr>
          <a:xfrm>
            <a:off x="758951" y="1769364"/>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41247">
              <a:lnSpc>
                <a:spcPct val="90000"/>
              </a:lnSpc>
              <a:defRPr sz="2800" b="1">
                <a:solidFill>
                  <a:srgbClr val="102033"/>
                </a:solidFill>
                <a:latin typeface="맑은 고딕"/>
                <a:ea typeface="맑은 고딕"/>
                <a:cs typeface="맑은 고딕"/>
                <a:sym typeface="맑은 고딕"/>
              </a:defRPr>
            </a:lvl1pPr>
          </a:lstStyle>
          <a:p>
            <a:r>
              <a:t>파일 구조 및 모듈 구성 </a:t>
            </a:r>
          </a:p>
        </p:txBody>
      </p:sp>
      <p:sp>
        <p:nvSpPr>
          <p:cNvPr id="316" name="Text 12"/>
          <p:cNvSpPr txBox="1"/>
          <p:nvPr/>
        </p:nvSpPr>
        <p:spPr>
          <a:xfrm>
            <a:off x="758951" y="2299716"/>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1400">
                <a:solidFill>
                  <a:srgbClr val="64748B"/>
                </a:solidFill>
                <a:latin typeface="Noto Sans CJK KR"/>
                <a:ea typeface="Noto Sans CJK KR"/>
                <a:cs typeface="Noto Sans CJK KR"/>
                <a:sym typeface="Noto Sans CJK KR"/>
              </a:defRPr>
            </a:lvl1pPr>
          </a:lstStyle>
          <a:p>
            <a:r>
              <a:t>main.py, streamlit_app.py와 4개 기능 모듈, data 폴더로 실행 흐름과 데이터를 분리했습니다.</a:t>
            </a:r>
          </a:p>
        </p:txBody>
      </p:sp>
      <p:sp>
        <p:nvSpPr>
          <p:cNvPr id="317" name="Shape 13"/>
          <p:cNvSpPr/>
          <p:nvPr/>
        </p:nvSpPr>
        <p:spPr>
          <a:xfrm>
            <a:off x="868680" y="3388995"/>
            <a:ext cx="2148840" cy="2057403"/>
          </a:xfrm>
          <a:prstGeom prst="roundRect">
            <a:avLst>
              <a:gd name="adj" fmla="val 5333"/>
            </a:avLst>
          </a:prstGeom>
          <a:solidFill>
            <a:srgbClr val="2563EB"/>
          </a:solidFill>
          <a:ln w="10160">
            <a:solidFill>
              <a:srgbClr val="2563EB"/>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318" name="Text 14"/>
          <p:cNvSpPr txBox="1"/>
          <p:nvPr/>
        </p:nvSpPr>
        <p:spPr>
          <a:xfrm>
            <a:off x="1033272" y="3727322"/>
            <a:ext cx="1819656"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780530">
              <a:lnSpc>
                <a:spcPct val="81000"/>
              </a:lnSpc>
              <a:defRPr sz="1936" b="1">
                <a:solidFill>
                  <a:srgbClr val="FFFFFF"/>
                </a:solidFill>
                <a:latin typeface="Noto Sans CJK KR"/>
                <a:ea typeface="Noto Sans CJK KR"/>
                <a:cs typeface="Noto Sans CJK KR"/>
                <a:sym typeface="Noto Sans CJK KR"/>
              </a:defRPr>
            </a:lvl1pPr>
          </a:lstStyle>
          <a:p>
            <a:r>
              <a:t>main.py</a:t>
            </a:r>
          </a:p>
        </p:txBody>
      </p:sp>
      <p:sp>
        <p:nvSpPr>
          <p:cNvPr id="319" name="Text 15"/>
          <p:cNvSpPr txBox="1"/>
          <p:nvPr/>
        </p:nvSpPr>
        <p:spPr>
          <a:xfrm>
            <a:off x="1033272" y="4239385"/>
            <a:ext cx="1819656" cy="6858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100">
                <a:solidFill>
                  <a:srgbClr val="FFFFFF"/>
                </a:solidFill>
                <a:latin typeface="맑은 고딕"/>
                <a:ea typeface="맑은 고딕"/>
                <a:cs typeface="맑은 고딕"/>
                <a:sym typeface="맑은 고딕"/>
              </a:defRPr>
            </a:pPr>
            <a:r>
              <a:t>입력 </a:t>
            </a:r>
            <a:r>
              <a:rPr>
                <a:latin typeface="Noto Sans CJK KR"/>
                <a:ea typeface="Noto Sans CJK KR"/>
                <a:cs typeface="Noto Sans CJK KR"/>
                <a:sym typeface="Noto Sans CJK KR"/>
              </a:rPr>
              <a:t>→ </a:t>
            </a:r>
            <a:r>
              <a:t>분석 </a:t>
            </a:r>
            <a:r>
              <a:rPr>
                <a:latin typeface="Noto Sans CJK KR"/>
                <a:ea typeface="Noto Sans CJK KR"/>
                <a:cs typeface="Noto Sans CJK KR"/>
                <a:sym typeface="Noto Sans CJK KR"/>
              </a:rPr>
              <a:t>→ </a:t>
            </a:r>
            <a:r>
              <a:t>추천 </a:t>
            </a:r>
            <a:r>
              <a:rPr>
                <a:latin typeface="Noto Sans CJK KR"/>
                <a:ea typeface="Noto Sans CJK KR"/>
                <a:cs typeface="Noto Sans CJK KR"/>
                <a:sym typeface="Noto Sans CJK KR"/>
              </a:rPr>
              <a:t>→ </a:t>
            </a:r>
            <a:r>
              <a:t>출력</a:t>
            </a:r>
          </a:p>
          <a:p>
            <a:pPr algn="ctr">
              <a:defRPr sz="1100">
                <a:solidFill>
                  <a:srgbClr val="FFFFFF"/>
                </a:solidFill>
                <a:latin typeface="맑은 고딕"/>
                <a:ea typeface="맑은 고딕"/>
                <a:cs typeface="맑은 고딕"/>
                <a:sym typeface="맑은 고딕"/>
              </a:defRPr>
            </a:pPr>
            <a:r>
              <a:t>전체 실행 흐름 제어</a:t>
            </a:r>
          </a:p>
        </p:txBody>
      </p:sp>
      <p:sp>
        <p:nvSpPr>
          <p:cNvPr id="320" name="Shape 16"/>
          <p:cNvSpPr/>
          <p:nvPr/>
        </p:nvSpPr>
        <p:spPr>
          <a:xfrm>
            <a:off x="3520440" y="2983227"/>
            <a:ext cx="6858001"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21" name="Text 17"/>
          <p:cNvSpPr txBox="1"/>
          <p:nvPr/>
        </p:nvSpPr>
        <p:spPr>
          <a:xfrm>
            <a:off x="3749040" y="3138311"/>
            <a:ext cx="2103123"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04672">
              <a:lnSpc>
                <a:spcPct val="81000"/>
              </a:lnSpc>
              <a:defRPr sz="1232" b="1">
                <a:solidFill>
                  <a:srgbClr val="2563EB"/>
                </a:solidFill>
                <a:latin typeface="Noto Sans CJK KR"/>
                <a:ea typeface="Noto Sans CJK KR"/>
                <a:cs typeface="Noto Sans CJK KR"/>
                <a:sym typeface="Noto Sans CJK KR"/>
              </a:defRPr>
            </a:lvl1pPr>
          </a:lstStyle>
          <a:p>
            <a:r>
              <a:t>timetable_analyzer.py</a:t>
            </a:r>
          </a:p>
        </p:txBody>
      </p:sp>
      <p:sp>
        <p:nvSpPr>
          <p:cNvPr id="322" name="Text 18"/>
          <p:cNvSpPr txBox="1"/>
          <p:nvPr/>
        </p:nvSpPr>
        <p:spPr>
          <a:xfrm>
            <a:off x="5715000" y="3047619"/>
            <a:ext cx="4663441" cy="3474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400">
                <a:solidFill>
                  <a:srgbClr val="334155"/>
                </a:solidFill>
                <a:latin typeface="맑은 고딕"/>
                <a:ea typeface="맑은 고딕"/>
                <a:cs typeface="맑은 고딕"/>
                <a:sym typeface="맑은 고딕"/>
              </a:defRPr>
            </a:lvl1pPr>
          </a:lstStyle>
          <a:p>
            <a:r>
              <a:t>공강 여부 추천 가능 시간 계산</a:t>
            </a:r>
          </a:p>
        </p:txBody>
      </p:sp>
      <p:sp>
        <p:nvSpPr>
          <p:cNvPr id="323" name="Shape 19"/>
          <p:cNvSpPr/>
          <p:nvPr/>
        </p:nvSpPr>
        <p:spPr>
          <a:xfrm>
            <a:off x="3520440" y="3586734"/>
            <a:ext cx="6858001" cy="457203"/>
          </a:xfrm>
          <a:prstGeom prst="roundRect">
            <a:avLst>
              <a:gd name="adj" fmla="val 2400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24" name="Text 20"/>
          <p:cNvSpPr txBox="1"/>
          <p:nvPr/>
        </p:nvSpPr>
        <p:spPr>
          <a:xfrm>
            <a:off x="3749040" y="3732762"/>
            <a:ext cx="2103123"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04672">
              <a:lnSpc>
                <a:spcPct val="81000"/>
              </a:lnSpc>
              <a:defRPr sz="1232" b="1">
                <a:solidFill>
                  <a:srgbClr val="2563EB"/>
                </a:solidFill>
                <a:latin typeface="Noto Sans CJK KR"/>
                <a:ea typeface="Noto Sans CJK KR"/>
                <a:cs typeface="Noto Sans CJK KR"/>
                <a:sym typeface="Noto Sans CJK KR"/>
              </a:defRPr>
            </a:lvl1pPr>
          </a:lstStyle>
          <a:p>
            <a:r>
              <a:t>path_finder.py</a:t>
            </a:r>
          </a:p>
        </p:txBody>
      </p:sp>
      <p:sp>
        <p:nvSpPr>
          <p:cNvPr id="325" name="Text 21"/>
          <p:cNvSpPr txBox="1"/>
          <p:nvPr/>
        </p:nvSpPr>
        <p:spPr>
          <a:xfrm>
            <a:off x="5715000" y="3692395"/>
            <a:ext cx="4663441" cy="228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rgbClr val="334155"/>
                </a:solidFill>
                <a:latin typeface="맑은 고딕"/>
                <a:ea typeface="맑은 고딕"/>
                <a:cs typeface="맑은 고딕"/>
                <a:sym typeface="맑은 고딕"/>
              </a:defRPr>
            </a:lvl1pPr>
          </a:lstStyle>
          <a:p>
            <a:r>
              <a:t>후보 장소까지의 이동시간 계산</a:t>
            </a:r>
          </a:p>
        </p:txBody>
      </p:sp>
      <p:sp>
        <p:nvSpPr>
          <p:cNvPr id="326" name="Shape 22"/>
          <p:cNvSpPr/>
          <p:nvPr/>
        </p:nvSpPr>
        <p:spPr>
          <a:xfrm>
            <a:off x="3520440" y="4190238"/>
            <a:ext cx="6858001"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27" name="Text 23"/>
          <p:cNvSpPr txBox="1"/>
          <p:nvPr/>
        </p:nvSpPr>
        <p:spPr>
          <a:xfrm>
            <a:off x="3749040" y="4327214"/>
            <a:ext cx="2103123"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04672">
              <a:lnSpc>
                <a:spcPct val="81000"/>
              </a:lnSpc>
              <a:defRPr sz="1232" b="1">
                <a:solidFill>
                  <a:srgbClr val="2563EB"/>
                </a:solidFill>
                <a:latin typeface="Noto Sans CJK KR"/>
                <a:ea typeface="Noto Sans CJK KR"/>
                <a:cs typeface="Noto Sans CJK KR"/>
                <a:sym typeface="Noto Sans CJK KR"/>
              </a:defRPr>
            </a:lvl1pPr>
          </a:lstStyle>
          <a:p>
            <a:r>
              <a:t>crowd_analyzer.py</a:t>
            </a:r>
          </a:p>
        </p:txBody>
      </p:sp>
      <p:sp>
        <p:nvSpPr>
          <p:cNvPr id="328" name="Text 24"/>
          <p:cNvSpPr txBox="1"/>
          <p:nvPr/>
        </p:nvSpPr>
        <p:spPr>
          <a:xfrm>
            <a:off x="5715000" y="4295900"/>
            <a:ext cx="4663441" cy="228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rgbClr val="334155"/>
                </a:solidFill>
                <a:latin typeface="맑은 고딕"/>
                <a:ea typeface="맑은 고딕"/>
                <a:cs typeface="맑은 고딕"/>
                <a:sym typeface="맑은 고딕"/>
              </a:defRPr>
            </a:lvl1pPr>
          </a:lstStyle>
          <a:p>
            <a:r>
              <a:t>시간대별 혼잡도와 대기시간 산출</a:t>
            </a:r>
          </a:p>
        </p:txBody>
      </p:sp>
      <p:sp>
        <p:nvSpPr>
          <p:cNvPr id="329" name="Shape 25"/>
          <p:cNvSpPr/>
          <p:nvPr/>
        </p:nvSpPr>
        <p:spPr>
          <a:xfrm>
            <a:off x="3520440" y="4793741"/>
            <a:ext cx="6858001" cy="457203"/>
          </a:xfrm>
          <a:prstGeom prst="roundRect">
            <a:avLst>
              <a:gd name="adj" fmla="val 2400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30" name="Text 26"/>
          <p:cNvSpPr txBox="1"/>
          <p:nvPr/>
        </p:nvSpPr>
        <p:spPr>
          <a:xfrm>
            <a:off x="3749040" y="4930719"/>
            <a:ext cx="2103123"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04672">
              <a:lnSpc>
                <a:spcPct val="81000"/>
              </a:lnSpc>
              <a:defRPr sz="1232" b="1">
                <a:solidFill>
                  <a:srgbClr val="2563EB"/>
                </a:solidFill>
                <a:latin typeface="Noto Sans CJK KR"/>
                <a:ea typeface="Noto Sans CJK KR"/>
                <a:cs typeface="Noto Sans CJK KR"/>
                <a:sym typeface="Noto Sans CJK KR"/>
              </a:defRPr>
            </a:lvl1pPr>
          </a:lstStyle>
          <a:p>
            <a:r>
              <a:t>place_recommender.py</a:t>
            </a:r>
          </a:p>
        </p:txBody>
      </p:sp>
      <p:sp>
        <p:nvSpPr>
          <p:cNvPr id="331" name="Text 27"/>
          <p:cNvSpPr txBox="1"/>
          <p:nvPr/>
        </p:nvSpPr>
        <p:spPr>
          <a:xfrm>
            <a:off x="5715000" y="4899403"/>
            <a:ext cx="4663441" cy="2283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400">
                <a:solidFill>
                  <a:srgbClr val="334155"/>
                </a:solidFill>
                <a:latin typeface="Noto Sans CJK KR"/>
                <a:ea typeface="Noto Sans CJK KR"/>
                <a:cs typeface="Noto Sans CJK KR"/>
                <a:sym typeface="Noto Sans CJK KR"/>
              </a:defRPr>
            </a:pPr>
            <a:r>
              <a:t>TOP 3 </a:t>
            </a:r>
            <a:r>
              <a:rPr>
                <a:latin typeface="맑은 고딕"/>
                <a:ea typeface="맑은 고딕"/>
                <a:cs typeface="맑은 고딕"/>
                <a:sym typeface="맑은 고딕"/>
              </a:rPr>
              <a:t>추천 순위 계산</a:t>
            </a:r>
          </a:p>
        </p:txBody>
      </p:sp>
      <p:sp>
        <p:nvSpPr>
          <p:cNvPr id="332" name="Shape 28"/>
          <p:cNvSpPr/>
          <p:nvPr/>
        </p:nvSpPr>
        <p:spPr>
          <a:xfrm>
            <a:off x="3520440" y="5397246"/>
            <a:ext cx="6858001"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33" name="Text 29"/>
          <p:cNvSpPr txBox="1"/>
          <p:nvPr/>
        </p:nvSpPr>
        <p:spPr>
          <a:xfrm>
            <a:off x="3749040" y="5534223"/>
            <a:ext cx="2103123" cy="182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04672">
              <a:lnSpc>
                <a:spcPct val="81000"/>
              </a:lnSpc>
              <a:defRPr sz="1232" b="1">
                <a:solidFill>
                  <a:srgbClr val="2563EB"/>
                </a:solidFill>
                <a:latin typeface="Noto Sans CJK KR"/>
                <a:ea typeface="Noto Sans CJK KR"/>
                <a:cs typeface="Noto Sans CJK KR"/>
                <a:sym typeface="Noto Sans CJK KR"/>
              </a:defRPr>
            </a:lvl1pPr>
          </a:lstStyle>
          <a:p>
            <a:r>
              <a:t>data/*.py</a:t>
            </a:r>
          </a:p>
        </p:txBody>
      </p:sp>
      <p:sp>
        <p:nvSpPr>
          <p:cNvPr id="334" name="Text 30"/>
          <p:cNvSpPr txBox="1"/>
          <p:nvPr/>
        </p:nvSpPr>
        <p:spPr>
          <a:xfrm>
            <a:off x="5715000" y="5502907"/>
            <a:ext cx="4663441" cy="228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400">
                <a:solidFill>
                  <a:srgbClr val="334155"/>
                </a:solidFill>
                <a:latin typeface="맑은 고딕"/>
                <a:ea typeface="맑은 고딕"/>
                <a:cs typeface="맑은 고딕"/>
                <a:sym typeface="맑은 고딕"/>
              </a:defRPr>
            </a:pPr>
            <a:r>
              <a:t>시간표</a:t>
            </a:r>
            <a:r>
              <a:rPr>
                <a:latin typeface="Noto Sans CJK KR"/>
                <a:ea typeface="Noto Sans CJK KR"/>
                <a:cs typeface="Noto Sans CJK KR"/>
                <a:sym typeface="Noto Sans CJK KR"/>
              </a:rPr>
              <a:t>·</a:t>
            </a:r>
            <a:r>
              <a:t>장소</a:t>
            </a:r>
            <a:r>
              <a:rPr>
                <a:latin typeface="Noto Sans CJK KR"/>
                <a:ea typeface="Noto Sans CJK KR"/>
                <a:cs typeface="Noto Sans CJK KR"/>
                <a:sym typeface="Noto Sans CJK KR"/>
              </a:rPr>
              <a:t>·</a:t>
            </a:r>
            <a:r>
              <a:t>경로</a:t>
            </a:r>
            <a:r>
              <a:rPr>
                <a:latin typeface="Noto Sans CJK KR"/>
                <a:ea typeface="Noto Sans CJK KR"/>
                <a:cs typeface="Noto Sans CJK KR"/>
                <a:sym typeface="Noto Sans CJK KR"/>
              </a:rPr>
              <a:t>·</a:t>
            </a:r>
            <a:r>
              <a:t>혼잡도 샘플 데이터</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337"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338"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MODULE 01</a:t>
            </a:r>
          </a:p>
        </p:txBody>
      </p:sp>
      <p:sp>
        <p:nvSpPr>
          <p:cNvPr id="339"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10</a:t>
            </a:r>
          </a:p>
        </p:txBody>
      </p:sp>
      <p:sp>
        <p:nvSpPr>
          <p:cNvPr id="340"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341"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342"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343"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맑은 고딕"/>
                <a:ea typeface="맑은 고딕"/>
                <a:cs typeface="맑은 고딕"/>
                <a:sym typeface="맑은 고딕"/>
              </a:rPr>
              <a:t>공강 플래너</a:t>
            </a:r>
          </a:p>
        </p:txBody>
      </p:sp>
      <p:sp>
        <p:nvSpPr>
          <p:cNvPr id="344"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345" name="Shape 9"/>
          <p:cNvSpPr/>
          <p:nvPr/>
        </p:nvSpPr>
        <p:spPr>
          <a:xfrm>
            <a:off x="173734" y="980503"/>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346" name="Text 11"/>
          <p:cNvSpPr txBox="1"/>
          <p:nvPr/>
        </p:nvSpPr>
        <p:spPr>
          <a:xfrm>
            <a:off x="225552" y="1769364"/>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defRPr sz="2800" b="1">
                <a:solidFill>
                  <a:srgbClr val="102033"/>
                </a:solidFill>
                <a:latin typeface="맑은 고딕"/>
                <a:ea typeface="맑은 고딕"/>
                <a:cs typeface="맑은 고딕"/>
                <a:sym typeface="맑은 고딕"/>
              </a:defRPr>
            </a:pPr>
            <a:r>
              <a:t>시간표</a:t>
            </a:r>
            <a:r>
              <a:rPr>
                <a:latin typeface="Noto Sans CJK KR"/>
                <a:ea typeface="Noto Sans CJK KR"/>
                <a:cs typeface="Noto Sans CJK KR"/>
                <a:sym typeface="Noto Sans CJK KR"/>
              </a:rPr>
              <a:t>/</a:t>
            </a:r>
            <a:r>
              <a:t>공강 시간 분석</a:t>
            </a:r>
          </a:p>
        </p:txBody>
      </p:sp>
      <p:sp>
        <p:nvSpPr>
          <p:cNvPr id="347" name="Text 12"/>
          <p:cNvSpPr txBox="1"/>
          <p:nvPr/>
        </p:nvSpPr>
        <p:spPr>
          <a:xfrm>
            <a:off x="210693" y="2615127"/>
            <a:ext cx="6231255"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400">
                <a:solidFill>
                  <a:srgbClr val="64748B"/>
                </a:solidFill>
                <a:latin typeface="맑은 고딕"/>
                <a:ea typeface="맑은 고딕"/>
                <a:cs typeface="맑은 고딕"/>
                <a:sym typeface="맑은 고딕"/>
              </a:defRPr>
            </a:pPr>
            <a:r>
              <a:t>현재 요일</a:t>
            </a:r>
            <a:r>
              <a:rPr>
                <a:latin typeface="Noto Sans CJK KR"/>
                <a:ea typeface="Noto Sans CJK KR"/>
                <a:cs typeface="Noto Sans CJK KR"/>
                <a:sym typeface="Noto Sans CJK KR"/>
              </a:rPr>
              <a:t>·</a:t>
            </a:r>
            <a:r>
              <a:t>시간</a:t>
            </a:r>
            <a:r>
              <a:rPr>
                <a:latin typeface="Noto Sans CJK KR"/>
                <a:ea typeface="Noto Sans CJK KR"/>
                <a:cs typeface="Noto Sans CJK KR"/>
                <a:sym typeface="Noto Sans CJK KR"/>
              </a:rPr>
              <a:t>·</a:t>
            </a:r>
            <a:r>
              <a:t>위치를 기준으로 공강 여부와 추천 가능 시간을 계산합니다</a:t>
            </a:r>
            <a:r>
              <a:rPr>
                <a:latin typeface="Noto Sans CJK KR"/>
                <a:ea typeface="Noto Sans CJK KR"/>
                <a:cs typeface="Noto Sans CJK KR"/>
                <a:sym typeface="Noto Sans CJK KR"/>
              </a:rPr>
              <a:t>.</a:t>
            </a:r>
          </a:p>
        </p:txBody>
      </p:sp>
      <p:sp>
        <p:nvSpPr>
          <p:cNvPr id="348" name="Shape 16"/>
          <p:cNvSpPr/>
          <p:nvPr/>
        </p:nvSpPr>
        <p:spPr>
          <a:xfrm>
            <a:off x="210693" y="3285363"/>
            <a:ext cx="6231255"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49" name="Text 17"/>
          <p:cNvSpPr txBox="1"/>
          <p:nvPr/>
        </p:nvSpPr>
        <p:spPr>
          <a:xfrm>
            <a:off x="-301753" y="3441572"/>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입력</a:t>
            </a:r>
          </a:p>
        </p:txBody>
      </p:sp>
      <p:sp>
        <p:nvSpPr>
          <p:cNvPr id="350" name="Text 18"/>
          <p:cNvSpPr txBox="1"/>
          <p:nvPr/>
        </p:nvSpPr>
        <p:spPr>
          <a:xfrm>
            <a:off x="1251456" y="3358515"/>
            <a:ext cx="5190495" cy="3474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400">
                <a:solidFill>
                  <a:srgbClr val="334155"/>
                </a:solidFill>
                <a:latin typeface="Noto Sans CJK KR"/>
                <a:ea typeface="Noto Sans CJK KR"/>
                <a:cs typeface="Noto Sans CJK KR"/>
                <a:sym typeface="Noto Sans CJK KR"/>
              </a:defRPr>
            </a:lvl1pPr>
          </a:lstStyle>
          <a:p>
            <a:r>
              <a:t>current_day · current_time · current_place · timetable</a:t>
            </a:r>
          </a:p>
        </p:txBody>
      </p:sp>
      <p:sp>
        <p:nvSpPr>
          <p:cNvPr id="351" name="Shape 19"/>
          <p:cNvSpPr/>
          <p:nvPr/>
        </p:nvSpPr>
        <p:spPr>
          <a:xfrm>
            <a:off x="210693" y="3888866"/>
            <a:ext cx="6231255" cy="457203"/>
          </a:xfrm>
          <a:prstGeom prst="roundRect">
            <a:avLst>
              <a:gd name="adj" fmla="val 2400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52" name="Text 20"/>
          <p:cNvSpPr txBox="1"/>
          <p:nvPr/>
        </p:nvSpPr>
        <p:spPr>
          <a:xfrm>
            <a:off x="-301753" y="4045077"/>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처리</a:t>
            </a:r>
          </a:p>
        </p:txBody>
      </p:sp>
      <p:sp>
        <p:nvSpPr>
          <p:cNvPr id="353" name="Text 21"/>
          <p:cNvSpPr txBox="1"/>
          <p:nvPr/>
        </p:nvSpPr>
        <p:spPr>
          <a:xfrm>
            <a:off x="1251456" y="3955540"/>
            <a:ext cx="5190495" cy="381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200">
                <a:solidFill>
                  <a:srgbClr val="334155"/>
                </a:solidFill>
                <a:latin typeface="맑은 고딕"/>
                <a:ea typeface="맑은 고딕"/>
                <a:cs typeface="맑은 고딕"/>
                <a:sym typeface="맑은 고딕"/>
              </a:defRPr>
            </a:pPr>
            <a:r>
              <a:t>시간을 분 단위로 변환하고 해당 요일 수업을 정렬</a:t>
            </a:r>
          </a:p>
          <a:p>
            <a:pPr algn="ctr">
              <a:defRPr sz="1200">
                <a:solidFill>
                  <a:srgbClr val="334155"/>
                </a:solidFill>
                <a:latin typeface="맑은 고딕"/>
                <a:ea typeface="맑은 고딕"/>
                <a:cs typeface="맑은 고딕"/>
                <a:sym typeface="맑은 고딕"/>
              </a:defRPr>
            </a:pPr>
            <a:r>
              <a:t>현재 시간이 어느 구간에 있는지 판단</a:t>
            </a:r>
          </a:p>
        </p:txBody>
      </p:sp>
      <p:sp>
        <p:nvSpPr>
          <p:cNvPr id="354" name="Shape 22"/>
          <p:cNvSpPr/>
          <p:nvPr/>
        </p:nvSpPr>
        <p:spPr>
          <a:xfrm>
            <a:off x="210693" y="4492371"/>
            <a:ext cx="6231255"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55" name="Text 23"/>
          <p:cNvSpPr txBox="1"/>
          <p:nvPr/>
        </p:nvSpPr>
        <p:spPr>
          <a:xfrm>
            <a:off x="-301753" y="4648579"/>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출력</a:t>
            </a:r>
          </a:p>
        </p:txBody>
      </p:sp>
      <p:sp>
        <p:nvSpPr>
          <p:cNvPr id="356" name="Text 24"/>
          <p:cNvSpPr txBox="1"/>
          <p:nvPr/>
        </p:nvSpPr>
        <p:spPr>
          <a:xfrm>
            <a:off x="1251456" y="4505071"/>
            <a:ext cx="5190495"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rgbClr val="334155"/>
                </a:solidFill>
                <a:latin typeface="Noto Sans CJK KR"/>
                <a:ea typeface="Noto Sans CJK KR"/>
                <a:cs typeface="Noto Sans CJK KR"/>
                <a:sym typeface="Noto Sans CJK KR"/>
              </a:defRPr>
            </a:lvl1pPr>
          </a:lstStyle>
          <a:p>
            <a:r>
              <a:t>is_free_time · free_minutes · next_class_place · available_minutes</a:t>
            </a:r>
          </a:p>
        </p:txBody>
      </p:sp>
      <p:sp>
        <p:nvSpPr>
          <p:cNvPr id="357" name="Text 10"/>
          <p:cNvSpPr txBox="1"/>
          <p:nvPr/>
        </p:nvSpPr>
        <p:spPr>
          <a:xfrm>
            <a:off x="173733" y="980503"/>
            <a:ext cx="1481331"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MODULE 01</a:t>
            </a:r>
          </a:p>
        </p:txBody>
      </p:sp>
      <p:sp>
        <p:nvSpPr>
          <p:cNvPr id="358" name="Text 22"/>
          <p:cNvSpPr txBox="1"/>
          <p:nvPr/>
        </p:nvSpPr>
        <p:spPr>
          <a:xfrm>
            <a:off x="1216531" y="5466207"/>
            <a:ext cx="4846325"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600" b="1">
                <a:solidFill>
                  <a:srgbClr val="102033"/>
                </a:solidFill>
                <a:latin typeface="맑은 고딕"/>
                <a:ea typeface="맑은 고딕"/>
                <a:cs typeface="맑은 고딕"/>
                <a:sym typeface="맑은 고딕"/>
              </a:defRPr>
            </a:pPr>
            <a:r>
              <a:t>사용 알고리즘 </a:t>
            </a:r>
            <a:r>
              <a:rPr>
                <a:latin typeface="Noto Sans CJK KR"/>
                <a:ea typeface="Noto Sans CJK KR"/>
                <a:cs typeface="Noto Sans CJK KR"/>
                <a:sym typeface="Noto Sans CJK KR"/>
              </a:rPr>
              <a:t>| </a:t>
            </a:r>
            <a:r>
              <a:t>정렬 알고리즘</a:t>
            </a:r>
            <a:r>
              <a:rPr>
                <a:latin typeface="Noto Sans CJK KR"/>
                <a:ea typeface="Noto Sans CJK KR"/>
                <a:cs typeface="Noto Sans CJK KR"/>
                <a:sym typeface="Noto Sans CJK KR"/>
              </a:rPr>
              <a:t>, </a:t>
            </a:r>
            <a:r>
              <a:t>이진 탐색</a:t>
            </a:r>
            <a:r>
              <a:rPr>
                <a:latin typeface="Noto Sans CJK KR"/>
                <a:ea typeface="Noto Sans CJK KR"/>
                <a:cs typeface="Noto Sans CJK KR"/>
                <a:sym typeface="Noto Sans CJK KR"/>
              </a:rPr>
              <a:t>, </a:t>
            </a:r>
            <a:r>
              <a:t>구간 비교</a:t>
            </a:r>
          </a:p>
        </p:txBody>
      </p:sp>
      <p:pic>
        <p:nvPicPr>
          <p:cNvPr id="359" name="그림 35" descr="그림 35"/>
          <p:cNvPicPr>
            <a:picLocks noChangeAspect="1"/>
          </p:cNvPicPr>
          <p:nvPr/>
        </p:nvPicPr>
        <p:blipFill>
          <a:blip r:embed="rId2"/>
          <a:stretch>
            <a:fillRect/>
          </a:stretch>
        </p:blipFill>
        <p:spPr>
          <a:xfrm>
            <a:off x="6604506" y="1884644"/>
            <a:ext cx="5425152" cy="4068863"/>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362"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363"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MODULE 02</a:t>
            </a:r>
          </a:p>
        </p:txBody>
      </p:sp>
      <p:sp>
        <p:nvSpPr>
          <p:cNvPr id="364"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11</a:t>
            </a:r>
          </a:p>
        </p:txBody>
      </p:sp>
      <p:sp>
        <p:nvSpPr>
          <p:cNvPr id="365"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366"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367"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368"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369"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370" name="Module10Style 11"/>
          <p:cNvSpPr/>
          <p:nvPr/>
        </p:nvSpPr>
        <p:spPr>
          <a:xfrm>
            <a:off x="173734" y="980503"/>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371" name="Module10Style 12"/>
          <p:cNvSpPr txBox="1"/>
          <p:nvPr/>
        </p:nvSpPr>
        <p:spPr>
          <a:xfrm>
            <a:off x="225552" y="1769364"/>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41247">
              <a:defRPr sz="2800" b="1">
                <a:solidFill>
                  <a:srgbClr val="102033"/>
                </a:solidFill>
                <a:latin typeface="맑은 고딕"/>
                <a:ea typeface="맑은 고딕"/>
                <a:cs typeface="맑은 고딕"/>
                <a:sym typeface="맑은 고딕"/>
              </a:defRPr>
            </a:lvl1pPr>
          </a:lstStyle>
          <a:p>
            <a:r>
              <a:t>최단경로 계산 및 시각화</a:t>
            </a:r>
          </a:p>
        </p:txBody>
      </p:sp>
      <p:sp>
        <p:nvSpPr>
          <p:cNvPr id="372" name="Module10Style 13"/>
          <p:cNvSpPr txBox="1"/>
          <p:nvPr/>
        </p:nvSpPr>
        <p:spPr>
          <a:xfrm>
            <a:off x="210693" y="2615127"/>
            <a:ext cx="6231255"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맑은 고딕"/>
                <a:ea typeface="맑은 고딕"/>
                <a:cs typeface="맑은 고딕"/>
                <a:sym typeface="맑은 고딕"/>
              </a:defRPr>
            </a:pPr>
            <a:r>
              <a:t>캠퍼스 건물을 그래프 노드로 보고 이동시간을 가중치로 사용합니다</a:t>
            </a:r>
            <a:r>
              <a:rPr>
                <a:latin typeface="Noto Sans CJK KR"/>
                <a:ea typeface="Noto Sans CJK KR"/>
                <a:cs typeface="Noto Sans CJK KR"/>
                <a:sym typeface="Noto Sans CJK KR"/>
              </a:rPr>
              <a:t>.</a:t>
            </a:r>
          </a:p>
        </p:txBody>
      </p:sp>
      <p:sp>
        <p:nvSpPr>
          <p:cNvPr id="373" name="Module10Style 15"/>
          <p:cNvSpPr/>
          <p:nvPr/>
        </p:nvSpPr>
        <p:spPr>
          <a:xfrm>
            <a:off x="210693" y="3285363"/>
            <a:ext cx="6231255"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74" name="Module10Style 16"/>
          <p:cNvSpPr txBox="1"/>
          <p:nvPr/>
        </p:nvSpPr>
        <p:spPr>
          <a:xfrm>
            <a:off x="-301753" y="3441572"/>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입력</a:t>
            </a:r>
          </a:p>
        </p:txBody>
      </p:sp>
      <p:sp>
        <p:nvSpPr>
          <p:cNvPr id="375" name="Module10Style 17"/>
          <p:cNvSpPr txBox="1"/>
          <p:nvPr/>
        </p:nvSpPr>
        <p:spPr>
          <a:xfrm>
            <a:off x="1059304" y="3369571"/>
            <a:ext cx="5190495" cy="3474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400">
                <a:solidFill>
                  <a:srgbClr val="334155"/>
                </a:solidFill>
                <a:latin typeface="Noto Sans CJK KR"/>
                <a:ea typeface="Noto Sans CJK KR"/>
                <a:cs typeface="Noto Sans CJK KR"/>
                <a:sym typeface="Noto Sans CJK KR"/>
              </a:defRPr>
            </a:lvl1pPr>
          </a:lstStyle>
          <a:p>
            <a:r>
              <a:t>current_place · destination · graph_data</a:t>
            </a:r>
          </a:p>
        </p:txBody>
      </p:sp>
      <p:sp>
        <p:nvSpPr>
          <p:cNvPr id="376" name="Module10Style 18"/>
          <p:cNvSpPr/>
          <p:nvPr/>
        </p:nvSpPr>
        <p:spPr>
          <a:xfrm>
            <a:off x="173733" y="3890517"/>
            <a:ext cx="6231255" cy="457203"/>
          </a:xfrm>
          <a:prstGeom prst="roundRect">
            <a:avLst>
              <a:gd name="adj" fmla="val 2400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77" name="Module10Style 19"/>
          <p:cNvSpPr txBox="1"/>
          <p:nvPr/>
        </p:nvSpPr>
        <p:spPr>
          <a:xfrm>
            <a:off x="-301753" y="4045077"/>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처리</a:t>
            </a:r>
          </a:p>
        </p:txBody>
      </p:sp>
      <p:sp>
        <p:nvSpPr>
          <p:cNvPr id="378" name="Module10Style 20"/>
          <p:cNvSpPr txBox="1"/>
          <p:nvPr/>
        </p:nvSpPr>
        <p:spPr>
          <a:xfrm>
            <a:off x="1059304" y="4043424"/>
            <a:ext cx="5190495" cy="190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200">
                <a:solidFill>
                  <a:srgbClr val="334155"/>
                </a:solidFill>
                <a:latin typeface="맑은 고딕"/>
                <a:ea typeface="맑은 고딕"/>
                <a:cs typeface="맑은 고딕"/>
                <a:sym typeface="맑은 고딕"/>
              </a:defRPr>
            </a:lvl1pPr>
          </a:lstStyle>
          <a:p>
            <a:r>
              <a:t>건물 그래프를 구성하고 다익스트라로 최단 이동시간 계산</a:t>
            </a:r>
          </a:p>
        </p:txBody>
      </p:sp>
      <p:sp>
        <p:nvSpPr>
          <p:cNvPr id="379" name="Module10Style 21"/>
          <p:cNvSpPr/>
          <p:nvPr/>
        </p:nvSpPr>
        <p:spPr>
          <a:xfrm>
            <a:off x="210693" y="4492371"/>
            <a:ext cx="6231255"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80" name="Module10Style 22"/>
          <p:cNvSpPr txBox="1"/>
          <p:nvPr/>
        </p:nvSpPr>
        <p:spPr>
          <a:xfrm>
            <a:off x="-301753" y="4648579"/>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출력</a:t>
            </a:r>
          </a:p>
        </p:txBody>
      </p:sp>
      <p:sp>
        <p:nvSpPr>
          <p:cNvPr id="381" name="Module10Style 24"/>
          <p:cNvSpPr txBox="1"/>
          <p:nvPr/>
        </p:nvSpPr>
        <p:spPr>
          <a:xfrm>
            <a:off x="173733" y="980503"/>
            <a:ext cx="1481331"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MODULE 02</a:t>
            </a:r>
          </a:p>
        </p:txBody>
      </p:sp>
      <p:sp>
        <p:nvSpPr>
          <p:cNvPr id="382" name="Module10Style 25"/>
          <p:cNvSpPr txBox="1"/>
          <p:nvPr/>
        </p:nvSpPr>
        <p:spPr>
          <a:xfrm>
            <a:off x="813717" y="5384296"/>
            <a:ext cx="5025205"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600" b="1">
                <a:solidFill>
                  <a:srgbClr val="364153"/>
                </a:solidFill>
                <a:latin typeface="Noto Sans CJK KR"/>
                <a:ea typeface="Noto Sans CJK KR"/>
                <a:cs typeface="Noto Sans CJK KR"/>
                <a:sym typeface="Noto Sans CJK KR"/>
              </a:defRPr>
            </a:lvl1pPr>
          </a:lstStyle>
          <a:p>
            <a:r>
              <a:t>사용 알고리즘 | 다익스트라 · 경로 복원 · Folium 시각화</a:t>
            </a:r>
          </a:p>
        </p:txBody>
      </p:sp>
      <p:pic>
        <p:nvPicPr>
          <p:cNvPr id="383" name="Code Capture 11" descr="Code Capture 11"/>
          <p:cNvPicPr>
            <a:picLocks noChangeAspect="1"/>
          </p:cNvPicPr>
          <p:nvPr/>
        </p:nvPicPr>
        <p:blipFill>
          <a:blip r:embed="rId2"/>
          <a:stretch>
            <a:fillRect/>
          </a:stretch>
        </p:blipFill>
        <p:spPr>
          <a:xfrm>
            <a:off x="6604506" y="1884644"/>
            <a:ext cx="5425152" cy="4068863"/>
          </a:xfrm>
          <a:prstGeom prst="rect">
            <a:avLst/>
          </a:prstGeom>
          <a:ln w="12700">
            <a:miter lim="400000"/>
          </a:ln>
        </p:spPr>
      </p:pic>
      <p:sp>
        <p:nvSpPr>
          <p:cNvPr id="384" name="TextBox 26"/>
          <p:cNvSpPr txBox="1"/>
          <p:nvPr/>
        </p:nvSpPr>
        <p:spPr>
          <a:xfrm>
            <a:off x="2065271" y="4592654"/>
            <a:ext cx="3223028" cy="307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p>
            <a:pPr>
              <a:defRPr sz="1300">
                <a:solidFill>
                  <a:srgbClr val="364153"/>
                </a:solidFill>
                <a:latin typeface="Noto Sans CJK KR"/>
                <a:ea typeface="Noto Sans CJK KR"/>
                <a:cs typeface="Noto Sans CJK KR"/>
                <a:sym typeface="Noto Sans CJK KR"/>
              </a:defRPr>
            </a:pPr>
            <a:r>
              <a:t>travel_</a:t>
            </a:r>
            <a:r>
              <a:rPr sz="1400"/>
              <a:t>minutes</a:t>
            </a:r>
            <a:r>
              <a:t> · shortest_path · reachable</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387"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388"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MODULE 03</a:t>
            </a:r>
          </a:p>
        </p:txBody>
      </p:sp>
      <p:sp>
        <p:nvSpPr>
          <p:cNvPr id="389"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12</a:t>
            </a:r>
          </a:p>
        </p:txBody>
      </p:sp>
      <p:sp>
        <p:nvSpPr>
          <p:cNvPr id="390"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391"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392"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393"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394"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395" name="Module10Style 11"/>
          <p:cNvSpPr/>
          <p:nvPr/>
        </p:nvSpPr>
        <p:spPr>
          <a:xfrm>
            <a:off x="173734" y="980503"/>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396" name="Module10Style 12"/>
          <p:cNvSpPr txBox="1"/>
          <p:nvPr/>
        </p:nvSpPr>
        <p:spPr>
          <a:xfrm>
            <a:off x="225552" y="1769364"/>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defRPr sz="2800" b="1">
                <a:solidFill>
                  <a:srgbClr val="102033"/>
                </a:solidFill>
                <a:latin typeface="맑은 고딕"/>
                <a:ea typeface="맑은 고딕"/>
                <a:cs typeface="맑은 고딕"/>
                <a:sym typeface="맑은 고딕"/>
              </a:defRPr>
            </a:pPr>
            <a:r>
              <a:t>혼잡도</a:t>
            </a:r>
            <a:r>
              <a:rPr>
                <a:latin typeface="Noto Sans CJK KR"/>
                <a:ea typeface="Noto Sans CJK KR"/>
                <a:cs typeface="Noto Sans CJK KR"/>
                <a:sym typeface="Noto Sans CJK KR"/>
              </a:rPr>
              <a:t>/</a:t>
            </a:r>
            <a:r>
              <a:t>대기시간 분석</a:t>
            </a:r>
          </a:p>
        </p:txBody>
      </p:sp>
      <p:sp>
        <p:nvSpPr>
          <p:cNvPr id="397" name="Module10Style 13"/>
          <p:cNvSpPr txBox="1"/>
          <p:nvPr/>
        </p:nvSpPr>
        <p:spPr>
          <a:xfrm>
            <a:off x="210693" y="2615127"/>
            <a:ext cx="6231255"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맑은 고딕"/>
                <a:ea typeface="맑은 고딕"/>
                <a:cs typeface="맑은 고딕"/>
                <a:sym typeface="맑은 고딕"/>
              </a:defRPr>
            </a:pPr>
            <a:r>
              <a:t>시간대별 혼잡도와 장소 유형으로 예상 대기시간을 계산합니다</a:t>
            </a:r>
            <a:r>
              <a:rPr>
                <a:latin typeface="Noto Sans CJK KR"/>
                <a:ea typeface="Noto Sans CJK KR"/>
                <a:cs typeface="Noto Sans CJK KR"/>
                <a:sym typeface="Noto Sans CJK KR"/>
              </a:rPr>
              <a:t>.</a:t>
            </a:r>
          </a:p>
        </p:txBody>
      </p:sp>
      <p:sp>
        <p:nvSpPr>
          <p:cNvPr id="398" name="Module10Style 15"/>
          <p:cNvSpPr/>
          <p:nvPr/>
        </p:nvSpPr>
        <p:spPr>
          <a:xfrm>
            <a:off x="210693" y="3285363"/>
            <a:ext cx="6231255"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399" name="Module10Style 16"/>
          <p:cNvSpPr txBox="1"/>
          <p:nvPr/>
        </p:nvSpPr>
        <p:spPr>
          <a:xfrm>
            <a:off x="-301753" y="3441572"/>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입력</a:t>
            </a:r>
          </a:p>
        </p:txBody>
      </p:sp>
      <p:sp>
        <p:nvSpPr>
          <p:cNvPr id="400" name="Module10Style 17"/>
          <p:cNvSpPr txBox="1"/>
          <p:nvPr/>
        </p:nvSpPr>
        <p:spPr>
          <a:xfrm>
            <a:off x="1251456" y="3358515"/>
            <a:ext cx="5190495" cy="3474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400">
                <a:solidFill>
                  <a:srgbClr val="334155"/>
                </a:solidFill>
                <a:latin typeface="Noto Sans CJK KR"/>
                <a:ea typeface="Noto Sans CJK KR"/>
                <a:cs typeface="Noto Sans CJK KR"/>
                <a:sym typeface="Noto Sans CJK KR"/>
              </a:defRPr>
            </a:lvl1pPr>
          </a:lstStyle>
          <a:p>
            <a:r>
              <a:t>current_time · place_name · crowd_data</a:t>
            </a:r>
          </a:p>
        </p:txBody>
      </p:sp>
      <p:sp>
        <p:nvSpPr>
          <p:cNvPr id="401" name="Module10Style 18"/>
          <p:cNvSpPr/>
          <p:nvPr/>
        </p:nvSpPr>
        <p:spPr>
          <a:xfrm>
            <a:off x="210693" y="3888866"/>
            <a:ext cx="6231255" cy="457203"/>
          </a:xfrm>
          <a:prstGeom prst="roundRect">
            <a:avLst>
              <a:gd name="adj" fmla="val 2400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02" name="Module10Style 19"/>
          <p:cNvSpPr txBox="1"/>
          <p:nvPr/>
        </p:nvSpPr>
        <p:spPr>
          <a:xfrm>
            <a:off x="-301753" y="4045077"/>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처리</a:t>
            </a:r>
          </a:p>
        </p:txBody>
      </p:sp>
      <p:sp>
        <p:nvSpPr>
          <p:cNvPr id="403" name="Module10Style 20"/>
          <p:cNvSpPr txBox="1"/>
          <p:nvPr/>
        </p:nvSpPr>
        <p:spPr>
          <a:xfrm>
            <a:off x="1251456" y="4050791"/>
            <a:ext cx="5190495" cy="190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200">
                <a:solidFill>
                  <a:srgbClr val="334155"/>
                </a:solidFill>
                <a:latin typeface="맑은 고딕"/>
                <a:ea typeface="맑은 고딕"/>
                <a:cs typeface="맑은 고딕"/>
                <a:sym typeface="맑은 고딕"/>
              </a:defRPr>
            </a:pPr>
            <a:r>
              <a:t>시간대 판별 후 장소별 혼잡도 조회 </a:t>
            </a:r>
            <a:r>
              <a:rPr>
                <a:latin typeface="Noto Sans CJK KR"/>
                <a:ea typeface="Noto Sans CJK KR"/>
                <a:cs typeface="Noto Sans CJK KR"/>
                <a:sym typeface="Noto Sans CJK KR"/>
              </a:rPr>
              <a:t>· </a:t>
            </a:r>
            <a:r>
              <a:t>대기시간 규칙 적용</a:t>
            </a:r>
          </a:p>
        </p:txBody>
      </p:sp>
      <p:sp>
        <p:nvSpPr>
          <p:cNvPr id="404" name="Module10Style 21"/>
          <p:cNvSpPr/>
          <p:nvPr/>
        </p:nvSpPr>
        <p:spPr>
          <a:xfrm>
            <a:off x="210693" y="4492371"/>
            <a:ext cx="6231255"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05" name="Module10Style 22"/>
          <p:cNvSpPr txBox="1"/>
          <p:nvPr/>
        </p:nvSpPr>
        <p:spPr>
          <a:xfrm>
            <a:off x="-301753" y="4648579"/>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출력</a:t>
            </a:r>
          </a:p>
        </p:txBody>
      </p:sp>
      <p:sp>
        <p:nvSpPr>
          <p:cNvPr id="406" name="Module10Style 23"/>
          <p:cNvSpPr txBox="1"/>
          <p:nvPr/>
        </p:nvSpPr>
        <p:spPr>
          <a:xfrm>
            <a:off x="1251456" y="4613021"/>
            <a:ext cx="5190495" cy="215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rgbClr val="334155"/>
                </a:solidFill>
                <a:latin typeface="Noto Sans CJK KR"/>
                <a:ea typeface="Noto Sans CJK KR"/>
                <a:cs typeface="Noto Sans CJK KR"/>
                <a:sym typeface="Noto Sans CJK KR"/>
              </a:defRPr>
            </a:lvl1pPr>
          </a:lstStyle>
          <a:p>
            <a:r>
              <a:t>crowd_level · expected_wait_minutes</a:t>
            </a:r>
          </a:p>
        </p:txBody>
      </p:sp>
      <p:sp>
        <p:nvSpPr>
          <p:cNvPr id="407" name="Module10Style 24"/>
          <p:cNvSpPr txBox="1"/>
          <p:nvPr/>
        </p:nvSpPr>
        <p:spPr>
          <a:xfrm>
            <a:off x="173733" y="980503"/>
            <a:ext cx="1481331"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MODULE 03</a:t>
            </a:r>
          </a:p>
        </p:txBody>
      </p:sp>
      <p:sp>
        <p:nvSpPr>
          <p:cNvPr id="408" name="Module10Style 25"/>
          <p:cNvSpPr txBox="1"/>
          <p:nvPr/>
        </p:nvSpPr>
        <p:spPr>
          <a:xfrm>
            <a:off x="903158" y="5384348"/>
            <a:ext cx="4846325"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sz="1600" b="1">
                <a:solidFill>
                  <a:srgbClr val="102033"/>
                </a:solidFill>
                <a:latin typeface="맑은 고딕"/>
                <a:ea typeface="맑은 고딕"/>
                <a:cs typeface="맑은 고딕"/>
                <a:sym typeface="맑은 고딕"/>
              </a:defRPr>
            </a:pPr>
            <a:r>
              <a:t>사용 알고리즘 </a:t>
            </a:r>
            <a:r>
              <a:rPr>
                <a:latin typeface="Noto Sans CJK KR"/>
                <a:ea typeface="Noto Sans CJK KR"/>
                <a:cs typeface="Noto Sans CJK KR"/>
                <a:sym typeface="Noto Sans CJK KR"/>
              </a:rPr>
              <a:t>| </a:t>
            </a:r>
            <a:r>
              <a:t>이진 탐색</a:t>
            </a:r>
            <a:r>
              <a:rPr>
                <a:latin typeface="Noto Sans CJK KR"/>
                <a:ea typeface="Noto Sans CJK KR"/>
                <a:cs typeface="Noto Sans CJK KR"/>
                <a:sym typeface="Noto Sans CJK KR"/>
              </a:rPr>
              <a:t>, </a:t>
            </a:r>
            <a:r>
              <a:t>딕셔너리</a:t>
            </a:r>
            <a:r>
              <a:rPr>
                <a:latin typeface="Noto Sans CJK KR"/>
                <a:ea typeface="Noto Sans CJK KR"/>
                <a:cs typeface="Noto Sans CJK KR"/>
                <a:sym typeface="Noto Sans CJK KR"/>
              </a:rPr>
              <a:t>, </a:t>
            </a:r>
            <a:r>
              <a:t>규칙 계산</a:t>
            </a:r>
          </a:p>
        </p:txBody>
      </p:sp>
      <p:pic>
        <p:nvPicPr>
          <p:cNvPr id="409" name="Code Capture 12" descr="Code Capture 12"/>
          <p:cNvPicPr>
            <a:picLocks noChangeAspect="1"/>
          </p:cNvPicPr>
          <p:nvPr/>
        </p:nvPicPr>
        <p:blipFill>
          <a:blip r:embed="rId2"/>
          <a:stretch>
            <a:fillRect/>
          </a:stretch>
        </p:blipFill>
        <p:spPr>
          <a:xfrm>
            <a:off x="6604506" y="1884644"/>
            <a:ext cx="5425152" cy="4068863"/>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412"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413"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MODULE 04</a:t>
            </a:r>
          </a:p>
        </p:txBody>
      </p:sp>
      <p:sp>
        <p:nvSpPr>
          <p:cNvPr id="414"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13</a:t>
            </a:r>
          </a:p>
        </p:txBody>
      </p:sp>
      <p:sp>
        <p:nvSpPr>
          <p:cNvPr id="415"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416"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417"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418"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419"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420" name="Module10Style 11"/>
          <p:cNvSpPr/>
          <p:nvPr/>
        </p:nvSpPr>
        <p:spPr>
          <a:xfrm>
            <a:off x="173734" y="980503"/>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421" name="Module10Style 12"/>
          <p:cNvSpPr txBox="1"/>
          <p:nvPr/>
        </p:nvSpPr>
        <p:spPr>
          <a:xfrm>
            <a:off x="225552" y="1769364"/>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41247">
              <a:defRPr sz="2800" b="1">
                <a:solidFill>
                  <a:srgbClr val="102033"/>
                </a:solidFill>
                <a:latin typeface="맑은 고딕"/>
                <a:ea typeface="맑은 고딕"/>
                <a:cs typeface="맑은 고딕"/>
                <a:sym typeface="맑은 고딕"/>
              </a:defRPr>
            </a:lvl1pPr>
          </a:lstStyle>
          <a:p>
            <a:r>
              <a:t>장소 추천 순위 계산</a:t>
            </a:r>
          </a:p>
        </p:txBody>
      </p:sp>
      <p:sp>
        <p:nvSpPr>
          <p:cNvPr id="422" name="Module10Style 13"/>
          <p:cNvSpPr txBox="1"/>
          <p:nvPr/>
        </p:nvSpPr>
        <p:spPr>
          <a:xfrm>
            <a:off x="210693" y="2615127"/>
            <a:ext cx="6231255"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맑은 고딕"/>
                <a:ea typeface="맑은 고딕"/>
                <a:cs typeface="맑은 고딕"/>
                <a:sym typeface="맑은 고딕"/>
              </a:defRPr>
            </a:pPr>
            <a:r>
              <a:t>이용 가능한 후보를 필터링하고 가중합 점수로 </a:t>
            </a:r>
            <a:r>
              <a:rPr>
                <a:latin typeface="Noto Sans CJK KR"/>
                <a:ea typeface="Noto Sans CJK KR"/>
                <a:cs typeface="Noto Sans CJK KR"/>
                <a:sym typeface="Noto Sans CJK KR"/>
              </a:rPr>
              <a:t>TOP 3</a:t>
            </a:r>
            <a:r>
              <a:t>를 정렬합니다</a:t>
            </a:r>
            <a:r>
              <a:rPr>
                <a:latin typeface="Noto Sans CJK KR"/>
                <a:ea typeface="Noto Sans CJK KR"/>
                <a:cs typeface="Noto Sans CJK KR"/>
                <a:sym typeface="Noto Sans CJK KR"/>
              </a:rPr>
              <a:t>.</a:t>
            </a:r>
          </a:p>
        </p:txBody>
      </p:sp>
      <p:sp>
        <p:nvSpPr>
          <p:cNvPr id="423" name="Module10Style 15"/>
          <p:cNvSpPr/>
          <p:nvPr/>
        </p:nvSpPr>
        <p:spPr>
          <a:xfrm>
            <a:off x="210693" y="3285363"/>
            <a:ext cx="6231255"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24" name="Module10Style 16"/>
          <p:cNvSpPr txBox="1"/>
          <p:nvPr/>
        </p:nvSpPr>
        <p:spPr>
          <a:xfrm>
            <a:off x="-301753" y="3441572"/>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입력</a:t>
            </a:r>
          </a:p>
        </p:txBody>
      </p:sp>
      <p:sp>
        <p:nvSpPr>
          <p:cNvPr id="425" name="Module10Style 17"/>
          <p:cNvSpPr txBox="1"/>
          <p:nvPr/>
        </p:nvSpPr>
        <p:spPr>
          <a:xfrm>
            <a:off x="1179029" y="3373565"/>
            <a:ext cx="5190495" cy="3474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400">
                <a:solidFill>
                  <a:srgbClr val="334155"/>
                </a:solidFill>
                <a:latin typeface="Noto Sans CJK KR"/>
                <a:ea typeface="Noto Sans CJK KR"/>
                <a:cs typeface="Noto Sans CJK KR"/>
                <a:sym typeface="Noto Sans CJK KR"/>
              </a:defRPr>
            </a:lvl1pPr>
          </a:lstStyle>
          <a:p>
            <a:r>
              <a:t>free_minutes · path_result · crowd_result · place_data</a:t>
            </a:r>
          </a:p>
        </p:txBody>
      </p:sp>
      <p:sp>
        <p:nvSpPr>
          <p:cNvPr id="426" name="Module10Style 18"/>
          <p:cNvSpPr/>
          <p:nvPr/>
        </p:nvSpPr>
        <p:spPr>
          <a:xfrm>
            <a:off x="210693" y="3888866"/>
            <a:ext cx="6231255" cy="457203"/>
          </a:xfrm>
          <a:prstGeom prst="roundRect">
            <a:avLst>
              <a:gd name="adj" fmla="val 2400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27" name="Module10Style 19"/>
          <p:cNvSpPr txBox="1"/>
          <p:nvPr/>
        </p:nvSpPr>
        <p:spPr>
          <a:xfrm>
            <a:off x="-301753" y="4045077"/>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처리</a:t>
            </a:r>
          </a:p>
        </p:txBody>
      </p:sp>
      <p:sp>
        <p:nvSpPr>
          <p:cNvPr id="428" name="Module10Style 20"/>
          <p:cNvSpPr txBox="1"/>
          <p:nvPr/>
        </p:nvSpPr>
        <p:spPr>
          <a:xfrm>
            <a:off x="1607690" y="3933315"/>
            <a:ext cx="4478025" cy="381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200">
                <a:solidFill>
                  <a:srgbClr val="364153"/>
                </a:solidFill>
                <a:latin typeface="Noto Sans CJK KR"/>
                <a:ea typeface="Noto Sans CJK KR"/>
                <a:cs typeface="Noto Sans CJK KR"/>
                <a:sym typeface="Noto Sans CJK KR"/>
              </a:defRPr>
            </a:pPr>
            <a:r>
              <a:t>필터링: 이동시간 + 대기시간 + 최소 이용시간 ≤ 추천 가능 시간</a:t>
            </a:r>
            <a:endParaRPr>
              <a:solidFill>
                <a:srgbClr val="334155"/>
              </a:solidFill>
              <a:latin typeface="맑은 고딕"/>
              <a:ea typeface="맑은 고딕"/>
              <a:cs typeface="맑은 고딕"/>
              <a:sym typeface="맑은 고딕"/>
            </a:endParaRPr>
          </a:p>
          <a:p>
            <a:pPr algn="ctr">
              <a:defRPr sz="1200">
                <a:solidFill>
                  <a:srgbClr val="364153"/>
                </a:solidFill>
                <a:latin typeface="Noto Sans CJK KR"/>
                <a:ea typeface="Noto Sans CJK KR"/>
                <a:cs typeface="Noto Sans CJK KR"/>
                <a:sym typeface="Noto Sans CJK KR"/>
              </a:defRPr>
            </a:pPr>
            <a:r>
              <a:t>이후 가중합 점수 계산 · 점수순 정렬</a:t>
            </a:r>
          </a:p>
        </p:txBody>
      </p:sp>
      <p:sp>
        <p:nvSpPr>
          <p:cNvPr id="429" name="Module10Style 21"/>
          <p:cNvSpPr/>
          <p:nvPr/>
        </p:nvSpPr>
        <p:spPr>
          <a:xfrm>
            <a:off x="210693" y="4492371"/>
            <a:ext cx="6231255" cy="457203"/>
          </a:xfrm>
          <a:prstGeom prst="roundRect">
            <a:avLst>
              <a:gd name="adj" fmla="val 2400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30" name="Module10Style 22"/>
          <p:cNvSpPr txBox="1"/>
          <p:nvPr/>
        </p:nvSpPr>
        <p:spPr>
          <a:xfrm>
            <a:off x="-301753" y="4648579"/>
            <a:ext cx="2103123" cy="1936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100" b="1">
                <a:solidFill>
                  <a:srgbClr val="2563EB"/>
                </a:solidFill>
                <a:latin typeface="맑은 고딕"/>
                <a:ea typeface="맑은 고딕"/>
                <a:cs typeface="맑은 고딕"/>
                <a:sym typeface="맑은 고딕"/>
              </a:defRPr>
            </a:lvl1pPr>
          </a:lstStyle>
          <a:p>
            <a:r>
              <a:t>출력</a:t>
            </a:r>
          </a:p>
        </p:txBody>
      </p:sp>
      <p:sp>
        <p:nvSpPr>
          <p:cNvPr id="431" name="Module10Style 23"/>
          <p:cNvSpPr txBox="1"/>
          <p:nvPr/>
        </p:nvSpPr>
        <p:spPr>
          <a:xfrm>
            <a:off x="1059304" y="4610607"/>
            <a:ext cx="5190495" cy="2207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400">
                <a:solidFill>
                  <a:srgbClr val="364153"/>
                </a:solidFill>
                <a:latin typeface="Noto Sans CJK KR"/>
                <a:ea typeface="Noto Sans CJK KR"/>
                <a:cs typeface="Noto Sans CJK KR"/>
                <a:sym typeface="Noto Sans CJK KR"/>
              </a:defRPr>
            </a:pPr>
            <a:r>
              <a:t>TOP 3 place · score · reason · </a:t>
            </a:r>
            <a:r>
              <a:rPr sz="1200"/>
              <a:t>이동/대기/혼잡도</a:t>
            </a:r>
          </a:p>
        </p:txBody>
      </p:sp>
      <p:sp>
        <p:nvSpPr>
          <p:cNvPr id="432" name="Module10Style 24"/>
          <p:cNvSpPr txBox="1"/>
          <p:nvPr/>
        </p:nvSpPr>
        <p:spPr>
          <a:xfrm>
            <a:off x="173733" y="980503"/>
            <a:ext cx="1481331"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MODULE 04</a:t>
            </a:r>
          </a:p>
        </p:txBody>
      </p:sp>
      <p:sp>
        <p:nvSpPr>
          <p:cNvPr id="433" name="Module10Style 25"/>
          <p:cNvSpPr txBox="1"/>
          <p:nvPr/>
        </p:nvSpPr>
        <p:spPr>
          <a:xfrm>
            <a:off x="903158" y="5384348"/>
            <a:ext cx="4846325"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600" b="1">
                <a:solidFill>
                  <a:srgbClr val="102033"/>
                </a:solidFill>
                <a:latin typeface="맑은 고딕"/>
                <a:ea typeface="맑은 고딕"/>
                <a:cs typeface="맑은 고딕"/>
                <a:sym typeface="맑은 고딕"/>
              </a:defRPr>
            </a:pPr>
            <a:r>
              <a:t>사용 알고리즘 </a:t>
            </a:r>
            <a:r>
              <a:rPr>
                <a:latin typeface="Noto Sans CJK KR"/>
                <a:ea typeface="Noto Sans CJK KR"/>
                <a:cs typeface="Noto Sans CJK KR"/>
                <a:sym typeface="Noto Sans CJK KR"/>
              </a:rPr>
              <a:t>| </a:t>
            </a:r>
            <a:r>
              <a:t>필터링</a:t>
            </a:r>
            <a:r>
              <a:rPr>
                <a:latin typeface="Noto Sans CJK KR"/>
                <a:ea typeface="Noto Sans CJK KR"/>
                <a:cs typeface="Noto Sans CJK KR"/>
                <a:sym typeface="Noto Sans CJK KR"/>
              </a:rPr>
              <a:t>, </a:t>
            </a:r>
            <a:r>
              <a:t>가중합 모델</a:t>
            </a:r>
            <a:r>
              <a:rPr>
                <a:latin typeface="Noto Sans CJK KR"/>
                <a:ea typeface="Noto Sans CJK KR"/>
                <a:cs typeface="Noto Sans CJK KR"/>
                <a:sym typeface="Noto Sans CJK KR"/>
              </a:rPr>
              <a:t>, </a:t>
            </a:r>
            <a:r>
              <a:t>정렬</a:t>
            </a:r>
          </a:p>
        </p:txBody>
      </p:sp>
      <p:pic>
        <p:nvPicPr>
          <p:cNvPr id="434" name="Code Capture 13" descr="Code Capture 13"/>
          <p:cNvPicPr>
            <a:picLocks noChangeAspect="1"/>
          </p:cNvPicPr>
          <p:nvPr/>
        </p:nvPicPr>
        <p:blipFill>
          <a:blip r:embed="rId2"/>
          <a:stretch>
            <a:fillRect/>
          </a:stretch>
        </p:blipFill>
        <p:spPr>
          <a:xfrm>
            <a:off x="6604506" y="1884644"/>
            <a:ext cx="5425152" cy="4068863"/>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437"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438"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DATA STRUCTURE</a:t>
            </a:r>
          </a:p>
        </p:txBody>
      </p:sp>
      <p:sp>
        <p:nvSpPr>
          <p:cNvPr id="439"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14</a:t>
            </a:r>
          </a:p>
        </p:txBody>
      </p:sp>
      <p:sp>
        <p:nvSpPr>
          <p:cNvPr id="440"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441"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442"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443"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444"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445" name="Shape 9"/>
          <p:cNvSpPr/>
          <p:nvPr/>
        </p:nvSpPr>
        <p:spPr>
          <a:xfrm>
            <a:off x="758951" y="813816"/>
            <a:ext cx="225856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446" name="Text 10"/>
          <p:cNvSpPr txBox="1"/>
          <p:nvPr/>
        </p:nvSpPr>
        <p:spPr>
          <a:xfrm>
            <a:off x="859536" y="868860"/>
            <a:ext cx="2057401"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DATA STRUCTURE</a:t>
            </a:r>
          </a:p>
        </p:txBody>
      </p:sp>
      <p:sp>
        <p:nvSpPr>
          <p:cNvPr id="447" name="Text 11"/>
          <p:cNvSpPr txBox="1"/>
          <p:nvPr/>
        </p:nvSpPr>
        <p:spPr>
          <a:xfrm>
            <a:off x="758951" y="1371600"/>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41247">
              <a:defRPr sz="2800" b="1">
                <a:solidFill>
                  <a:srgbClr val="102033"/>
                </a:solidFill>
                <a:latin typeface="Malgun Gothic"/>
                <a:ea typeface="Malgun Gothic"/>
                <a:cs typeface="Malgun Gothic"/>
                <a:sym typeface="Malgun Gothic"/>
              </a:defRPr>
            </a:lvl1pPr>
          </a:lstStyle>
          <a:p>
            <a:r>
              <a:t>사용한 자료구조</a:t>
            </a:r>
          </a:p>
        </p:txBody>
      </p:sp>
      <p:sp>
        <p:nvSpPr>
          <p:cNvPr id="448" name="Text 12"/>
          <p:cNvSpPr txBox="1"/>
          <p:nvPr/>
        </p:nvSpPr>
        <p:spPr>
          <a:xfrm>
            <a:off x="758951" y="1901949"/>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Malgun Gothic"/>
                <a:ea typeface="Malgun Gothic"/>
                <a:cs typeface="Malgun Gothic"/>
                <a:sym typeface="Malgun Gothic"/>
              </a:defRPr>
            </a:pPr>
            <a:r>
              <a:t>팀 전체 코드에서 사용한 자료구조를 통합 기준으로 정리했습니다</a:t>
            </a:r>
            <a:r>
              <a:rPr>
                <a:latin typeface="Noto Sans CJK KR"/>
                <a:ea typeface="Noto Sans CJK KR"/>
                <a:cs typeface="Noto Sans CJK KR"/>
                <a:sym typeface="Noto Sans CJK KR"/>
              </a:rPr>
              <a:t>.</a:t>
            </a:r>
          </a:p>
        </p:txBody>
      </p:sp>
      <p:sp>
        <p:nvSpPr>
          <p:cNvPr id="449" name="Shape 13"/>
          <p:cNvSpPr/>
          <p:nvPr/>
        </p:nvSpPr>
        <p:spPr>
          <a:xfrm>
            <a:off x="914400" y="2250000"/>
            <a:ext cx="9875520" cy="360003"/>
          </a:xfrm>
          <a:prstGeom prst="roundRect">
            <a:avLst>
              <a:gd name="adj" fmla="val 18462"/>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50" name="Text 14"/>
          <p:cNvSpPr txBox="1"/>
          <p:nvPr/>
        </p:nvSpPr>
        <p:spPr>
          <a:xfrm>
            <a:off x="1149998" y="2330000"/>
            <a:ext cx="2150002"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50391">
              <a:defRPr sz="1400" b="1">
                <a:solidFill>
                  <a:srgbClr val="102033"/>
                </a:solidFill>
                <a:latin typeface="Noto Sans CJK KR"/>
                <a:ea typeface="Noto Sans CJK KR"/>
                <a:cs typeface="Noto Sans CJK KR"/>
                <a:sym typeface="Noto Sans CJK KR"/>
              </a:defRPr>
            </a:lvl1pPr>
          </a:lstStyle>
          <a:p>
            <a:r>
              <a:t>List</a:t>
            </a:r>
          </a:p>
        </p:txBody>
      </p:sp>
      <p:sp>
        <p:nvSpPr>
          <p:cNvPr id="451" name="Text 15"/>
          <p:cNvSpPr txBox="1"/>
          <p:nvPr/>
        </p:nvSpPr>
        <p:spPr>
          <a:xfrm>
            <a:off x="3520440" y="2330000"/>
            <a:ext cx="7000001"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Malgun Gothic"/>
                <a:ea typeface="Malgun Gothic"/>
                <a:cs typeface="Malgun Gothic"/>
                <a:sym typeface="Malgun Gothic"/>
              </a:defRPr>
            </a:pPr>
            <a:r>
              <a:t>수업</a:t>
            </a:r>
            <a:r>
              <a:rPr>
                <a:latin typeface="Noto Sans CJK KR"/>
                <a:ea typeface="Noto Sans CJK KR"/>
                <a:cs typeface="Noto Sans CJK KR"/>
                <a:sym typeface="Noto Sans CJK KR"/>
              </a:rPr>
              <a:t>·</a:t>
            </a:r>
            <a:r>
              <a:t>후보</a:t>
            </a:r>
            <a:r>
              <a:rPr>
                <a:latin typeface="Noto Sans CJK KR"/>
                <a:ea typeface="Noto Sans CJK KR"/>
                <a:cs typeface="Noto Sans CJK KR"/>
                <a:sym typeface="Noto Sans CJK KR"/>
              </a:rPr>
              <a:t>·</a:t>
            </a:r>
            <a:r>
              <a:t>추천 결과를 순서대로 저장하고 정렬</a:t>
            </a:r>
          </a:p>
        </p:txBody>
      </p:sp>
      <p:sp>
        <p:nvSpPr>
          <p:cNvPr id="452" name="Shape 16"/>
          <p:cNvSpPr/>
          <p:nvPr/>
        </p:nvSpPr>
        <p:spPr>
          <a:xfrm>
            <a:off x="914400" y="2705000"/>
            <a:ext cx="9875520" cy="360001"/>
          </a:xfrm>
          <a:prstGeom prst="roundRect">
            <a:avLst>
              <a:gd name="adj" fmla="val 18462"/>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53" name="Text 17"/>
          <p:cNvSpPr txBox="1"/>
          <p:nvPr/>
        </p:nvSpPr>
        <p:spPr>
          <a:xfrm>
            <a:off x="1149998" y="2784998"/>
            <a:ext cx="2150002"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50391">
              <a:defRPr sz="1400" b="1">
                <a:solidFill>
                  <a:srgbClr val="102033"/>
                </a:solidFill>
                <a:latin typeface="Noto Sans CJK KR"/>
                <a:ea typeface="Noto Sans CJK KR"/>
                <a:cs typeface="Noto Sans CJK KR"/>
                <a:sym typeface="Noto Sans CJK KR"/>
              </a:defRPr>
            </a:lvl1pPr>
          </a:lstStyle>
          <a:p>
            <a:r>
              <a:t>List[Dict]</a:t>
            </a:r>
          </a:p>
        </p:txBody>
      </p:sp>
      <p:sp>
        <p:nvSpPr>
          <p:cNvPr id="454" name="Text 18"/>
          <p:cNvSpPr txBox="1"/>
          <p:nvPr/>
        </p:nvSpPr>
        <p:spPr>
          <a:xfrm>
            <a:off x="3520440" y="2784998"/>
            <a:ext cx="7000001"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Malgun Gothic"/>
                <a:ea typeface="Malgun Gothic"/>
                <a:cs typeface="Malgun Gothic"/>
                <a:sym typeface="Malgun Gothic"/>
              </a:defRPr>
            </a:pPr>
            <a:r>
              <a:t>여러 수업</a:t>
            </a:r>
            <a:r>
              <a:rPr>
                <a:latin typeface="Noto Sans CJK KR"/>
                <a:ea typeface="Noto Sans CJK KR"/>
                <a:cs typeface="Noto Sans CJK KR"/>
                <a:sym typeface="Noto Sans CJK KR"/>
              </a:rPr>
              <a:t>·</a:t>
            </a:r>
            <a:r>
              <a:t>장소 객체를 딕셔너리 묶음으로 관리</a:t>
            </a:r>
          </a:p>
        </p:txBody>
      </p:sp>
      <p:sp>
        <p:nvSpPr>
          <p:cNvPr id="455" name="Shape 19"/>
          <p:cNvSpPr/>
          <p:nvPr/>
        </p:nvSpPr>
        <p:spPr>
          <a:xfrm>
            <a:off x="914400" y="3159998"/>
            <a:ext cx="9875520" cy="360003"/>
          </a:xfrm>
          <a:prstGeom prst="roundRect">
            <a:avLst>
              <a:gd name="adj" fmla="val 18462"/>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56" name="Text 20"/>
          <p:cNvSpPr txBox="1"/>
          <p:nvPr/>
        </p:nvSpPr>
        <p:spPr>
          <a:xfrm>
            <a:off x="1149998" y="3239997"/>
            <a:ext cx="2150002"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50391">
              <a:defRPr sz="1400" b="1">
                <a:solidFill>
                  <a:srgbClr val="102033"/>
                </a:solidFill>
                <a:latin typeface="Noto Sans CJK KR"/>
                <a:ea typeface="Noto Sans CJK KR"/>
                <a:cs typeface="Noto Sans CJK KR"/>
                <a:sym typeface="Noto Sans CJK KR"/>
              </a:defRPr>
            </a:lvl1pPr>
          </a:lstStyle>
          <a:p>
            <a:r>
              <a:t>Dictionary</a:t>
            </a:r>
          </a:p>
        </p:txBody>
      </p:sp>
      <p:sp>
        <p:nvSpPr>
          <p:cNvPr id="457" name="Text 21"/>
          <p:cNvSpPr txBox="1"/>
          <p:nvPr/>
        </p:nvSpPr>
        <p:spPr>
          <a:xfrm>
            <a:off x="3520440" y="3239997"/>
            <a:ext cx="7000001"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Malgun Gothic"/>
                <a:ea typeface="Malgun Gothic"/>
                <a:cs typeface="Malgun Gothic"/>
                <a:sym typeface="Malgun Gothic"/>
              </a:defRPr>
            </a:pPr>
            <a:r>
              <a:t>장소명</a:t>
            </a:r>
            <a:r>
              <a:rPr>
                <a:latin typeface="Noto Sans CJK KR"/>
                <a:ea typeface="Noto Sans CJK KR"/>
                <a:cs typeface="Noto Sans CJK KR"/>
                <a:sym typeface="Noto Sans CJK KR"/>
              </a:rPr>
              <a:t>·</a:t>
            </a:r>
            <a:r>
              <a:t>시간대</a:t>
            </a:r>
            <a:r>
              <a:rPr>
                <a:latin typeface="Noto Sans CJK KR"/>
                <a:ea typeface="Noto Sans CJK KR"/>
                <a:cs typeface="Noto Sans CJK KR"/>
                <a:sym typeface="Noto Sans CJK KR"/>
              </a:rPr>
              <a:t>·</a:t>
            </a:r>
            <a:r>
              <a:t>결과값을 </a:t>
            </a:r>
            <a:r>
              <a:rPr>
                <a:latin typeface="Noto Sans CJK KR"/>
                <a:ea typeface="Noto Sans CJK KR"/>
                <a:cs typeface="Noto Sans CJK KR"/>
                <a:sym typeface="Noto Sans CJK KR"/>
              </a:rPr>
              <a:t>key</a:t>
            </a:r>
            <a:r>
              <a:t>로 빠르게 조회</a:t>
            </a:r>
          </a:p>
        </p:txBody>
      </p:sp>
      <p:sp>
        <p:nvSpPr>
          <p:cNvPr id="458" name="Shape 22"/>
          <p:cNvSpPr/>
          <p:nvPr/>
        </p:nvSpPr>
        <p:spPr>
          <a:xfrm>
            <a:off x="914400" y="3614999"/>
            <a:ext cx="9875520" cy="360003"/>
          </a:xfrm>
          <a:prstGeom prst="roundRect">
            <a:avLst>
              <a:gd name="adj" fmla="val 18462"/>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59" name="Text 23"/>
          <p:cNvSpPr txBox="1"/>
          <p:nvPr/>
        </p:nvSpPr>
        <p:spPr>
          <a:xfrm>
            <a:off x="1149998" y="3695000"/>
            <a:ext cx="2150002"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50391">
              <a:defRPr sz="1400" b="1">
                <a:solidFill>
                  <a:srgbClr val="102033"/>
                </a:solidFill>
                <a:latin typeface="Noto Sans CJK KR"/>
                <a:ea typeface="Noto Sans CJK KR"/>
                <a:cs typeface="Noto Sans CJK KR"/>
                <a:sym typeface="Noto Sans CJK KR"/>
              </a:defRPr>
            </a:lvl1pPr>
          </a:lstStyle>
          <a:p>
            <a:r>
              <a:t>Nested Dict</a:t>
            </a:r>
          </a:p>
        </p:txBody>
      </p:sp>
      <p:sp>
        <p:nvSpPr>
          <p:cNvPr id="460" name="Text 24"/>
          <p:cNvSpPr txBox="1"/>
          <p:nvPr/>
        </p:nvSpPr>
        <p:spPr>
          <a:xfrm>
            <a:off x="3520440" y="3695000"/>
            <a:ext cx="7000001"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lvl1pPr algn="ctr">
              <a:defRPr sz="1200">
                <a:solidFill>
                  <a:srgbClr val="334155"/>
                </a:solidFill>
                <a:latin typeface="Malgun Gothic"/>
                <a:ea typeface="Malgun Gothic"/>
                <a:cs typeface="Malgun Gothic"/>
                <a:sym typeface="Malgun Gothic"/>
              </a:defRPr>
            </a:lvl1pPr>
          </a:lstStyle>
          <a:p>
            <a:r>
              <a:t>장소별 시간대 혼잡도와 대기 규칙을 계층 저장</a:t>
            </a:r>
          </a:p>
        </p:txBody>
      </p:sp>
      <p:sp>
        <p:nvSpPr>
          <p:cNvPr id="461" name="ds-row-27"/>
          <p:cNvSpPr/>
          <p:nvPr/>
        </p:nvSpPr>
        <p:spPr>
          <a:xfrm>
            <a:off x="914400" y="4070000"/>
            <a:ext cx="9875520" cy="360003"/>
          </a:xfrm>
          <a:prstGeom prst="roundRect">
            <a:avLst>
              <a:gd name="adj" fmla="val 18462"/>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62" name="ds-row-28"/>
          <p:cNvSpPr txBox="1"/>
          <p:nvPr/>
        </p:nvSpPr>
        <p:spPr>
          <a:xfrm>
            <a:off x="1149998" y="4150000"/>
            <a:ext cx="2150002"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50391">
              <a:defRPr sz="1400" b="1">
                <a:solidFill>
                  <a:srgbClr val="102033"/>
                </a:solidFill>
                <a:latin typeface="Noto Sans CJK KR"/>
                <a:ea typeface="Noto Sans CJK KR"/>
                <a:cs typeface="Noto Sans CJK KR"/>
                <a:sym typeface="Noto Sans CJK KR"/>
              </a:defRPr>
            </a:lvl1pPr>
          </a:lstStyle>
          <a:p>
            <a:r>
              <a:t>Graph</a:t>
            </a:r>
          </a:p>
        </p:txBody>
      </p:sp>
      <p:sp>
        <p:nvSpPr>
          <p:cNvPr id="463" name="ds-row-29"/>
          <p:cNvSpPr txBox="1"/>
          <p:nvPr/>
        </p:nvSpPr>
        <p:spPr>
          <a:xfrm>
            <a:off x="3520440" y="4150000"/>
            <a:ext cx="7000001"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Malgun Gothic"/>
                <a:ea typeface="Malgun Gothic"/>
                <a:cs typeface="Malgun Gothic"/>
                <a:sym typeface="Malgun Gothic"/>
              </a:defRPr>
            </a:pPr>
            <a:r>
              <a:t>건물을 노드</a:t>
            </a:r>
            <a:r>
              <a:rPr>
                <a:latin typeface="Noto Sans CJK KR"/>
                <a:ea typeface="Noto Sans CJK KR"/>
                <a:cs typeface="Noto Sans CJK KR"/>
                <a:sym typeface="Noto Sans CJK KR"/>
              </a:rPr>
              <a:t>, </a:t>
            </a:r>
            <a:r>
              <a:t>이동시간을 간선으로 표현</a:t>
            </a:r>
          </a:p>
        </p:txBody>
      </p:sp>
      <p:sp>
        <p:nvSpPr>
          <p:cNvPr id="464" name="ds-row-30"/>
          <p:cNvSpPr/>
          <p:nvPr/>
        </p:nvSpPr>
        <p:spPr>
          <a:xfrm>
            <a:off x="914400" y="4525000"/>
            <a:ext cx="9875520" cy="360003"/>
          </a:xfrm>
          <a:prstGeom prst="roundRect">
            <a:avLst>
              <a:gd name="adj" fmla="val 18462"/>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65" name="ds-row-31"/>
          <p:cNvSpPr txBox="1"/>
          <p:nvPr/>
        </p:nvSpPr>
        <p:spPr>
          <a:xfrm>
            <a:off x="1149998" y="4604999"/>
            <a:ext cx="2150002"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50391">
              <a:defRPr sz="1400" b="1">
                <a:solidFill>
                  <a:srgbClr val="102033"/>
                </a:solidFill>
                <a:latin typeface="Noto Sans CJK KR"/>
                <a:ea typeface="Noto Sans CJK KR"/>
                <a:cs typeface="Noto Sans CJK KR"/>
                <a:sym typeface="Noto Sans CJK KR"/>
              </a:defRPr>
            </a:lvl1pPr>
          </a:lstStyle>
          <a:p>
            <a:r>
              <a:t>Priority Queue</a:t>
            </a:r>
          </a:p>
        </p:txBody>
      </p:sp>
      <p:sp>
        <p:nvSpPr>
          <p:cNvPr id="466" name="ds-row-32"/>
          <p:cNvSpPr txBox="1"/>
          <p:nvPr/>
        </p:nvSpPr>
        <p:spPr>
          <a:xfrm>
            <a:off x="3520440" y="4604999"/>
            <a:ext cx="7000001"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lvl1pPr algn="ctr">
              <a:defRPr sz="1200">
                <a:solidFill>
                  <a:srgbClr val="334155"/>
                </a:solidFill>
                <a:latin typeface="Malgun Gothic"/>
                <a:ea typeface="Malgun Gothic"/>
                <a:cs typeface="Malgun Gothic"/>
                <a:sym typeface="Malgun Gothic"/>
              </a:defRPr>
            </a:lvl1pPr>
          </a:lstStyle>
          <a:p>
            <a:r>
              <a:t>다익스트라에서 최단 후보 노드를 우선 처리</a:t>
            </a:r>
          </a:p>
        </p:txBody>
      </p:sp>
      <p:sp>
        <p:nvSpPr>
          <p:cNvPr id="467" name="ds-row-33"/>
          <p:cNvSpPr/>
          <p:nvPr/>
        </p:nvSpPr>
        <p:spPr>
          <a:xfrm>
            <a:off x="914400" y="4979999"/>
            <a:ext cx="9875520" cy="360003"/>
          </a:xfrm>
          <a:prstGeom prst="roundRect">
            <a:avLst>
              <a:gd name="adj" fmla="val 18462"/>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68" name="ds-row-34"/>
          <p:cNvSpPr txBox="1"/>
          <p:nvPr/>
        </p:nvSpPr>
        <p:spPr>
          <a:xfrm>
            <a:off x="1149998" y="5060000"/>
            <a:ext cx="2150002"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50391">
              <a:defRPr sz="1400" b="1">
                <a:solidFill>
                  <a:srgbClr val="102033"/>
                </a:solidFill>
                <a:latin typeface="Noto Sans CJK KR"/>
                <a:ea typeface="Noto Sans CJK KR"/>
                <a:cs typeface="Noto Sans CJK KR"/>
                <a:sym typeface="Noto Sans CJK KR"/>
              </a:defRPr>
            </a:lvl1pPr>
          </a:lstStyle>
          <a:p>
            <a:r>
              <a:t>Set</a:t>
            </a:r>
          </a:p>
        </p:txBody>
      </p:sp>
      <p:sp>
        <p:nvSpPr>
          <p:cNvPr id="469" name="ds-row-35"/>
          <p:cNvSpPr txBox="1"/>
          <p:nvPr/>
        </p:nvSpPr>
        <p:spPr>
          <a:xfrm>
            <a:off x="3520440" y="5060000"/>
            <a:ext cx="7000001"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Malgun Gothic"/>
                <a:ea typeface="Malgun Gothic"/>
                <a:cs typeface="Malgun Gothic"/>
                <a:sym typeface="Malgun Gothic"/>
              </a:defRPr>
            </a:pPr>
            <a:r>
              <a:t>지도 시각화에서 중복 간선</a:t>
            </a:r>
            <a:r>
              <a:rPr>
                <a:latin typeface="Noto Sans CJK KR"/>
                <a:ea typeface="Noto Sans CJK KR"/>
                <a:cs typeface="Noto Sans CJK KR"/>
                <a:sym typeface="Noto Sans CJK KR"/>
              </a:rPr>
              <a:t>·</a:t>
            </a:r>
            <a:r>
              <a:t>경로 노드 표시 방지</a:t>
            </a:r>
          </a:p>
        </p:txBody>
      </p:sp>
      <p:sp>
        <p:nvSpPr>
          <p:cNvPr id="470" name="ds-row-36"/>
          <p:cNvSpPr/>
          <p:nvPr/>
        </p:nvSpPr>
        <p:spPr>
          <a:xfrm>
            <a:off x="914400" y="5435000"/>
            <a:ext cx="9875520" cy="360003"/>
          </a:xfrm>
          <a:prstGeom prst="roundRect">
            <a:avLst>
              <a:gd name="adj" fmla="val 18462"/>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71" name="ds-row-37"/>
          <p:cNvSpPr txBox="1"/>
          <p:nvPr/>
        </p:nvSpPr>
        <p:spPr>
          <a:xfrm>
            <a:off x="1149998" y="5515000"/>
            <a:ext cx="2150002"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50391">
              <a:defRPr sz="1400" b="1">
                <a:solidFill>
                  <a:srgbClr val="102033"/>
                </a:solidFill>
                <a:latin typeface="Noto Sans CJK KR"/>
                <a:ea typeface="Noto Sans CJK KR"/>
                <a:cs typeface="Noto Sans CJK KR"/>
                <a:sym typeface="Noto Sans CJK KR"/>
              </a:defRPr>
            </a:lvl1pPr>
          </a:lstStyle>
          <a:p>
            <a:r>
              <a:t>Tuple</a:t>
            </a:r>
          </a:p>
        </p:txBody>
      </p:sp>
      <p:sp>
        <p:nvSpPr>
          <p:cNvPr id="472" name="ds-row-38"/>
          <p:cNvSpPr txBox="1"/>
          <p:nvPr/>
        </p:nvSpPr>
        <p:spPr>
          <a:xfrm>
            <a:off x="3520440" y="5515000"/>
            <a:ext cx="7000001" cy="2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Malgun Gothic"/>
                <a:ea typeface="Malgun Gothic"/>
                <a:cs typeface="Malgun Gothic"/>
                <a:sym typeface="Malgun Gothic"/>
              </a:defRPr>
            </a:pPr>
            <a:r>
              <a:t>좌표와 간선 </a:t>
            </a:r>
            <a:r>
              <a:rPr>
                <a:latin typeface="Noto Sans CJK KR"/>
                <a:ea typeface="Noto Sans CJK KR"/>
                <a:cs typeface="Noto Sans CJK KR"/>
                <a:sym typeface="Noto Sans CJK KR"/>
              </a:rPr>
              <a:t>key</a:t>
            </a:r>
            <a:r>
              <a:t>처럼 변하지 않는 값 묶음 표현</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475"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476"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ALGORITHM</a:t>
            </a:r>
          </a:p>
        </p:txBody>
      </p:sp>
      <p:sp>
        <p:nvSpPr>
          <p:cNvPr id="477"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15</a:t>
            </a:r>
          </a:p>
        </p:txBody>
      </p:sp>
      <p:sp>
        <p:nvSpPr>
          <p:cNvPr id="478"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479" name="Shape 5"/>
          <p:cNvSpPr/>
          <p:nvPr/>
        </p:nvSpPr>
        <p:spPr>
          <a:xfrm>
            <a:off x="648843" y="6799326"/>
            <a:ext cx="10881360" cy="1"/>
          </a:xfrm>
          <a:prstGeom prst="line">
            <a:avLst/>
          </a:prstGeom>
          <a:ln w="10160">
            <a:solidFill>
              <a:srgbClr val="D8E3ED">
                <a:alpha val="90000"/>
              </a:srgbClr>
            </a:solidFill>
          </a:ln>
        </p:spPr>
        <p:txBody>
          <a:bodyPr lIns="45718" tIns="45718" rIns="45718" bIns="45718"/>
          <a:lstStyle/>
          <a:p>
            <a:endParaRPr/>
          </a:p>
        </p:txBody>
      </p:sp>
      <p:sp>
        <p:nvSpPr>
          <p:cNvPr id="480" name="Shape 6"/>
          <p:cNvSpPr/>
          <p:nvPr/>
        </p:nvSpPr>
        <p:spPr>
          <a:xfrm>
            <a:off x="648843" y="6519670"/>
            <a:ext cx="256032" cy="3"/>
          </a:xfrm>
          <a:prstGeom prst="line">
            <a:avLst/>
          </a:prstGeom>
          <a:ln w="25400">
            <a:solidFill>
              <a:srgbClr val="2563EB"/>
            </a:solidFill>
          </a:ln>
        </p:spPr>
        <p:txBody>
          <a:bodyPr lIns="45718" tIns="45718" rIns="45718" bIns="45718"/>
          <a:lstStyle/>
          <a:p>
            <a:endParaRPr/>
          </a:p>
        </p:txBody>
      </p:sp>
      <p:sp>
        <p:nvSpPr>
          <p:cNvPr id="481" name="Text 7"/>
          <p:cNvSpPr txBox="1"/>
          <p:nvPr/>
        </p:nvSpPr>
        <p:spPr>
          <a:xfrm>
            <a:off x="648843"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맑은 고딕"/>
                <a:ea typeface="맑은 고딕"/>
                <a:cs typeface="맑은 고딕"/>
                <a:sym typeface="맑은 고딕"/>
              </a:rPr>
              <a:t>공강 플래너</a:t>
            </a:r>
          </a:p>
        </p:txBody>
      </p:sp>
      <p:sp>
        <p:nvSpPr>
          <p:cNvPr id="482" name="Text 8"/>
          <p:cNvSpPr txBox="1"/>
          <p:nvPr/>
        </p:nvSpPr>
        <p:spPr>
          <a:xfrm>
            <a:off x="9225915"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483" name="Shape 9"/>
          <p:cNvSpPr/>
          <p:nvPr/>
        </p:nvSpPr>
        <p:spPr>
          <a:xfrm>
            <a:off x="797051" y="813816"/>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484" name="Text 10"/>
          <p:cNvSpPr txBox="1"/>
          <p:nvPr/>
        </p:nvSpPr>
        <p:spPr>
          <a:xfrm>
            <a:off x="897636" y="868860"/>
            <a:ext cx="12801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ALGORITHM</a:t>
            </a:r>
          </a:p>
        </p:txBody>
      </p:sp>
      <p:sp>
        <p:nvSpPr>
          <p:cNvPr id="485" name="Text 11"/>
          <p:cNvSpPr txBox="1"/>
          <p:nvPr/>
        </p:nvSpPr>
        <p:spPr>
          <a:xfrm>
            <a:off x="825627" y="1219205"/>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41247">
              <a:lnSpc>
                <a:spcPct val="90000"/>
              </a:lnSpc>
              <a:defRPr sz="2800" b="1">
                <a:solidFill>
                  <a:srgbClr val="102033"/>
                </a:solidFill>
                <a:latin typeface="맑은 고딕"/>
                <a:ea typeface="맑은 고딕"/>
                <a:cs typeface="맑은 고딕"/>
                <a:sym typeface="맑은 고딕"/>
              </a:defRPr>
            </a:lvl1pPr>
          </a:lstStyle>
          <a:p>
            <a:r>
              <a:t>사용한 알고리즘</a:t>
            </a:r>
          </a:p>
        </p:txBody>
      </p:sp>
      <p:sp>
        <p:nvSpPr>
          <p:cNvPr id="486" name="Text 12"/>
          <p:cNvSpPr txBox="1"/>
          <p:nvPr/>
        </p:nvSpPr>
        <p:spPr>
          <a:xfrm>
            <a:off x="806576" y="1816230"/>
            <a:ext cx="9875523" cy="2926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맑은 고딕"/>
                <a:ea typeface="맑은 고딕"/>
                <a:cs typeface="맑은 고딕"/>
                <a:sym typeface="맑은 고딕"/>
              </a:defRPr>
            </a:pPr>
            <a:r>
              <a:t>팀 전체 코드의 핵심 알고리즘을 모듈별로 정리했습니다</a:t>
            </a:r>
            <a:r>
              <a:rPr>
                <a:latin typeface="Noto Sans CJK KR"/>
                <a:ea typeface="Noto Sans CJK KR"/>
                <a:cs typeface="Noto Sans CJK KR"/>
                <a:sym typeface="Noto Sans CJK KR"/>
              </a:rPr>
              <a:t>.</a:t>
            </a:r>
          </a:p>
        </p:txBody>
      </p:sp>
      <p:sp>
        <p:nvSpPr>
          <p:cNvPr id="487" name="Shape 13"/>
          <p:cNvSpPr/>
          <p:nvPr/>
        </p:nvSpPr>
        <p:spPr>
          <a:xfrm>
            <a:off x="792480" y="2314555"/>
            <a:ext cx="10058401" cy="330003"/>
          </a:xfrm>
          <a:prstGeom prst="roundRect">
            <a:avLst>
              <a:gd name="adj" fmla="val 2069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88" name="Text 14"/>
          <p:cNvSpPr txBox="1"/>
          <p:nvPr/>
        </p:nvSpPr>
        <p:spPr>
          <a:xfrm>
            <a:off x="975360" y="2378555"/>
            <a:ext cx="2050003" cy="219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905255">
              <a:lnSpc>
                <a:spcPct val="90000"/>
              </a:lnSpc>
              <a:defRPr sz="1400" b="1">
                <a:solidFill>
                  <a:srgbClr val="102033"/>
                </a:solidFill>
                <a:latin typeface="맑은 고딕"/>
                <a:ea typeface="맑은 고딕"/>
                <a:cs typeface="맑은 고딕"/>
                <a:sym typeface="맑은 고딕"/>
              </a:defRPr>
            </a:lvl1pPr>
          </a:lstStyle>
          <a:p>
            <a:r>
              <a:t>정렬</a:t>
            </a:r>
          </a:p>
        </p:txBody>
      </p:sp>
      <p:sp>
        <p:nvSpPr>
          <p:cNvPr id="489" name="Text 15"/>
          <p:cNvSpPr txBox="1"/>
          <p:nvPr/>
        </p:nvSpPr>
        <p:spPr>
          <a:xfrm>
            <a:off x="3223797" y="2378555"/>
            <a:ext cx="16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886966">
              <a:lnSpc>
                <a:spcPct val="90000"/>
              </a:lnSpc>
              <a:defRPr sz="1300" b="1">
                <a:solidFill>
                  <a:srgbClr val="334155"/>
                </a:solidFill>
                <a:latin typeface="맑은 고딕"/>
                <a:ea typeface="맑은 고딕"/>
                <a:cs typeface="맑은 고딕"/>
                <a:sym typeface="맑은 고딕"/>
              </a:defRPr>
            </a:pPr>
            <a:r>
              <a:t>시간표</a:t>
            </a:r>
            <a:r>
              <a:rPr>
                <a:latin typeface="Noto Sans CJK KR"/>
                <a:ea typeface="Noto Sans CJK KR"/>
                <a:cs typeface="Noto Sans CJK KR"/>
                <a:sym typeface="Noto Sans CJK KR"/>
              </a:rPr>
              <a:t>·</a:t>
            </a:r>
            <a:r>
              <a:t>추천</a:t>
            </a:r>
          </a:p>
        </p:txBody>
      </p:sp>
      <p:sp>
        <p:nvSpPr>
          <p:cNvPr id="490" name="Text 16"/>
          <p:cNvSpPr txBox="1"/>
          <p:nvPr/>
        </p:nvSpPr>
        <p:spPr>
          <a:xfrm>
            <a:off x="5103800" y="2378555"/>
            <a:ext cx="5650003" cy="21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200">
                <a:solidFill>
                  <a:srgbClr val="334155"/>
                </a:solidFill>
                <a:latin typeface="맑은 고딕"/>
                <a:ea typeface="맑은 고딕"/>
                <a:cs typeface="맑은 고딕"/>
                <a:sym typeface="맑은 고딕"/>
              </a:defRPr>
            </a:pPr>
            <a:r>
              <a:t>시간순 정렬</a:t>
            </a:r>
            <a:r>
              <a:rPr>
                <a:latin typeface="Noto Sans CJK KR"/>
                <a:ea typeface="Noto Sans CJK KR"/>
                <a:cs typeface="Noto Sans CJK KR"/>
                <a:sym typeface="Noto Sans CJK KR"/>
              </a:rPr>
              <a:t>, </a:t>
            </a:r>
            <a:r>
              <a:t>점수순 정렬로 결과 표시</a:t>
            </a:r>
          </a:p>
        </p:txBody>
      </p:sp>
      <p:sp>
        <p:nvSpPr>
          <p:cNvPr id="491" name="Shape 17"/>
          <p:cNvSpPr/>
          <p:nvPr/>
        </p:nvSpPr>
        <p:spPr>
          <a:xfrm>
            <a:off x="792480" y="2734554"/>
            <a:ext cx="10058401" cy="330003"/>
          </a:xfrm>
          <a:prstGeom prst="roundRect">
            <a:avLst>
              <a:gd name="adj" fmla="val 2069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92" name="Text 18"/>
          <p:cNvSpPr txBox="1"/>
          <p:nvPr/>
        </p:nvSpPr>
        <p:spPr>
          <a:xfrm>
            <a:off x="975360" y="2798553"/>
            <a:ext cx="20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22958">
              <a:lnSpc>
                <a:spcPct val="90000"/>
              </a:lnSpc>
              <a:defRPr sz="1300" b="1">
                <a:solidFill>
                  <a:srgbClr val="102033"/>
                </a:solidFill>
                <a:latin typeface="맑은 고딕"/>
                <a:ea typeface="맑은 고딕"/>
                <a:cs typeface="맑은 고딕"/>
                <a:sym typeface="맑은 고딕"/>
              </a:defRPr>
            </a:lvl1pPr>
          </a:lstStyle>
          <a:p>
            <a:r>
              <a:t>이진 탐색</a:t>
            </a:r>
          </a:p>
        </p:txBody>
      </p:sp>
      <p:sp>
        <p:nvSpPr>
          <p:cNvPr id="493" name="Text 19"/>
          <p:cNvSpPr txBox="1"/>
          <p:nvPr/>
        </p:nvSpPr>
        <p:spPr>
          <a:xfrm>
            <a:off x="3223797" y="2798553"/>
            <a:ext cx="16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886966">
              <a:lnSpc>
                <a:spcPct val="90000"/>
              </a:lnSpc>
              <a:defRPr sz="1300" b="1">
                <a:solidFill>
                  <a:srgbClr val="334155"/>
                </a:solidFill>
                <a:latin typeface="맑은 고딕"/>
                <a:ea typeface="맑은 고딕"/>
                <a:cs typeface="맑은 고딕"/>
                <a:sym typeface="맑은 고딕"/>
              </a:defRPr>
            </a:pPr>
            <a:r>
              <a:t>시간표</a:t>
            </a:r>
            <a:r>
              <a:rPr>
                <a:latin typeface="Noto Sans CJK KR"/>
                <a:ea typeface="Noto Sans CJK KR"/>
                <a:cs typeface="Noto Sans CJK KR"/>
                <a:sym typeface="Noto Sans CJK KR"/>
              </a:rPr>
              <a:t>·</a:t>
            </a:r>
            <a:r>
              <a:t>혼잡도</a:t>
            </a:r>
          </a:p>
        </p:txBody>
      </p:sp>
      <p:sp>
        <p:nvSpPr>
          <p:cNvPr id="494" name="Text 20"/>
          <p:cNvSpPr txBox="1"/>
          <p:nvPr/>
        </p:nvSpPr>
        <p:spPr>
          <a:xfrm>
            <a:off x="5103800" y="2798553"/>
            <a:ext cx="5650003" cy="21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200">
                <a:solidFill>
                  <a:srgbClr val="334155"/>
                </a:solidFill>
                <a:latin typeface="맑은 고딕"/>
                <a:ea typeface="맑은 고딕"/>
                <a:cs typeface="맑은 고딕"/>
                <a:sym typeface="맑은 고딕"/>
              </a:defRPr>
            </a:pPr>
            <a:r>
              <a:t>현재 시간의 수업</a:t>
            </a:r>
            <a:r>
              <a:rPr>
                <a:latin typeface="Noto Sans CJK KR"/>
                <a:ea typeface="Noto Sans CJK KR"/>
                <a:cs typeface="Noto Sans CJK KR"/>
                <a:sym typeface="Noto Sans CJK KR"/>
              </a:rPr>
              <a:t>·</a:t>
            </a:r>
            <a:r>
              <a:t>시간대 구간 탐색</a:t>
            </a:r>
          </a:p>
        </p:txBody>
      </p:sp>
      <p:sp>
        <p:nvSpPr>
          <p:cNvPr id="495" name="Shape 21"/>
          <p:cNvSpPr/>
          <p:nvPr/>
        </p:nvSpPr>
        <p:spPr>
          <a:xfrm>
            <a:off x="792480" y="3154552"/>
            <a:ext cx="10058401" cy="330003"/>
          </a:xfrm>
          <a:prstGeom prst="roundRect">
            <a:avLst>
              <a:gd name="adj" fmla="val 2069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496" name="Text 22"/>
          <p:cNvSpPr txBox="1"/>
          <p:nvPr/>
        </p:nvSpPr>
        <p:spPr>
          <a:xfrm>
            <a:off x="975360" y="3218555"/>
            <a:ext cx="20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22958">
              <a:lnSpc>
                <a:spcPct val="90000"/>
              </a:lnSpc>
              <a:defRPr sz="1300" b="1">
                <a:solidFill>
                  <a:srgbClr val="102033"/>
                </a:solidFill>
                <a:latin typeface="맑은 고딕"/>
                <a:ea typeface="맑은 고딕"/>
                <a:cs typeface="맑은 고딕"/>
                <a:sym typeface="맑은 고딕"/>
              </a:defRPr>
            </a:lvl1pPr>
          </a:lstStyle>
          <a:p>
            <a:r>
              <a:t>구간 비교</a:t>
            </a:r>
          </a:p>
        </p:txBody>
      </p:sp>
      <p:sp>
        <p:nvSpPr>
          <p:cNvPr id="497" name="Text 23"/>
          <p:cNvSpPr txBox="1"/>
          <p:nvPr/>
        </p:nvSpPr>
        <p:spPr>
          <a:xfrm>
            <a:off x="3223797" y="3218555"/>
            <a:ext cx="16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300" b="1">
                <a:solidFill>
                  <a:srgbClr val="334155"/>
                </a:solidFill>
                <a:latin typeface="맑은 고딕"/>
                <a:ea typeface="맑은 고딕"/>
                <a:cs typeface="맑은 고딕"/>
                <a:sym typeface="맑은 고딕"/>
              </a:defRPr>
            </a:lvl1pPr>
          </a:lstStyle>
          <a:p>
            <a:r>
              <a:t>공강 분석</a:t>
            </a:r>
          </a:p>
        </p:txBody>
      </p:sp>
      <p:sp>
        <p:nvSpPr>
          <p:cNvPr id="498" name="Text 24"/>
          <p:cNvSpPr txBox="1"/>
          <p:nvPr/>
        </p:nvSpPr>
        <p:spPr>
          <a:xfrm>
            <a:off x="5103800" y="3218555"/>
            <a:ext cx="5650003" cy="21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200">
                <a:solidFill>
                  <a:srgbClr val="334155"/>
                </a:solidFill>
                <a:latin typeface="맑은 고딕"/>
                <a:ea typeface="맑은 고딕"/>
                <a:cs typeface="맑은 고딕"/>
                <a:sym typeface="맑은 고딕"/>
              </a:defRPr>
            </a:pPr>
            <a:r>
              <a:t>수업 전</a:t>
            </a:r>
            <a:r>
              <a:rPr>
                <a:latin typeface="Noto Sans CJK KR"/>
                <a:ea typeface="Noto Sans CJK KR"/>
                <a:cs typeface="Noto Sans CJK KR"/>
                <a:sym typeface="Noto Sans CJK KR"/>
              </a:rPr>
              <a:t>·</a:t>
            </a:r>
            <a:r>
              <a:t>중</a:t>
            </a:r>
            <a:r>
              <a:rPr>
                <a:latin typeface="Noto Sans CJK KR"/>
                <a:ea typeface="Noto Sans CJK KR"/>
                <a:cs typeface="Noto Sans CJK KR"/>
                <a:sym typeface="Noto Sans CJK KR"/>
              </a:rPr>
              <a:t>·</a:t>
            </a:r>
            <a:r>
              <a:t>후와 공강 구간 판별</a:t>
            </a:r>
          </a:p>
        </p:txBody>
      </p:sp>
      <p:sp>
        <p:nvSpPr>
          <p:cNvPr id="499" name="Shape 25"/>
          <p:cNvSpPr/>
          <p:nvPr/>
        </p:nvSpPr>
        <p:spPr>
          <a:xfrm>
            <a:off x="792480" y="3574555"/>
            <a:ext cx="10058401" cy="330003"/>
          </a:xfrm>
          <a:prstGeom prst="roundRect">
            <a:avLst>
              <a:gd name="adj" fmla="val 2069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00" name="Text 26"/>
          <p:cNvSpPr txBox="1"/>
          <p:nvPr/>
        </p:nvSpPr>
        <p:spPr>
          <a:xfrm>
            <a:off x="975360" y="3638555"/>
            <a:ext cx="2050003" cy="219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905255">
              <a:lnSpc>
                <a:spcPct val="90000"/>
              </a:lnSpc>
              <a:defRPr sz="1400" b="1">
                <a:solidFill>
                  <a:srgbClr val="102033"/>
                </a:solidFill>
                <a:latin typeface="맑은 고딕"/>
                <a:ea typeface="맑은 고딕"/>
                <a:cs typeface="맑은 고딕"/>
                <a:sym typeface="맑은 고딕"/>
              </a:defRPr>
            </a:lvl1pPr>
          </a:lstStyle>
          <a:p>
            <a:r>
              <a:t>다익스트라</a:t>
            </a:r>
          </a:p>
        </p:txBody>
      </p:sp>
      <p:sp>
        <p:nvSpPr>
          <p:cNvPr id="501" name="Text 27"/>
          <p:cNvSpPr txBox="1"/>
          <p:nvPr/>
        </p:nvSpPr>
        <p:spPr>
          <a:xfrm>
            <a:off x="3223797" y="3638555"/>
            <a:ext cx="1650003" cy="2190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400" b="1">
                <a:solidFill>
                  <a:srgbClr val="334155"/>
                </a:solidFill>
                <a:latin typeface="맑은 고딕"/>
                <a:ea typeface="맑은 고딕"/>
                <a:cs typeface="맑은 고딕"/>
                <a:sym typeface="맑은 고딕"/>
              </a:defRPr>
            </a:lvl1pPr>
          </a:lstStyle>
          <a:p>
            <a:r>
              <a:t>최단경로</a:t>
            </a:r>
          </a:p>
        </p:txBody>
      </p:sp>
      <p:sp>
        <p:nvSpPr>
          <p:cNvPr id="502" name="Text 28"/>
          <p:cNvSpPr txBox="1"/>
          <p:nvPr/>
        </p:nvSpPr>
        <p:spPr>
          <a:xfrm>
            <a:off x="5103800" y="3638555"/>
            <a:ext cx="5650003" cy="21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a:solidFill>
                  <a:srgbClr val="334155"/>
                </a:solidFill>
                <a:latin typeface="맑은 고딕"/>
                <a:ea typeface="맑은 고딕"/>
                <a:cs typeface="맑은 고딕"/>
                <a:sym typeface="맑은 고딕"/>
              </a:defRPr>
            </a:lvl1pPr>
          </a:lstStyle>
          <a:p>
            <a:r>
              <a:t>건물 그래프에서 최소 이동시간 계산</a:t>
            </a:r>
          </a:p>
        </p:txBody>
      </p:sp>
      <p:sp>
        <p:nvSpPr>
          <p:cNvPr id="503" name="algo-row-31"/>
          <p:cNvSpPr/>
          <p:nvPr/>
        </p:nvSpPr>
        <p:spPr>
          <a:xfrm>
            <a:off x="792480" y="3994555"/>
            <a:ext cx="10058401" cy="330003"/>
          </a:xfrm>
          <a:prstGeom prst="roundRect">
            <a:avLst>
              <a:gd name="adj" fmla="val 2069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04" name="algo-row-32"/>
          <p:cNvSpPr txBox="1"/>
          <p:nvPr/>
        </p:nvSpPr>
        <p:spPr>
          <a:xfrm>
            <a:off x="975360" y="4058553"/>
            <a:ext cx="20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22958">
              <a:lnSpc>
                <a:spcPct val="90000"/>
              </a:lnSpc>
              <a:defRPr sz="1300" b="1">
                <a:solidFill>
                  <a:srgbClr val="102033"/>
                </a:solidFill>
                <a:latin typeface="맑은 고딕"/>
                <a:ea typeface="맑은 고딕"/>
                <a:cs typeface="맑은 고딕"/>
                <a:sym typeface="맑은 고딕"/>
              </a:defRPr>
            </a:lvl1pPr>
          </a:lstStyle>
          <a:p>
            <a:r>
              <a:t>경로 복원</a:t>
            </a:r>
          </a:p>
        </p:txBody>
      </p:sp>
      <p:sp>
        <p:nvSpPr>
          <p:cNvPr id="505" name="algo-row-33"/>
          <p:cNvSpPr txBox="1"/>
          <p:nvPr/>
        </p:nvSpPr>
        <p:spPr>
          <a:xfrm>
            <a:off x="3223797" y="4058553"/>
            <a:ext cx="1650003" cy="2190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400" b="1">
                <a:solidFill>
                  <a:srgbClr val="334155"/>
                </a:solidFill>
                <a:latin typeface="맑은 고딕"/>
                <a:ea typeface="맑은 고딕"/>
                <a:cs typeface="맑은 고딕"/>
                <a:sym typeface="맑은 고딕"/>
              </a:defRPr>
            </a:lvl1pPr>
          </a:lstStyle>
          <a:p>
            <a:r>
              <a:t>최단경로</a:t>
            </a:r>
          </a:p>
        </p:txBody>
      </p:sp>
      <p:sp>
        <p:nvSpPr>
          <p:cNvPr id="506" name="algo-row-34"/>
          <p:cNvSpPr txBox="1"/>
          <p:nvPr/>
        </p:nvSpPr>
        <p:spPr>
          <a:xfrm>
            <a:off x="5103800" y="4058553"/>
            <a:ext cx="5650003" cy="21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200">
                <a:solidFill>
                  <a:srgbClr val="334155"/>
                </a:solidFill>
                <a:latin typeface="Noto Sans CJK KR"/>
                <a:ea typeface="Noto Sans CJK KR"/>
                <a:cs typeface="Noto Sans CJK KR"/>
                <a:sym typeface="Noto Sans CJK KR"/>
              </a:defRPr>
            </a:pPr>
            <a:r>
              <a:t>previous_nodes</a:t>
            </a:r>
            <a:r>
              <a:rPr>
                <a:latin typeface="맑은 고딕"/>
                <a:ea typeface="맑은 고딕"/>
                <a:cs typeface="맑은 고딕"/>
                <a:sym typeface="맑은 고딕"/>
              </a:rPr>
              <a:t>를 역추적해 실제 경로 생성</a:t>
            </a:r>
          </a:p>
        </p:txBody>
      </p:sp>
      <p:sp>
        <p:nvSpPr>
          <p:cNvPr id="507" name="algo-row-35"/>
          <p:cNvSpPr/>
          <p:nvPr/>
        </p:nvSpPr>
        <p:spPr>
          <a:xfrm>
            <a:off x="792480" y="4414554"/>
            <a:ext cx="10058401" cy="330003"/>
          </a:xfrm>
          <a:prstGeom prst="roundRect">
            <a:avLst>
              <a:gd name="adj" fmla="val 2069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08" name="algo-row-36"/>
          <p:cNvSpPr txBox="1"/>
          <p:nvPr/>
        </p:nvSpPr>
        <p:spPr>
          <a:xfrm>
            <a:off x="975360" y="4478554"/>
            <a:ext cx="20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22958">
              <a:lnSpc>
                <a:spcPct val="90000"/>
              </a:lnSpc>
              <a:defRPr sz="1300" b="1">
                <a:solidFill>
                  <a:srgbClr val="102033"/>
                </a:solidFill>
                <a:latin typeface="맑은 고딕"/>
                <a:ea typeface="맑은 고딕"/>
                <a:cs typeface="맑은 고딕"/>
                <a:sym typeface="맑은 고딕"/>
              </a:defRPr>
            </a:lvl1pPr>
          </a:lstStyle>
          <a:p>
            <a:r>
              <a:t>딕셔너리 조회</a:t>
            </a:r>
          </a:p>
        </p:txBody>
      </p:sp>
      <p:sp>
        <p:nvSpPr>
          <p:cNvPr id="509" name="algo-row-37"/>
          <p:cNvSpPr txBox="1"/>
          <p:nvPr/>
        </p:nvSpPr>
        <p:spPr>
          <a:xfrm>
            <a:off x="3223797" y="4478554"/>
            <a:ext cx="16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886966">
              <a:lnSpc>
                <a:spcPct val="90000"/>
              </a:lnSpc>
              <a:defRPr sz="1300" b="1">
                <a:solidFill>
                  <a:srgbClr val="334155"/>
                </a:solidFill>
                <a:latin typeface="맑은 고딕"/>
                <a:ea typeface="맑은 고딕"/>
                <a:cs typeface="맑은 고딕"/>
                <a:sym typeface="맑은 고딕"/>
              </a:defRPr>
            </a:pPr>
            <a:r>
              <a:t>혼잡도</a:t>
            </a:r>
            <a:r>
              <a:rPr>
                <a:latin typeface="Noto Sans CJK KR"/>
                <a:ea typeface="Noto Sans CJK KR"/>
                <a:cs typeface="Noto Sans CJK KR"/>
                <a:sym typeface="Noto Sans CJK KR"/>
              </a:rPr>
              <a:t>·</a:t>
            </a:r>
            <a:r>
              <a:t>장소</a:t>
            </a:r>
          </a:p>
        </p:txBody>
      </p:sp>
      <p:sp>
        <p:nvSpPr>
          <p:cNvPr id="510" name="algo-row-38"/>
          <p:cNvSpPr txBox="1"/>
          <p:nvPr/>
        </p:nvSpPr>
        <p:spPr>
          <a:xfrm>
            <a:off x="5103800" y="4478554"/>
            <a:ext cx="5650003" cy="21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200">
                <a:solidFill>
                  <a:srgbClr val="334155"/>
                </a:solidFill>
                <a:latin typeface="맑은 고딕"/>
                <a:ea typeface="맑은 고딕"/>
                <a:cs typeface="맑은 고딕"/>
                <a:sym typeface="맑은 고딕"/>
              </a:defRPr>
            </a:pPr>
            <a:r>
              <a:t>장소명</a:t>
            </a:r>
            <a:r>
              <a:rPr>
                <a:latin typeface="Noto Sans CJK KR"/>
                <a:ea typeface="Noto Sans CJK KR"/>
                <a:cs typeface="Noto Sans CJK KR"/>
                <a:sym typeface="Noto Sans CJK KR"/>
              </a:rPr>
              <a:t>·</a:t>
            </a:r>
            <a:r>
              <a:t>시간대 </a:t>
            </a:r>
            <a:r>
              <a:rPr>
                <a:latin typeface="Noto Sans CJK KR"/>
                <a:ea typeface="Noto Sans CJK KR"/>
                <a:cs typeface="Noto Sans CJK KR"/>
                <a:sym typeface="Noto Sans CJK KR"/>
              </a:rPr>
              <a:t>key</a:t>
            </a:r>
            <a:r>
              <a:t>로 </a:t>
            </a:r>
            <a:r>
              <a:rPr>
                <a:latin typeface="Noto Sans CJK KR"/>
                <a:ea typeface="Noto Sans CJK KR"/>
                <a:cs typeface="Noto Sans CJK KR"/>
                <a:sym typeface="Noto Sans CJK KR"/>
              </a:rPr>
              <a:t>O(1) </a:t>
            </a:r>
            <a:r>
              <a:t>조회</a:t>
            </a:r>
          </a:p>
        </p:txBody>
      </p:sp>
      <p:sp>
        <p:nvSpPr>
          <p:cNvPr id="511" name="algo-row-39"/>
          <p:cNvSpPr/>
          <p:nvPr/>
        </p:nvSpPr>
        <p:spPr>
          <a:xfrm>
            <a:off x="792480" y="4834554"/>
            <a:ext cx="10058401" cy="330003"/>
          </a:xfrm>
          <a:prstGeom prst="roundRect">
            <a:avLst>
              <a:gd name="adj" fmla="val 2069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12" name="algo-row-40"/>
          <p:cNvSpPr txBox="1"/>
          <p:nvPr/>
        </p:nvSpPr>
        <p:spPr>
          <a:xfrm>
            <a:off x="975360" y="4898554"/>
            <a:ext cx="20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22958">
              <a:lnSpc>
                <a:spcPct val="90000"/>
              </a:lnSpc>
              <a:defRPr sz="1300" b="1">
                <a:solidFill>
                  <a:srgbClr val="102033"/>
                </a:solidFill>
                <a:latin typeface="맑은 고딕"/>
                <a:ea typeface="맑은 고딕"/>
                <a:cs typeface="맑은 고딕"/>
                <a:sym typeface="맑은 고딕"/>
              </a:defRPr>
            </a:lvl1pPr>
          </a:lstStyle>
          <a:p>
            <a:r>
              <a:t>규칙 기반 계산</a:t>
            </a:r>
          </a:p>
        </p:txBody>
      </p:sp>
      <p:sp>
        <p:nvSpPr>
          <p:cNvPr id="513" name="algo-row-41"/>
          <p:cNvSpPr txBox="1"/>
          <p:nvPr/>
        </p:nvSpPr>
        <p:spPr>
          <a:xfrm>
            <a:off x="3223797" y="4898554"/>
            <a:ext cx="1650003" cy="2190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400" b="1">
                <a:solidFill>
                  <a:srgbClr val="334155"/>
                </a:solidFill>
                <a:latin typeface="맑은 고딕"/>
                <a:ea typeface="맑은 고딕"/>
                <a:cs typeface="맑은 고딕"/>
                <a:sym typeface="맑은 고딕"/>
              </a:defRPr>
            </a:lvl1pPr>
          </a:lstStyle>
          <a:p>
            <a:r>
              <a:t>대기시간</a:t>
            </a:r>
          </a:p>
        </p:txBody>
      </p:sp>
      <p:sp>
        <p:nvSpPr>
          <p:cNvPr id="514" name="algo-row-42"/>
          <p:cNvSpPr txBox="1"/>
          <p:nvPr/>
        </p:nvSpPr>
        <p:spPr>
          <a:xfrm>
            <a:off x="5103800" y="4898554"/>
            <a:ext cx="5650003" cy="21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a:solidFill>
                  <a:srgbClr val="334155"/>
                </a:solidFill>
                <a:latin typeface="맑은 고딕"/>
                <a:ea typeface="맑은 고딕"/>
                <a:cs typeface="맑은 고딕"/>
                <a:sym typeface="맑은 고딕"/>
              </a:defRPr>
            </a:lvl1pPr>
          </a:lstStyle>
          <a:p>
            <a:r>
              <a:t>혼잡도 점수와 장소 유형으로 대기시간 추정</a:t>
            </a:r>
          </a:p>
        </p:txBody>
      </p:sp>
      <p:sp>
        <p:nvSpPr>
          <p:cNvPr id="515" name="algo-row-43"/>
          <p:cNvSpPr/>
          <p:nvPr/>
        </p:nvSpPr>
        <p:spPr>
          <a:xfrm>
            <a:off x="792480" y="5254554"/>
            <a:ext cx="10058401" cy="330003"/>
          </a:xfrm>
          <a:prstGeom prst="roundRect">
            <a:avLst>
              <a:gd name="adj" fmla="val 20690"/>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16" name="algo-row-44"/>
          <p:cNvSpPr txBox="1"/>
          <p:nvPr/>
        </p:nvSpPr>
        <p:spPr>
          <a:xfrm>
            <a:off x="975360" y="5318554"/>
            <a:ext cx="20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defTabSz="822958">
              <a:lnSpc>
                <a:spcPct val="90000"/>
              </a:lnSpc>
              <a:defRPr sz="1300" b="1">
                <a:solidFill>
                  <a:srgbClr val="102033"/>
                </a:solidFill>
                <a:latin typeface="맑은 고딕"/>
                <a:ea typeface="맑은 고딕"/>
                <a:cs typeface="맑은 고딕"/>
                <a:sym typeface="맑은 고딕"/>
              </a:defRPr>
            </a:pPr>
            <a:r>
              <a:t>선형 탐색</a:t>
            </a:r>
            <a:r>
              <a:rPr>
                <a:latin typeface="Noto Sans CJK KR"/>
                <a:ea typeface="Noto Sans CJK KR"/>
                <a:cs typeface="Noto Sans CJK KR"/>
                <a:sym typeface="Noto Sans CJK KR"/>
              </a:rPr>
              <a:t>·</a:t>
            </a:r>
            <a:r>
              <a:t>필터링</a:t>
            </a:r>
          </a:p>
        </p:txBody>
      </p:sp>
      <p:sp>
        <p:nvSpPr>
          <p:cNvPr id="517" name="algo-row-45"/>
          <p:cNvSpPr txBox="1"/>
          <p:nvPr/>
        </p:nvSpPr>
        <p:spPr>
          <a:xfrm>
            <a:off x="3223797" y="5318554"/>
            <a:ext cx="16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300" b="1">
                <a:solidFill>
                  <a:srgbClr val="334155"/>
                </a:solidFill>
                <a:latin typeface="맑은 고딕"/>
                <a:ea typeface="맑은 고딕"/>
                <a:cs typeface="맑은 고딕"/>
                <a:sym typeface="맑은 고딕"/>
              </a:defRPr>
            </a:lvl1pPr>
          </a:lstStyle>
          <a:p>
            <a:r>
              <a:t>장소 추천</a:t>
            </a:r>
          </a:p>
        </p:txBody>
      </p:sp>
      <p:sp>
        <p:nvSpPr>
          <p:cNvPr id="518" name="algo-row-46"/>
          <p:cNvSpPr txBox="1"/>
          <p:nvPr/>
        </p:nvSpPr>
        <p:spPr>
          <a:xfrm>
            <a:off x="5103800" y="5318554"/>
            <a:ext cx="5650003" cy="21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200">
                <a:solidFill>
                  <a:srgbClr val="334155"/>
                </a:solidFill>
                <a:latin typeface="맑은 고딕"/>
                <a:ea typeface="맑은 고딕"/>
                <a:cs typeface="맑은 고딕"/>
                <a:sym typeface="맑은 고딕"/>
              </a:defRPr>
            </a:pPr>
            <a:r>
              <a:t>목적</a:t>
            </a:r>
            <a:r>
              <a:rPr>
                <a:latin typeface="Noto Sans CJK KR"/>
                <a:ea typeface="Noto Sans CJK KR"/>
                <a:cs typeface="Noto Sans CJK KR"/>
                <a:sym typeface="Noto Sans CJK KR"/>
              </a:rPr>
              <a:t>·</a:t>
            </a:r>
            <a:r>
              <a:t>공강시간 조건에 맞는 후보 선별</a:t>
            </a:r>
          </a:p>
        </p:txBody>
      </p:sp>
      <p:sp>
        <p:nvSpPr>
          <p:cNvPr id="519" name="algo-row-47"/>
          <p:cNvSpPr/>
          <p:nvPr/>
        </p:nvSpPr>
        <p:spPr>
          <a:xfrm>
            <a:off x="792480" y="5674555"/>
            <a:ext cx="10058401" cy="330003"/>
          </a:xfrm>
          <a:prstGeom prst="roundRect">
            <a:avLst>
              <a:gd name="adj" fmla="val 20690"/>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20" name="algo-row-48"/>
          <p:cNvSpPr txBox="1"/>
          <p:nvPr/>
        </p:nvSpPr>
        <p:spPr>
          <a:xfrm>
            <a:off x="975360" y="5738555"/>
            <a:ext cx="20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22958">
              <a:lnSpc>
                <a:spcPct val="90000"/>
              </a:lnSpc>
              <a:defRPr sz="1300" b="1">
                <a:solidFill>
                  <a:srgbClr val="102033"/>
                </a:solidFill>
                <a:latin typeface="맑은 고딕"/>
                <a:ea typeface="맑은 고딕"/>
                <a:cs typeface="맑은 고딕"/>
                <a:sym typeface="맑은 고딕"/>
              </a:defRPr>
            </a:lvl1pPr>
          </a:lstStyle>
          <a:p>
            <a:r>
              <a:t>가중합 모델</a:t>
            </a:r>
          </a:p>
        </p:txBody>
      </p:sp>
      <p:sp>
        <p:nvSpPr>
          <p:cNvPr id="521" name="algo-row-49"/>
          <p:cNvSpPr txBox="1"/>
          <p:nvPr/>
        </p:nvSpPr>
        <p:spPr>
          <a:xfrm>
            <a:off x="3223797" y="5738555"/>
            <a:ext cx="1650003" cy="217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lnSpc>
                <a:spcPct val="90000"/>
              </a:lnSpc>
              <a:defRPr sz="1300" b="1">
                <a:solidFill>
                  <a:srgbClr val="334155"/>
                </a:solidFill>
                <a:latin typeface="맑은 고딕"/>
                <a:ea typeface="맑은 고딕"/>
                <a:cs typeface="맑은 고딕"/>
                <a:sym typeface="맑은 고딕"/>
              </a:defRPr>
            </a:lvl1pPr>
          </a:lstStyle>
          <a:p>
            <a:r>
              <a:t>추천 순위</a:t>
            </a:r>
          </a:p>
        </p:txBody>
      </p:sp>
      <p:sp>
        <p:nvSpPr>
          <p:cNvPr id="522" name="algo-row-50"/>
          <p:cNvSpPr txBox="1"/>
          <p:nvPr/>
        </p:nvSpPr>
        <p:spPr>
          <a:xfrm>
            <a:off x="5103800" y="5738555"/>
            <a:ext cx="5650003" cy="21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sz="1200">
                <a:solidFill>
                  <a:srgbClr val="334155"/>
                </a:solidFill>
                <a:latin typeface="맑은 고딕"/>
                <a:ea typeface="맑은 고딕"/>
                <a:cs typeface="맑은 고딕"/>
                <a:sym typeface="맑은 고딕"/>
              </a:defRPr>
            </a:pPr>
            <a:r>
              <a:t>이동</a:t>
            </a:r>
            <a:r>
              <a:rPr>
                <a:latin typeface="Noto Sans CJK KR"/>
                <a:ea typeface="Noto Sans CJK KR"/>
                <a:cs typeface="Noto Sans CJK KR"/>
                <a:sym typeface="Noto Sans CJK KR"/>
              </a:rPr>
              <a:t>·</a:t>
            </a:r>
            <a:r>
              <a:t>대기</a:t>
            </a:r>
            <a:r>
              <a:rPr>
                <a:latin typeface="Noto Sans CJK KR"/>
                <a:ea typeface="Noto Sans CJK KR"/>
                <a:cs typeface="Noto Sans CJK KR"/>
                <a:sym typeface="Noto Sans CJK KR"/>
              </a:rPr>
              <a:t>·</a:t>
            </a:r>
            <a:r>
              <a:t>혼잡</a:t>
            </a:r>
            <a:r>
              <a:rPr>
                <a:latin typeface="Noto Sans CJK KR"/>
                <a:ea typeface="Noto Sans CJK KR"/>
                <a:cs typeface="Noto Sans CJK KR"/>
                <a:sym typeface="Noto Sans CJK KR"/>
              </a:rPr>
              <a:t>·</a:t>
            </a:r>
            <a:r>
              <a:t>선호점수 합산</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525"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526"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CORE CODE</a:t>
            </a:r>
          </a:p>
        </p:txBody>
      </p:sp>
      <p:sp>
        <p:nvSpPr>
          <p:cNvPr id="527"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16</a:t>
            </a:r>
          </a:p>
        </p:txBody>
      </p:sp>
      <p:sp>
        <p:nvSpPr>
          <p:cNvPr id="528"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529"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530"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531"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532"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533" name="Shape 9"/>
          <p:cNvSpPr/>
          <p:nvPr/>
        </p:nvSpPr>
        <p:spPr>
          <a:xfrm>
            <a:off x="758951" y="1004316"/>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534" name="Text 10"/>
          <p:cNvSpPr txBox="1"/>
          <p:nvPr/>
        </p:nvSpPr>
        <p:spPr>
          <a:xfrm>
            <a:off x="859536" y="1059360"/>
            <a:ext cx="12801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CORE CODE</a:t>
            </a:r>
          </a:p>
        </p:txBody>
      </p:sp>
      <p:sp>
        <p:nvSpPr>
          <p:cNvPr id="535" name="Text 11"/>
          <p:cNvSpPr txBox="1"/>
          <p:nvPr/>
        </p:nvSpPr>
        <p:spPr>
          <a:xfrm>
            <a:off x="758951" y="1698879"/>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defRPr sz="2800" b="1">
                <a:solidFill>
                  <a:srgbClr val="102033"/>
                </a:solidFill>
                <a:latin typeface="맑은 고딕"/>
                <a:ea typeface="맑은 고딕"/>
                <a:cs typeface="맑은 고딕"/>
                <a:sym typeface="맑은 고딕"/>
              </a:defRPr>
            </a:pPr>
            <a:r>
              <a:t>핵심 코드 흐름 </a:t>
            </a:r>
            <a:r>
              <a:rPr>
                <a:latin typeface="Noto Sans CJK KR"/>
                <a:ea typeface="Noto Sans CJK KR"/>
                <a:cs typeface="Noto Sans CJK KR"/>
                <a:sym typeface="Noto Sans CJK KR"/>
              </a:rPr>
              <a:t>: </a:t>
            </a:r>
            <a:r>
              <a:t>입력부터 추천 결과까지</a:t>
            </a:r>
          </a:p>
        </p:txBody>
      </p:sp>
      <p:sp>
        <p:nvSpPr>
          <p:cNvPr id="536" name="Shape 13"/>
          <p:cNvSpPr/>
          <p:nvPr/>
        </p:nvSpPr>
        <p:spPr>
          <a:xfrm>
            <a:off x="868680" y="2887977"/>
            <a:ext cx="2148840" cy="1965963"/>
          </a:xfrm>
          <a:prstGeom prst="roundRect">
            <a:avLst>
              <a:gd name="adj" fmla="val 5581"/>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37" name="Text 14"/>
          <p:cNvSpPr txBox="1"/>
          <p:nvPr/>
        </p:nvSpPr>
        <p:spPr>
          <a:xfrm>
            <a:off x="1033272" y="3220972"/>
            <a:ext cx="1819656" cy="3017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시간표 분석</a:t>
            </a:r>
          </a:p>
        </p:txBody>
      </p:sp>
      <p:sp>
        <p:nvSpPr>
          <p:cNvPr id="538" name="Text 15"/>
          <p:cNvSpPr txBox="1"/>
          <p:nvPr/>
        </p:nvSpPr>
        <p:spPr>
          <a:xfrm>
            <a:off x="987550" y="3564635"/>
            <a:ext cx="1911097" cy="1161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맑은 고딕"/>
                <a:ea typeface="맑은 고딕"/>
                <a:cs typeface="맑은 고딕"/>
                <a:sym typeface="맑은 고딕"/>
              </a:defRPr>
            </a:pPr>
            <a:r>
              <a:t>현재 상태와 추천 가능 시간 </a:t>
            </a:r>
          </a:p>
          <a:p>
            <a:pPr algn="ctr">
              <a:defRPr sz="1200">
                <a:solidFill>
                  <a:srgbClr val="334155"/>
                </a:solidFill>
                <a:latin typeface="맑은 고딕"/>
                <a:ea typeface="맑은 고딕"/>
                <a:cs typeface="맑은 고딕"/>
                <a:sym typeface="맑은 고딕"/>
              </a:defRPr>
            </a:pPr>
            <a:r>
              <a:t>계산</a:t>
            </a:r>
          </a:p>
          <a:p>
            <a:pPr algn="ctr">
              <a:defRPr sz="1200">
                <a:solidFill>
                  <a:srgbClr val="334155"/>
                </a:solidFill>
                <a:latin typeface="Noto Sans CJK KR"/>
                <a:ea typeface="Noto Sans CJK KR"/>
                <a:cs typeface="Noto Sans CJK KR"/>
                <a:sym typeface="Noto Sans CJK KR"/>
              </a:defRPr>
            </a:pPr>
            <a:r>
              <a:t>free_time_result </a:t>
            </a:r>
            <a:r>
              <a:rPr>
                <a:latin typeface="맑은 고딕"/>
                <a:ea typeface="맑은 고딕"/>
                <a:cs typeface="맑은 고딕"/>
                <a:sym typeface="맑은 고딕"/>
              </a:rPr>
              <a:t>반환</a:t>
            </a:r>
          </a:p>
        </p:txBody>
      </p:sp>
      <p:sp>
        <p:nvSpPr>
          <p:cNvPr id="539" name="Shape 16"/>
          <p:cNvSpPr/>
          <p:nvPr/>
        </p:nvSpPr>
        <p:spPr>
          <a:xfrm>
            <a:off x="3429000" y="2887977"/>
            <a:ext cx="2148840" cy="1965963"/>
          </a:xfrm>
          <a:prstGeom prst="roundRect">
            <a:avLst>
              <a:gd name="adj" fmla="val 5581"/>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40" name="Text 17"/>
          <p:cNvSpPr txBox="1"/>
          <p:nvPr/>
        </p:nvSpPr>
        <p:spPr>
          <a:xfrm>
            <a:off x="3593591" y="3220972"/>
            <a:ext cx="1819658" cy="3017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경로 탐색</a:t>
            </a:r>
          </a:p>
        </p:txBody>
      </p:sp>
      <p:sp>
        <p:nvSpPr>
          <p:cNvPr id="541" name="Text 18"/>
          <p:cNvSpPr txBox="1"/>
          <p:nvPr/>
        </p:nvSpPr>
        <p:spPr>
          <a:xfrm>
            <a:off x="3553168" y="3564635"/>
            <a:ext cx="1900504" cy="1161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맑은 고딕"/>
                <a:ea typeface="맑은 고딕"/>
                <a:cs typeface="맑은 고딕"/>
                <a:sym typeface="맑은 고딕"/>
              </a:defRPr>
            </a:pPr>
            <a:r>
              <a:t>후보 장소별 왕복 이동시간 </a:t>
            </a:r>
          </a:p>
          <a:p>
            <a:pPr algn="ctr">
              <a:defRPr sz="1200">
                <a:solidFill>
                  <a:srgbClr val="334155"/>
                </a:solidFill>
                <a:latin typeface="맑은 고딕"/>
                <a:ea typeface="맑은 고딕"/>
                <a:cs typeface="맑은 고딕"/>
                <a:sym typeface="맑은 고딕"/>
              </a:defRPr>
            </a:pPr>
            <a:r>
              <a:t>계산</a:t>
            </a:r>
          </a:p>
          <a:p>
            <a:pPr algn="ctr">
              <a:defRPr sz="1200">
                <a:solidFill>
                  <a:srgbClr val="334155"/>
                </a:solidFill>
                <a:latin typeface="Noto Sans CJK KR"/>
                <a:ea typeface="Noto Sans CJK KR"/>
                <a:cs typeface="Noto Sans CJK KR"/>
                <a:sym typeface="Noto Sans CJK KR"/>
              </a:defRPr>
            </a:pPr>
            <a:r>
              <a:t>path_results </a:t>
            </a:r>
            <a:r>
              <a:rPr>
                <a:latin typeface="맑은 고딕"/>
                <a:ea typeface="맑은 고딕"/>
                <a:cs typeface="맑은 고딕"/>
                <a:sym typeface="맑은 고딕"/>
              </a:rPr>
              <a:t>반환</a:t>
            </a:r>
          </a:p>
        </p:txBody>
      </p:sp>
      <p:sp>
        <p:nvSpPr>
          <p:cNvPr id="542" name="Shape 19"/>
          <p:cNvSpPr/>
          <p:nvPr/>
        </p:nvSpPr>
        <p:spPr>
          <a:xfrm>
            <a:off x="5989320" y="2887977"/>
            <a:ext cx="2148843" cy="1965963"/>
          </a:xfrm>
          <a:prstGeom prst="roundRect">
            <a:avLst>
              <a:gd name="adj" fmla="val 5581"/>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43" name="Text 20"/>
          <p:cNvSpPr txBox="1"/>
          <p:nvPr/>
        </p:nvSpPr>
        <p:spPr>
          <a:xfrm>
            <a:off x="6153910" y="3220972"/>
            <a:ext cx="1819657" cy="3017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혼잡도 분석</a:t>
            </a:r>
          </a:p>
        </p:txBody>
      </p:sp>
      <p:sp>
        <p:nvSpPr>
          <p:cNvPr id="544" name="Text 21"/>
          <p:cNvSpPr txBox="1"/>
          <p:nvPr/>
        </p:nvSpPr>
        <p:spPr>
          <a:xfrm>
            <a:off x="6071613" y="3562205"/>
            <a:ext cx="1984251" cy="1161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맑은 고딕"/>
                <a:ea typeface="맑은 고딕"/>
                <a:cs typeface="맑은 고딕"/>
                <a:sym typeface="맑은 고딕"/>
              </a:defRPr>
            </a:pPr>
            <a:r>
              <a:t>시간대별 혼잡도와 대기시간 계산</a:t>
            </a:r>
          </a:p>
          <a:p>
            <a:pPr algn="ctr">
              <a:defRPr sz="1200">
                <a:solidFill>
                  <a:srgbClr val="334155"/>
                </a:solidFill>
                <a:latin typeface="Noto Sans CJK KR"/>
                <a:ea typeface="Noto Sans CJK KR"/>
                <a:cs typeface="Noto Sans CJK KR"/>
                <a:sym typeface="Noto Sans CJK KR"/>
              </a:defRPr>
            </a:pPr>
            <a:r>
              <a:t>crowd_results </a:t>
            </a:r>
            <a:r>
              <a:rPr>
                <a:latin typeface="맑은 고딕"/>
                <a:ea typeface="맑은 고딕"/>
                <a:cs typeface="맑은 고딕"/>
                <a:sym typeface="맑은 고딕"/>
              </a:rPr>
              <a:t>반환</a:t>
            </a:r>
          </a:p>
        </p:txBody>
      </p:sp>
      <p:sp>
        <p:nvSpPr>
          <p:cNvPr id="545" name="Shape 22"/>
          <p:cNvSpPr/>
          <p:nvPr/>
        </p:nvSpPr>
        <p:spPr>
          <a:xfrm>
            <a:off x="8549640" y="2887977"/>
            <a:ext cx="2148843" cy="1965963"/>
          </a:xfrm>
          <a:prstGeom prst="roundRect">
            <a:avLst>
              <a:gd name="adj" fmla="val 5581"/>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46" name="Text 23"/>
          <p:cNvSpPr txBox="1"/>
          <p:nvPr/>
        </p:nvSpPr>
        <p:spPr>
          <a:xfrm>
            <a:off x="8714230" y="3220972"/>
            <a:ext cx="1819658" cy="3017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추천 엔진</a:t>
            </a:r>
          </a:p>
        </p:txBody>
      </p:sp>
      <p:sp>
        <p:nvSpPr>
          <p:cNvPr id="547" name="Text 24"/>
          <p:cNvSpPr txBox="1"/>
          <p:nvPr/>
        </p:nvSpPr>
        <p:spPr>
          <a:xfrm>
            <a:off x="8631935" y="3562205"/>
            <a:ext cx="1984249" cy="1161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200">
                <a:solidFill>
                  <a:srgbClr val="334155"/>
                </a:solidFill>
                <a:latin typeface="Noto Sans CJK KR"/>
                <a:ea typeface="Noto Sans CJK KR"/>
                <a:cs typeface="Noto Sans CJK KR"/>
                <a:sym typeface="Noto Sans CJK KR"/>
              </a:defRPr>
            </a:pPr>
            <a:r>
              <a:t>recommend_places(free_time_result, path_results, crowd_results) | TOP 3 </a:t>
            </a:r>
            <a:r>
              <a:rPr>
                <a:latin typeface="맑은 고딕"/>
                <a:ea typeface="맑은 고딕"/>
                <a:cs typeface="맑은 고딕"/>
                <a:sym typeface="맑은 고딕"/>
              </a:rPr>
              <a:t>반환</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550"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551"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DEMO</a:t>
            </a:r>
          </a:p>
        </p:txBody>
      </p:sp>
      <p:sp>
        <p:nvSpPr>
          <p:cNvPr id="552"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17</a:t>
            </a:r>
          </a:p>
        </p:txBody>
      </p:sp>
      <p:sp>
        <p:nvSpPr>
          <p:cNvPr id="553"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554"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555"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556"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557"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558" name="Shape 9"/>
          <p:cNvSpPr/>
          <p:nvPr/>
        </p:nvSpPr>
        <p:spPr>
          <a:xfrm>
            <a:off x="758951" y="813816"/>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559" name="Text 10"/>
          <p:cNvSpPr txBox="1"/>
          <p:nvPr/>
        </p:nvSpPr>
        <p:spPr>
          <a:xfrm>
            <a:off x="859536" y="859807"/>
            <a:ext cx="12801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DEMO</a:t>
            </a:r>
          </a:p>
        </p:txBody>
      </p:sp>
      <p:sp>
        <p:nvSpPr>
          <p:cNvPr id="560" name="Text 11"/>
          <p:cNvSpPr txBox="1"/>
          <p:nvPr/>
        </p:nvSpPr>
        <p:spPr>
          <a:xfrm>
            <a:off x="758951" y="1595627"/>
            <a:ext cx="6858001" cy="4754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defRPr sz="2800" b="1">
                <a:solidFill>
                  <a:srgbClr val="102033"/>
                </a:solidFill>
                <a:latin typeface="Malgun Gothic"/>
                <a:ea typeface="Malgun Gothic"/>
                <a:cs typeface="Malgun Gothic"/>
                <a:sym typeface="Malgun Gothic"/>
              </a:defRPr>
            </a:pPr>
            <a:r>
              <a:t>프로토타입 시연 </a:t>
            </a:r>
            <a:r>
              <a:rPr>
                <a:latin typeface="Noto Sans CJK KR"/>
                <a:ea typeface="Noto Sans CJK KR"/>
                <a:cs typeface="Noto Sans CJK KR"/>
                <a:sym typeface="Noto Sans CJK KR"/>
              </a:rPr>
              <a:t>: </a:t>
            </a:r>
            <a:r>
              <a:t>대표 입력값 동작 방식</a:t>
            </a:r>
          </a:p>
        </p:txBody>
      </p:sp>
      <p:sp>
        <p:nvSpPr>
          <p:cNvPr id="561" name="Text 12"/>
          <p:cNvSpPr txBox="1"/>
          <p:nvPr/>
        </p:nvSpPr>
        <p:spPr>
          <a:xfrm>
            <a:off x="758951" y="2202177"/>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맑은 고딕"/>
                <a:ea typeface="맑은 고딕"/>
                <a:cs typeface="맑은 고딕"/>
                <a:sym typeface="맑은 고딕"/>
              </a:defRPr>
            </a:pPr>
            <a:r>
              <a:t>대표 입력값을 넣고</a:t>
            </a:r>
            <a:r>
              <a:rPr>
                <a:latin typeface="Noto Sans CJK KR"/>
                <a:ea typeface="Noto Sans CJK KR"/>
                <a:cs typeface="Noto Sans CJK KR"/>
                <a:sym typeface="Noto Sans CJK KR"/>
              </a:rPr>
              <a:t>, </a:t>
            </a:r>
            <a:r>
              <a:t>시간 분석부터 추천 결과와 경로 시각화까지 이어지는 흐름을 확인합니다</a:t>
            </a:r>
            <a:r>
              <a:rPr>
                <a:latin typeface="Noto Sans CJK KR"/>
                <a:ea typeface="Noto Sans CJK KR"/>
                <a:cs typeface="Noto Sans CJK KR"/>
                <a:sym typeface="Noto Sans CJK KR"/>
              </a:rPr>
              <a:t>.</a:t>
            </a:r>
          </a:p>
        </p:txBody>
      </p:sp>
      <p:sp>
        <p:nvSpPr>
          <p:cNvPr id="562" name="Shape 13"/>
          <p:cNvSpPr/>
          <p:nvPr/>
        </p:nvSpPr>
        <p:spPr>
          <a:xfrm>
            <a:off x="868680" y="2931414"/>
            <a:ext cx="2240280" cy="1783083"/>
          </a:xfrm>
          <a:prstGeom prst="roundRect">
            <a:avLst>
              <a:gd name="adj" fmla="val 6154"/>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63" name="Text 14"/>
          <p:cNvSpPr txBox="1"/>
          <p:nvPr/>
        </p:nvSpPr>
        <p:spPr>
          <a:xfrm>
            <a:off x="868680" y="3169155"/>
            <a:ext cx="2240280"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통합 입력</a:t>
            </a:r>
          </a:p>
        </p:txBody>
      </p:sp>
      <p:sp>
        <p:nvSpPr>
          <p:cNvPr id="564" name="Text 15"/>
          <p:cNvSpPr txBox="1"/>
          <p:nvPr/>
        </p:nvSpPr>
        <p:spPr>
          <a:xfrm>
            <a:off x="1033272" y="3608070"/>
            <a:ext cx="1911096" cy="978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500">
                <a:solidFill>
                  <a:srgbClr val="364153"/>
                </a:solidFill>
                <a:latin typeface="Noto Sans CJK KR"/>
                <a:ea typeface="Noto Sans CJK KR"/>
                <a:cs typeface="Noto Sans CJK KR"/>
                <a:sym typeface="Noto Sans CJK KR"/>
              </a:defRPr>
            </a:pPr>
            <a:r>
              <a:t>예: 수요일 10:30</a:t>
            </a:r>
            <a:endParaRPr>
              <a:solidFill>
                <a:srgbClr val="334155"/>
              </a:solidFill>
              <a:latin typeface="맑은 고딕"/>
              <a:ea typeface="맑은 고딕"/>
              <a:cs typeface="맑은 고딕"/>
              <a:sym typeface="맑은 고딕"/>
            </a:endParaRPr>
          </a:p>
          <a:p>
            <a:pPr algn="ctr">
              <a:defRPr sz="1500">
                <a:solidFill>
                  <a:srgbClr val="364153"/>
                </a:solidFill>
                <a:latin typeface="Noto Sans CJK KR"/>
                <a:ea typeface="Noto Sans CJK KR"/>
                <a:cs typeface="Noto Sans CJK KR"/>
                <a:sym typeface="Noto Sans CJK KR"/>
              </a:defRPr>
            </a:pPr>
            <a:r>
              <a:t>가천관 · 공부</a:t>
            </a:r>
          </a:p>
        </p:txBody>
      </p:sp>
      <p:sp>
        <p:nvSpPr>
          <p:cNvPr id="565" name="Shape 16"/>
          <p:cNvSpPr/>
          <p:nvPr/>
        </p:nvSpPr>
        <p:spPr>
          <a:xfrm>
            <a:off x="3137535" y="3842002"/>
            <a:ext cx="301755" cy="3"/>
          </a:xfrm>
          <a:prstGeom prst="line">
            <a:avLst/>
          </a:prstGeom>
          <a:ln w="25400">
            <a:solidFill>
              <a:srgbClr val="2563EB"/>
            </a:solidFill>
          </a:ln>
        </p:spPr>
        <p:txBody>
          <a:bodyPr lIns="45718" tIns="45718" rIns="45718" bIns="45718"/>
          <a:lstStyle/>
          <a:p>
            <a:endParaRPr/>
          </a:p>
        </p:txBody>
      </p:sp>
      <p:sp>
        <p:nvSpPr>
          <p:cNvPr id="566" name="Shape 17"/>
          <p:cNvSpPr/>
          <p:nvPr/>
        </p:nvSpPr>
        <p:spPr>
          <a:xfrm>
            <a:off x="3474720" y="2931414"/>
            <a:ext cx="2240280" cy="1783083"/>
          </a:xfrm>
          <a:prstGeom prst="roundRect">
            <a:avLst>
              <a:gd name="adj" fmla="val 6154"/>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67" name="Text 18"/>
          <p:cNvSpPr txBox="1"/>
          <p:nvPr/>
        </p:nvSpPr>
        <p:spPr>
          <a:xfrm>
            <a:off x="3474720" y="3169155"/>
            <a:ext cx="2240280"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시간 분석</a:t>
            </a:r>
          </a:p>
        </p:txBody>
      </p:sp>
      <p:sp>
        <p:nvSpPr>
          <p:cNvPr id="568" name="Text 19"/>
          <p:cNvSpPr txBox="1"/>
          <p:nvPr/>
        </p:nvSpPr>
        <p:spPr>
          <a:xfrm>
            <a:off x="3639310" y="3608070"/>
            <a:ext cx="1911096" cy="978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500">
                <a:solidFill>
                  <a:srgbClr val="334155"/>
                </a:solidFill>
                <a:latin typeface="맑은 고딕"/>
                <a:ea typeface="맑은 고딕"/>
                <a:cs typeface="맑은 고딕"/>
                <a:sym typeface="맑은 고딕"/>
              </a:defRPr>
            </a:pPr>
            <a:r>
              <a:t>공강 여부</a:t>
            </a:r>
          </a:p>
          <a:p>
            <a:pPr algn="ctr">
              <a:defRPr sz="1500">
                <a:solidFill>
                  <a:srgbClr val="334155"/>
                </a:solidFill>
                <a:latin typeface="맑은 고딕"/>
                <a:ea typeface="맑은 고딕"/>
                <a:cs typeface="맑은 고딕"/>
                <a:sym typeface="맑은 고딕"/>
              </a:defRPr>
            </a:pPr>
            <a:r>
              <a:t>추천 가능 시간 계산</a:t>
            </a:r>
          </a:p>
        </p:txBody>
      </p:sp>
      <p:sp>
        <p:nvSpPr>
          <p:cNvPr id="569" name="Shape 20"/>
          <p:cNvSpPr/>
          <p:nvPr/>
        </p:nvSpPr>
        <p:spPr>
          <a:xfrm>
            <a:off x="5743575" y="3842002"/>
            <a:ext cx="301753" cy="3"/>
          </a:xfrm>
          <a:prstGeom prst="line">
            <a:avLst/>
          </a:prstGeom>
          <a:ln w="25400">
            <a:solidFill>
              <a:srgbClr val="2563EB"/>
            </a:solidFill>
          </a:ln>
        </p:spPr>
        <p:txBody>
          <a:bodyPr lIns="45718" tIns="45718" rIns="45718" bIns="45718"/>
          <a:lstStyle/>
          <a:p>
            <a:endParaRPr/>
          </a:p>
        </p:txBody>
      </p:sp>
      <p:sp>
        <p:nvSpPr>
          <p:cNvPr id="570" name="Shape 21"/>
          <p:cNvSpPr/>
          <p:nvPr/>
        </p:nvSpPr>
        <p:spPr>
          <a:xfrm>
            <a:off x="6080759" y="2931414"/>
            <a:ext cx="2240283" cy="1783083"/>
          </a:xfrm>
          <a:prstGeom prst="roundRect">
            <a:avLst>
              <a:gd name="adj" fmla="val 6154"/>
            </a:avLst>
          </a:prstGeom>
          <a:solidFill>
            <a:srgbClr val="EFF6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71" name="Text 22"/>
          <p:cNvSpPr txBox="1"/>
          <p:nvPr/>
        </p:nvSpPr>
        <p:spPr>
          <a:xfrm>
            <a:off x="6080759" y="3169155"/>
            <a:ext cx="2240283" cy="384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lnSpc>
                <a:spcPct val="90000"/>
              </a:lnSpc>
              <a:defRPr b="1">
                <a:solidFill>
                  <a:srgbClr val="102033"/>
                </a:solidFill>
                <a:latin typeface="맑은 고딕"/>
                <a:ea typeface="맑은 고딕"/>
                <a:cs typeface="맑은 고딕"/>
                <a:sym typeface="맑은 고딕"/>
              </a:defRPr>
            </a:pPr>
            <a:r>
              <a:t>경로</a:t>
            </a:r>
            <a:r>
              <a:rPr>
                <a:latin typeface="Noto Sans CJK KR"/>
                <a:ea typeface="Noto Sans CJK KR"/>
                <a:cs typeface="Noto Sans CJK KR"/>
                <a:sym typeface="Noto Sans CJK KR"/>
              </a:rPr>
              <a:t>·</a:t>
            </a:r>
            <a:r>
              <a:t>혼잡도 계산</a:t>
            </a:r>
          </a:p>
        </p:txBody>
      </p:sp>
      <p:sp>
        <p:nvSpPr>
          <p:cNvPr id="572" name="Text 23"/>
          <p:cNvSpPr txBox="1"/>
          <p:nvPr/>
        </p:nvSpPr>
        <p:spPr>
          <a:xfrm>
            <a:off x="6245352" y="3608070"/>
            <a:ext cx="1911097" cy="978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500">
                <a:solidFill>
                  <a:srgbClr val="334155"/>
                </a:solidFill>
                <a:latin typeface="맑은 고딕"/>
                <a:ea typeface="맑은 고딕"/>
                <a:cs typeface="맑은 고딕"/>
                <a:sym typeface="맑은 고딕"/>
              </a:defRPr>
            </a:pPr>
            <a:r>
              <a:t>이동시간과 대기시간 </a:t>
            </a:r>
          </a:p>
          <a:p>
            <a:pPr algn="ctr">
              <a:defRPr sz="1500">
                <a:solidFill>
                  <a:srgbClr val="334155"/>
                </a:solidFill>
                <a:latin typeface="맑은 고딕"/>
                <a:ea typeface="맑은 고딕"/>
                <a:cs typeface="맑은 고딕"/>
                <a:sym typeface="맑은 고딕"/>
              </a:defRPr>
            </a:pPr>
            <a:r>
              <a:t>산출</a:t>
            </a:r>
          </a:p>
        </p:txBody>
      </p:sp>
      <p:sp>
        <p:nvSpPr>
          <p:cNvPr id="573" name="Shape 24"/>
          <p:cNvSpPr/>
          <p:nvPr/>
        </p:nvSpPr>
        <p:spPr>
          <a:xfrm>
            <a:off x="8349615" y="3842002"/>
            <a:ext cx="301755" cy="3"/>
          </a:xfrm>
          <a:prstGeom prst="line">
            <a:avLst/>
          </a:prstGeom>
          <a:ln w="25400">
            <a:solidFill>
              <a:srgbClr val="2563EB"/>
            </a:solidFill>
          </a:ln>
        </p:spPr>
        <p:txBody>
          <a:bodyPr lIns="45718" tIns="45718" rIns="45718" bIns="45718"/>
          <a:lstStyle/>
          <a:p>
            <a:endParaRPr/>
          </a:p>
        </p:txBody>
      </p:sp>
      <p:sp>
        <p:nvSpPr>
          <p:cNvPr id="574" name="Shape 25"/>
          <p:cNvSpPr/>
          <p:nvPr/>
        </p:nvSpPr>
        <p:spPr>
          <a:xfrm>
            <a:off x="8686800" y="2931414"/>
            <a:ext cx="2240280" cy="1783083"/>
          </a:xfrm>
          <a:prstGeom prst="roundRect">
            <a:avLst>
              <a:gd name="adj" fmla="val 6154"/>
            </a:avLst>
          </a:prstGeom>
          <a:solidFill>
            <a:srgbClr val="FFFFFF"/>
          </a:solidFill>
          <a:ln w="10160">
            <a:solidFill>
              <a:srgbClr val="D8E3ED"/>
            </a:solidFill>
          </a:ln>
        </p:spPr>
        <p:txBody>
          <a:bodyPr lIns="0" tIns="0" rIns="0" bIns="0"/>
          <a:lstStyle/>
          <a:p>
            <a:pPr>
              <a:defRPr>
                <a:latin typeface="Malgun Gothic"/>
                <a:ea typeface="Malgun Gothic"/>
                <a:cs typeface="Malgun Gothic"/>
                <a:sym typeface="Malgun Gothic"/>
              </a:defRPr>
            </a:pPr>
            <a:endParaRPr/>
          </a:p>
        </p:txBody>
      </p:sp>
      <p:sp>
        <p:nvSpPr>
          <p:cNvPr id="575" name="Text 26"/>
          <p:cNvSpPr txBox="1"/>
          <p:nvPr/>
        </p:nvSpPr>
        <p:spPr>
          <a:xfrm>
            <a:off x="8686800" y="3169155"/>
            <a:ext cx="2240280"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lgn="ctr">
              <a:defRPr b="1">
                <a:solidFill>
                  <a:srgbClr val="102033"/>
                </a:solidFill>
                <a:latin typeface="Noto Sans CJK KR"/>
                <a:ea typeface="Noto Sans CJK KR"/>
                <a:cs typeface="Noto Sans CJK KR"/>
                <a:sym typeface="Noto Sans CJK KR"/>
              </a:defRPr>
            </a:pPr>
            <a:r>
              <a:t>TOP 3 </a:t>
            </a:r>
            <a:r>
              <a:rPr>
                <a:latin typeface="맑은 고딕"/>
                <a:ea typeface="맑은 고딕"/>
                <a:cs typeface="맑은 고딕"/>
                <a:sym typeface="맑은 고딕"/>
              </a:rPr>
              <a:t>출력</a:t>
            </a:r>
          </a:p>
        </p:txBody>
      </p:sp>
      <p:sp>
        <p:nvSpPr>
          <p:cNvPr id="576" name="Text 27"/>
          <p:cNvSpPr txBox="1"/>
          <p:nvPr/>
        </p:nvSpPr>
        <p:spPr>
          <a:xfrm>
            <a:off x="8851392" y="3608070"/>
            <a:ext cx="1911097" cy="978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500">
                <a:solidFill>
                  <a:srgbClr val="334155"/>
                </a:solidFill>
                <a:latin typeface="맑은 고딕"/>
                <a:ea typeface="맑은 고딕"/>
                <a:cs typeface="맑은 고딕"/>
                <a:sym typeface="맑은 고딕"/>
              </a:defRPr>
            </a:pPr>
            <a:r>
              <a:t>장소</a:t>
            </a:r>
            <a:r>
              <a:rPr>
                <a:latin typeface="Noto Sans CJK KR"/>
                <a:ea typeface="Noto Sans CJK KR"/>
                <a:cs typeface="Noto Sans CJK KR"/>
                <a:sym typeface="Noto Sans CJK KR"/>
              </a:rPr>
              <a:t>·</a:t>
            </a:r>
            <a:r>
              <a:t>점수</a:t>
            </a:r>
          </a:p>
          <a:p>
            <a:pPr algn="ctr">
              <a:defRPr sz="1500">
                <a:solidFill>
                  <a:srgbClr val="334155"/>
                </a:solidFill>
                <a:latin typeface="맑은 고딕"/>
                <a:ea typeface="맑은 고딕"/>
                <a:cs typeface="맑은 고딕"/>
                <a:sym typeface="맑은 고딕"/>
              </a:defRPr>
            </a:pPr>
            <a:r>
              <a:t>이동</a:t>
            </a:r>
            <a:r>
              <a:rPr>
                <a:latin typeface="Noto Sans CJK KR"/>
                <a:ea typeface="Noto Sans CJK KR"/>
                <a:cs typeface="Noto Sans CJK KR"/>
                <a:sym typeface="Noto Sans CJK KR"/>
              </a:rPr>
              <a:t>/</a:t>
            </a:r>
            <a:r>
              <a:t>대기시간 확인</a:t>
            </a:r>
          </a:p>
        </p:txBody>
      </p:sp>
      <p:sp>
        <p:nvSpPr>
          <p:cNvPr id="577" name="Text 28"/>
          <p:cNvSpPr txBox="1"/>
          <p:nvPr/>
        </p:nvSpPr>
        <p:spPr>
          <a:xfrm>
            <a:off x="914399" y="5335523"/>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defTabSz="886966">
              <a:defRPr sz="1700" b="1">
                <a:solidFill>
                  <a:srgbClr val="364153"/>
                </a:solidFill>
                <a:latin typeface="Noto Sans CJK KR"/>
                <a:ea typeface="Noto Sans CJK KR"/>
                <a:cs typeface="Noto Sans CJK KR"/>
                <a:sym typeface="Noto Sans CJK KR"/>
              </a:defRPr>
            </a:lvl1pPr>
          </a:lstStyle>
          <a:p>
            <a:r>
              <a:t>검증 케이스 | 공강 중·수업 중·첫 수업 전·마지막 수업 후 + 화/수/목/금 시나리오 경로 검증</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580"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581"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DEMO</a:t>
            </a:r>
          </a:p>
        </p:txBody>
      </p:sp>
      <p:sp>
        <p:nvSpPr>
          <p:cNvPr id="582"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18</a:t>
            </a:r>
          </a:p>
        </p:txBody>
      </p:sp>
      <p:sp>
        <p:nvSpPr>
          <p:cNvPr id="583"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584"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585"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586"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맑은 고딕"/>
                <a:ea typeface="맑은 고딕"/>
                <a:cs typeface="맑은 고딕"/>
                <a:sym typeface="맑은 고딕"/>
              </a:rPr>
              <a:t>공강 플래너</a:t>
            </a:r>
          </a:p>
        </p:txBody>
      </p:sp>
      <p:sp>
        <p:nvSpPr>
          <p:cNvPr id="587"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588" name="Shape 9"/>
          <p:cNvSpPr/>
          <p:nvPr/>
        </p:nvSpPr>
        <p:spPr>
          <a:xfrm>
            <a:off x="758951" y="813816"/>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589" name="Text 10"/>
          <p:cNvSpPr txBox="1"/>
          <p:nvPr/>
        </p:nvSpPr>
        <p:spPr>
          <a:xfrm>
            <a:off x="859536" y="868860"/>
            <a:ext cx="12801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DEMO</a:t>
            </a:r>
          </a:p>
        </p:txBody>
      </p:sp>
      <p:sp>
        <p:nvSpPr>
          <p:cNvPr id="590" name="Text 11"/>
          <p:cNvSpPr txBox="1"/>
          <p:nvPr/>
        </p:nvSpPr>
        <p:spPr>
          <a:xfrm>
            <a:off x="2660648" y="749805"/>
            <a:ext cx="6858004" cy="4754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nSpc>
                <a:spcPct val="90000"/>
              </a:lnSpc>
              <a:defRPr sz="2000" b="1">
                <a:solidFill>
                  <a:srgbClr val="0F172A"/>
                </a:solidFill>
                <a:latin typeface="Noto Sans CJK KR"/>
                <a:ea typeface="Noto Sans CJK KR"/>
                <a:cs typeface="Noto Sans CJK KR"/>
                <a:sym typeface="Noto Sans CJK KR"/>
              </a:defRPr>
            </a:lvl1pPr>
          </a:lstStyle>
          <a:p>
            <a:r>
              <a:t>프로토타입 시연 : Streamlit 실행 화면</a:t>
            </a:r>
          </a:p>
        </p:txBody>
      </p:sp>
      <p:sp>
        <p:nvSpPr>
          <p:cNvPr id="3" name="TextBox 2">
            <a:extLst>
              <a:ext uri="{FF2B5EF4-FFF2-40B4-BE49-F238E27FC236}">
                <a16:creationId xmlns:a16="http://schemas.microsoft.com/office/drawing/2014/main" id="{C98AEDA0-5180-D690-0CE6-7905E09B6F17}"/>
              </a:ext>
            </a:extLst>
          </p:cNvPr>
          <p:cNvSpPr txBox="1"/>
          <p:nvPr/>
        </p:nvSpPr>
        <p:spPr>
          <a:xfrm>
            <a:off x="758951" y="1899088"/>
            <a:ext cx="610292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ko-KR" altLang="en-US" sz="1800" b="0" i="0" spc="0" baseline="0" dirty="0">
                <a:ln>
                  <a:noFill/>
                </a:ln>
                <a:solidFill>
                  <a:srgbClr val="000000"/>
                </a:solidFill>
                <a:effectLst/>
                <a:latin typeface="Helvetica" panose="020B0604020202020204" pitchFamily="34" charset="0"/>
                <a:ea typeface="Helvetica" panose="020B0604020202020204" pitchFamily="34" charset="0"/>
                <a:cs typeface="Helvetica" panose="020B0604020202020204" pitchFamily="34" charset="0"/>
              </a:rPr>
              <a:t>시연 영상 링크 </a:t>
            </a:r>
            <a:r>
              <a:rPr lang="en-US" altLang="ko-KR" sz="1800" b="0" i="0" spc="0" baseline="0" dirty="0">
                <a:ln>
                  <a:noFill/>
                </a:ln>
                <a:solidFill>
                  <a:srgbClr val="000000"/>
                </a:solidFill>
                <a:effectLst/>
                <a:latin typeface="Helvetica" panose="020B0604020202020204" pitchFamily="34" charset="0"/>
                <a:ea typeface="Helvetica" panose="020B0604020202020204" pitchFamily="34" charset="0"/>
                <a:cs typeface="Helvetica" panose="020B0604020202020204" pitchFamily="34" charset="0"/>
              </a:rPr>
              <a:t>:</a:t>
            </a:r>
            <a:endParaRPr lang="ko-KR" altLang="en-US" dirty="0"/>
          </a:p>
        </p:txBody>
      </p:sp>
      <p:sp>
        <p:nvSpPr>
          <p:cNvPr id="4" name="TextBox 3">
            <a:extLst>
              <a:ext uri="{FF2B5EF4-FFF2-40B4-BE49-F238E27FC236}">
                <a16:creationId xmlns:a16="http://schemas.microsoft.com/office/drawing/2014/main" id="{D484C9F9-4827-C7BD-EF29-B94F2D166626}"/>
              </a:ext>
            </a:extLst>
          </p:cNvPr>
          <p:cNvSpPr txBox="1"/>
          <p:nvPr/>
        </p:nvSpPr>
        <p:spPr>
          <a:xfrm>
            <a:off x="658368" y="3051937"/>
            <a:ext cx="610292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indent="0" algn="l" rtl="0" fontAlgn="auto" latinLnBrk="0" hangingPunct="0">
              <a:buNone/>
            </a:pPr>
            <a:r>
              <a:rPr lang="ko-KR" altLang="en-US" sz="1800" b="0" i="0" spc="0" baseline="0" dirty="0">
                <a:ln>
                  <a:noFill/>
                </a:ln>
                <a:solidFill>
                  <a:srgbClr val="000000"/>
                </a:solidFill>
                <a:effectLst/>
                <a:latin typeface="Helvetica" panose="020B0604020202020204" pitchFamily="34" charset="0"/>
                <a:ea typeface="Helvetica" panose="020B0604020202020204" pitchFamily="34" charset="0"/>
                <a:cs typeface="Helvetica" panose="020B0604020202020204" pitchFamily="34" charset="0"/>
              </a:rPr>
              <a:t>스트림 웹 사이트 </a:t>
            </a:r>
            <a:r>
              <a:rPr lang="en-US" altLang="ko-KR" sz="1800" b="0" i="0" spc="0" baseline="0" dirty="0">
                <a:ln>
                  <a:noFill/>
                </a:ln>
                <a:solidFill>
                  <a:srgbClr val="000000"/>
                </a:solidFill>
                <a:effectLst/>
                <a:latin typeface="Helvetica" panose="020B0604020202020204" pitchFamily="34" charset="0"/>
                <a:ea typeface="Helvetica" panose="020B0604020202020204" pitchFamily="34" charset="0"/>
                <a:cs typeface="Helvetica" panose="020B0604020202020204" pitchFamily="34" charset="0"/>
              </a:rPr>
              <a:t>:</a:t>
            </a:r>
            <a:endParaRPr lang="ko-KR" altLang="ko-KR" dirty="0">
              <a:effectLst/>
            </a:endParaRPr>
          </a:p>
        </p:txBody>
      </p:sp>
      <p:sp>
        <p:nvSpPr>
          <p:cNvPr id="6" name="TextBox 5">
            <a:extLst>
              <a:ext uri="{FF2B5EF4-FFF2-40B4-BE49-F238E27FC236}">
                <a16:creationId xmlns:a16="http://schemas.microsoft.com/office/drawing/2014/main" id="{6682C089-CFF9-E71D-4597-70254DBF5EFC}"/>
              </a:ext>
            </a:extLst>
          </p:cNvPr>
          <p:cNvSpPr txBox="1"/>
          <p:nvPr/>
        </p:nvSpPr>
        <p:spPr>
          <a:xfrm>
            <a:off x="786384" y="3452504"/>
            <a:ext cx="6102926"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ko-KR" altLang="ko-KR" sz="1800" b="0" i="0" spc="0" baseline="0" dirty="0">
                <a:ln>
                  <a:noFill/>
                </a:ln>
                <a:solidFill>
                  <a:srgbClr val="000000"/>
                </a:solidFill>
                <a:effectLst/>
                <a:latin typeface="Helvetica" panose="020B0604020202020204" pitchFamily="34" charset="0"/>
                <a:ea typeface="Helvetica" panose="020B0604020202020204" pitchFamily="34" charset="0"/>
                <a:cs typeface="Helvetica" panose="020B0604020202020204" pitchFamily="34" charset="0"/>
              </a:rPr>
              <a:t>https://algorithm-project-gonggang-planner</a:t>
            </a:r>
            <a:r>
              <a:rPr lang="en-US" altLang="ko-KR" sz="1800" b="0" i="0" spc="0" baseline="0" dirty="0">
                <a:ln>
                  <a:noFill/>
                </a:ln>
                <a:solidFill>
                  <a:srgbClr val="000000"/>
                </a:solidFill>
                <a:effectLst/>
                <a:latin typeface="Helvetica" panose="020B0604020202020204" pitchFamily="34" charset="0"/>
                <a:ea typeface="Helvetica" panose="020B0604020202020204" pitchFamily="34" charset="0"/>
                <a:cs typeface="Helvetica" panose="020B0604020202020204" pitchFamily="34" charset="0"/>
              </a:rPr>
              <a:t>-</a:t>
            </a:r>
            <a:r>
              <a:rPr lang="ko-KR" altLang="ko-KR" sz="1800" b="0" i="0" spc="0" baseline="0" dirty="0">
                <a:ln>
                  <a:noFill/>
                </a:ln>
                <a:solidFill>
                  <a:srgbClr val="000000"/>
                </a:solidFill>
                <a:effectLst/>
                <a:latin typeface="Helvetica" panose="020B0604020202020204" pitchFamily="34" charset="0"/>
                <a:ea typeface="Helvetica" panose="020B0604020202020204" pitchFamily="34" charset="0"/>
                <a:cs typeface="Helvetica" panose="020B0604020202020204" pitchFamily="34" charset="0"/>
              </a:rPr>
              <a:t>fgz6mblyh4evamb3ofqczp.streamlit.app</a:t>
            </a:r>
            <a:endParaRPr lang="ko-KR" altLang="en-US" dirty="0"/>
          </a:p>
        </p:txBody>
      </p:sp>
      <p:sp>
        <p:nvSpPr>
          <p:cNvPr id="8" name="TextBox 7">
            <a:extLst>
              <a:ext uri="{FF2B5EF4-FFF2-40B4-BE49-F238E27FC236}">
                <a16:creationId xmlns:a16="http://schemas.microsoft.com/office/drawing/2014/main" id="{CFEC77B3-1B5D-F465-0A15-4E5A18EFD80D}"/>
              </a:ext>
            </a:extLst>
          </p:cNvPr>
          <p:cNvSpPr txBox="1"/>
          <p:nvPr/>
        </p:nvSpPr>
        <p:spPr>
          <a:xfrm>
            <a:off x="786384" y="2290846"/>
            <a:ext cx="610292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ko-KR" altLang="ko-KR" sz="1800" b="0" i="0" spc="0" baseline="0" dirty="0">
                <a:ln>
                  <a:noFill/>
                </a:ln>
                <a:solidFill>
                  <a:srgbClr val="000000"/>
                </a:solidFill>
                <a:effectLst/>
                <a:latin typeface="Helvetica" panose="020B0604020202020204" pitchFamily="34" charset="0"/>
                <a:ea typeface="Helvetica" panose="020B0604020202020204" pitchFamily="34" charset="0"/>
                <a:cs typeface="Helvetica" panose="020B0604020202020204" pitchFamily="34" charset="0"/>
              </a:rPr>
              <a:t>https://youtu.be/ZK1BqYZO-Pc</a:t>
            </a:r>
            <a:endParaRPr lang="ko-KR" altLang="en-US" dirty="0"/>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594"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595"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IMPACT</a:t>
            </a:r>
          </a:p>
        </p:txBody>
      </p:sp>
      <p:sp>
        <p:nvSpPr>
          <p:cNvPr id="596"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19</a:t>
            </a:r>
          </a:p>
        </p:txBody>
      </p:sp>
      <p:sp>
        <p:nvSpPr>
          <p:cNvPr id="597"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598"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599"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600"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601"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602" name="Shape 9"/>
          <p:cNvSpPr/>
          <p:nvPr/>
        </p:nvSpPr>
        <p:spPr>
          <a:xfrm>
            <a:off x="758951" y="813816"/>
            <a:ext cx="148132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603" name="Text 10"/>
          <p:cNvSpPr txBox="1"/>
          <p:nvPr/>
        </p:nvSpPr>
        <p:spPr>
          <a:xfrm>
            <a:off x="859536" y="886966"/>
            <a:ext cx="128016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IMPACT</a:t>
            </a:r>
          </a:p>
        </p:txBody>
      </p:sp>
      <p:sp>
        <p:nvSpPr>
          <p:cNvPr id="604" name="Text 11"/>
          <p:cNvSpPr txBox="1"/>
          <p:nvPr/>
        </p:nvSpPr>
        <p:spPr>
          <a:xfrm>
            <a:off x="758951" y="1472183"/>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defTabSz="841247">
              <a:defRPr sz="2800" b="1">
                <a:solidFill>
                  <a:srgbClr val="102033"/>
                </a:solidFill>
                <a:latin typeface="Malgun Gothic"/>
                <a:ea typeface="Malgun Gothic"/>
                <a:cs typeface="Malgun Gothic"/>
                <a:sym typeface="Malgun Gothic"/>
              </a:defRPr>
            </a:lvl1pPr>
          </a:lstStyle>
          <a:p>
            <a:r>
              <a:t>기대 효과와 한계점</a:t>
            </a:r>
          </a:p>
        </p:txBody>
      </p:sp>
      <p:sp>
        <p:nvSpPr>
          <p:cNvPr id="605" name="Text 12"/>
          <p:cNvSpPr txBox="1"/>
          <p:nvPr/>
        </p:nvSpPr>
        <p:spPr>
          <a:xfrm>
            <a:off x="758951" y="2002533"/>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Malgun Gothic"/>
                <a:ea typeface="Malgun Gothic"/>
                <a:cs typeface="Malgun Gothic"/>
                <a:sym typeface="Malgun Gothic"/>
              </a:defRPr>
            </a:pPr>
            <a:r>
              <a:t>프로토타입의 의미와 개선 방향을 함께 제시합니다</a:t>
            </a:r>
            <a:r>
              <a:rPr>
                <a:latin typeface="Noto Sans CJK KR"/>
                <a:ea typeface="Noto Sans CJK KR"/>
                <a:cs typeface="Noto Sans CJK KR"/>
                <a:sym typeface="Noto Sans CJK KR"/>
              </a:rPr>
              <a:t>.</a:t>
            </a:r>
          </a:p>
        </p:txBody>
      </p:sp>
      <p:sp>
        <p:nvSpPr>
          <p:cNvPr id="606" name="Shape 13"/>
          <p:cNvSpPr/>
          <p:nvPr/>
        </p:nvSpPr>
        <p:spPr>
          <a:xfrm>
            <a:off x="1371600" y="2710569"/>
            <a:ext cx="4389121" cy="2148841"/>
          </a:xfrm>
          <a:prstGeom prst="roundRect">
            <a:avLst>
              <a:gd name="adj" fmla="val 5106"/>
            </a:avLst>
          </a:prstGeom>
          <a:solidFill>
            <a:srgbClr val="EFF6FF"/>
          </a:solidFill>
          <a:ln w="10160">
            <a:solidFill>
              <a:srgbClr val="D8E3ED"/>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607" name="Text 14"/>
          <p:cNvSpPr txBox="1"/>
          <p:nvPr/>
        </p:nvSpPr>
        <p:spPr>
          <a:xfrm>
            <a:off x="1536191" y="3085470"/>
            <a:ext cx="4059938"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기대 효과</a:t>
            </a:r>
          </a:p>
        </p:txBody>
      </p:sp>
      <p:sp>
        <p:nvSpPr>
          <p:cNvPr id="608" name="Text 15"/>
          <p:cNvSpPr txBox="1"/>
          <p:nvPr/>
        </p:nvSpPr>
        <p:spPr>
          <a:xfrm>
            <a:off x="1371600" y="3285625"/>
            <a:ext cx="4389121" cy="13441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400">
                <a:solidFill>
                  <a:srgbClr val="334155"/>
                </a:solidFill>
                <a:latin typeface="맑은 고딕"/>
                <a:ea typeface="맑은 고딕"/>
                <a:cs typeface="맑은 고딕"/>
                <a:sym typeface="맑은 고딕"/>
              </a:defRPr>
            </a:pPr>
            <a:r>
              <a:t>공강 때 직접 비교하던 시간을 줄이고</a:t>
            </a:r>
          </a:p>
          <a:p>
            <a:pPr algn="ctr">
              <a:defRPr sz="1400">
                <a:solidFill>
                  <a:srgbClr val="334155"/>
                </a:solidFill>
                <a:latin typeface="맑은 고딕"/>
                <a:ea typeface="맑은 고딕"/>
                <a:cs typeface="맑은 고딕"/>
                <a:sym typeface="맑은 고딕"/>
              </a:defRPr>
            </a:pPr>
            <a:r>
              <a:t>다음 수업까지 돌아올 수 있는 선택지를 제공합니다</a:t>
            </a:r>
            <a:r>
              <a:rPr>
                <a:latin typeface="Noto Sans CJK KR"/>
                <a:ea typeface="Noto Sans CJK KR"/>
                <a:cs typeface="Noto Sans CJK KR"/>
                <a:sym typeface="Noto Sans CJK KR"/>
              </a:rPr>
              <a:t>.</a:t>
            </a:r>
          </a:p>
        </p:txBody>
      </p:sp>
      <p:sp>
        <p:nvSpPr>
          <p:cNvPr id="609" name="Shape 16"/>
          <p:cNvSpPr/>
          <p:nvPr/>
        </p:nvSpPr>
        <p:spPr>
          <a:xfrm>
            <a:off x="6355079" y="2710569"/>
            <a:ext cx="4389121" cy="2148841"/>
          </a:xfrm>
          <a:prstGeom prst="roundRect">
            <a:avLst>
              <a:gd name="adj" fmla="val 5106"/>
            </a:avLst>
          </a:prstGeom>
          <a:solidFill>
            <a:srgbClr val="FFFFFF"/>
          </a:solidFill>
          <a:ln w="10160">
            <a:solidFill>
              <a:srgbClr val="D8E3ED"/>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610" name="Text 17"/>
          <p:cNvSpPr txBox="1"/>
          <p:nvPr/>
        </p:nvSpPr>
        <p:spPr>
          <a:xfrm>
            <a:off x="6519671" y="3085470"/>
            <a:ext cx="4059938"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b="1">
                <a:solidFill>
                  <a:srgbClr val="102033"/>
                </a:solidFill>
                <a:latin typeface="맑은 고딕"/>
                <a:ea typeface="맑은 고딕"/>
                <a:cs typeface="맑은 고딕"/>
                <a:sym typeface="맑은 고딕"/>
              </a:defRPr>
            </a:lvl1pPr>
          </a:lstStyle>
          <a:p>
            <a:r>
              <a:t>한계점</a:t>
            </a:r>
          </a:p>
        </p:txBody>
      </p:sp>
      <p:sp>
        <p:nvSpPr>
          <p:cNvPr id="611" name="Text 18"/>
          <p:cNvSpPr txBox="1"/>
          <p:nvPr/>
        </p:nvSpPr>
        <p:spPr>
          <a:xfrm>
            <a:off x="6355079" y="3272925"/>
            <a:ext cx="4389121" cy="13441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400">
                <a:solidFill>
                  <a:srgbClr val="364153"/>
                </a:solidFill>
                <a:latin typeface="Noto Sans CJK KR"/>
                <a:ea typeface="Noto Sans CJK KR"/>
                <a:cs typeface="Noto Sans CJK KR"/>
                <a:sym typeface="Noto Sans CJK KR"/>
              </a:defRPr>
            </a:pPr>
            <a:r>
              <a:t>실시간 혼잡도·운영시간 API 미연동</a:t>
            </a:r>
            <a:endParaRPr>
              <a:solidFill>
                <a:srgbClr val="334155"/>
              </a:solidFill>
              <a:latin typeface="맑은 고딕"/>
              <a:ea typeface="맑은 고딕"/>
              <a:cs typeface="맑은 고딕"/>
              <a:sym typeface="맑은 고딕"/>
            </a:endParaRPr>
          </a:p>
          <a:p>
            <a:pPr algn="ctr">
              <a:defRPr sz="1400">
                <a:solidFill>
                  <a:srgbClr val="364153"/>
                </a:solidFill>
                <a:latin typeface="Noto Sans CJK KR"/>
                <a:ea typeface="Noto Sans CJK KR"/>
                <a:cs typeface="Noto Sans CJK KR"/>
                <a:sym typeface="Noto Sans CJK KR"/>
              </a:defRPr>
            </a:pPr>
            <a:r>
              <a:t>일부 데이터는 샘플 기반이며</a:t>
            </a:r>
          </a:p>
          <a:p>
            <a:pPr algn="ctr">
              <a:defRPr sz="1400">
                <a:solidFill>
                  <a:srgbClr val="364153"/>
                </a:solidFill>
                <a:latin typeface="Noto Sans CJK KR"/>
                <a:ea typeface="Noto Sans CJK KR"/>
                <a:cs typeface="Noto Sans CJK KR"/>
                <a:sym typeface="Noto Sans CJK KR"/>
              </a:defRPr>
            </a:pPr>
            <a:r>
              <a:t>Folium 좌표는 수작업 입력이 필요합니다.</a:t>
            </a:r>
          </a:p>
        </p:txBody>
      </p:sp>
      <p:sp>
        <p:nvSpPr>
          <p:cNvPr id="612" name="Text 19"/>
          <p:cNvSpPr txBox="1"/>
          <p:nvPr/>
        </p:nvSpPr>
        <p:spPr>
          <a:xfrm>
            <a:off x="1249524" y="5489692"/>
            <a:ext cx="9692646"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600" b="1">
                <a:solidFill>
                  <a:srgbClr val="364153"/>
                </a:solidFill>
                <a:latin typeface="Noto Sans CJK KR"/>
                <a:ea typeface="Noto Sans CJK KR"/>
                <a:cs typeface="Noto Sans CJK KR"/>
                <a:sym typeface="Noto Sans CJK KR"/>
              </a:defRPr>
            </a:lvl1pPr>
          </a:lstStyle>
          <a:p>
            <a:r>
              <a:t>향후 발전 방향 | 실시간 혼잡도·운영시간 연동, 캠퍼스 보행 좌표 확장, 사용자 선호 학습, GitHub public 제출</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615"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616"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LESSONS LEARNED</a:t>
            </a:r>
          </a:p>
        </p:txBody>
      </p:sp>
      <p:sp>
        <p:nvSpPr>
          <p:cNvPr id="617"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20</a:t>
            </a:r>
          </a:p>
        </p:txBody>
      </p:sp>
      <p:sp>
        <p:nvSpPr>
          <p:cNvPr id="618"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619"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620"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621"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622"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623" name="Shape 9"/>
          <p:cNvSpPr/>
          <p:nvPr/>
        </p:nvSpPr>
        <p:spPr>
          <a:xfrm>
            <a:off x="758951" y="813816"/>
            <a:ext cx="225856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624" name="Text 10"/>
          <p:cNvSpPr txBox="1"/>
          <p:nvPr/>
        </p:nvSpPr>
        <p:spPr>
          <a:xfrm>
            <a:off x="886967" y="858990"/>
            <a:ext cx="205740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LESSONS LEARNED</a:t>
            </a:r>
          </a:p>
        </p:txBody>
      </p:sp>
      <p:sp>
        <p:nvSpPr>
          <p:cNvPr id="625" name="Text 11"/>
          <p:cNvSpPr txBox="1"/>
          <p:nvPr/>
        </p:nvSpPr>
        <p:spPr>
          <a:xfrm>
            <a:off x="758951" y="1453896"/>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defRPr sz="2800" b="1">
                <a:solidFill>
                  <a:srgbClr val="102033"/>
                </a:solidFill>
                <a:latin typeface="Noto Sans CJK KR"/>
                <a:ea typeface="Noto Sans CJK KR"/>
                <a:cs typeface="Noto Sans CJK KR"/>
                <a:sym typeface="Noto Sans CJK KR"/>
              </a:defRPr>
            </a:pPr>
            <a:r>
              <a:t>Lessons Learned : PMI</a:t>
            </a:r>
          </a:p>
        </p:txBody>
      </p:sp>
      <p:sp>
        <p:nvSpPr>
          <p:cNvPr id="626" name="Text 12"/>
          <p:cNvSpPr txBox="1"/>
          <p:nvPr/>
        </p:nvSpPr>
        <p:spPr>
          <a:xfrm>
            <a:off x="758951" y="1984248"/>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Malgun Gothic"/>
                <a:ea typeface="Malgun Gothic"/>
                <a:cs typeface="Malgun Gothic"/>
                <a:sym typeface="Malgun Gothic"/>
              </a:defRPr>
            </a:pPr>
            <a:r>
              <a:t>팀 작업에서 얻은 점과 아쉬웠던 점</a:t>
            </a:r>
            <a:r>
              <a:rPr>
                <a:latin typeface="Noto Sans CJK KR"/>
                <a:ea typeface="Noto Sans CJK KR"/>
                <a:cs typeface="Noto Sans CJK KR"/>
                <a:sym typeface="Noto Sans CJK KR"/>
              </a:rPr>
              <a:t>, </a:t>
            </a:r>
            <a:r>
              <a:t>흥미로웠던 점을 짧게 정리했습니다</a:t>
            </a:r>
            <a:r>
              <a:rPr>
                <a:latin typeface="Noto Sans CJK KR"/>
                <a:ea typeface="Noto Sans CJK KR"/>
                <a:cs typeface="Noto Sans CJK KR"/>
                <a:sym typeface="Noto Sans CJK KR"/>
              </a:rPr>
              <a:t>.</a:t>
            </a:r>
          </a:p>
        </p:txBody>
      </p:sp>
      <p:sp>
        <p:nvSpPr>
          <p:cNvPr id="627" name="Shape 13"/>
          <p:cNvSpPr/>
          <p:nvPr/>
        </p:nvSpPr>
        <p:spPr>
          <a:xfrm>
            <a:off x="786383" y="2359151"/>
            <a:ext cx="5107280" cy="3775161"/>
          </a:xfrm>
          <a:prstGeom prst="roundRect">
            <a:avLst>
              <a:gd name="adj" fmla="val 5333"/>
            </a:avLst>
          </a:prstGeom>
          <a:solidFill>
            <a:srgbClr val="EFF6FF"/>
          </a:solidFill>
          <a:ln w="10160">
            <a:solidFill>
              <a:srgbClr val="D8E3ED"/>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628" name="Shape 18"/>
          <p:cNvSpPr/>
          <p:nvPr/>
        </p:nvSpPr>
        <p:spPr>
          <a:xfrm>
            <a:off x="6162675" y="2358451"/>
            <a:ext cx="5221605" cy="3786320"/>
          </a:xfrm>
          <a:prstGeom prst="roundRect">
            <a:avLst>
              <a:gd name="adj" fmla="val 5333"/>
            </a:avLst>
          </a:prstGeom>
          <a:solidFill>
            <a:srgbClr val="FFFFFF"/>
          </a:solidFill>
          <a:ln w="10160">
            <a:solidFill>
              <a:srgbClr val="D8E3ED"/>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629" name="Text 14"/>
          <p:cNvSpPr txBox="1"/>
          <p:nvPr/>
        </p:nvSpPr>
        <p:spPr>
          <a:xfrm>
            <a:off x="795019" y="2437557"/>
            <a:ext cx="902905" cy="3017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600" b="1">
                <a:solidFill>
                  <a:srgbClr val="102033"/>
                </a:solidFill>
                <a:latin typeface="맑은 고딕"/>
                <a:ea typeface="맑은 고딕"/>
                <a:cs typeface="맑은 고딕"/>
                <a:sym typeface="맑은 고딕"/>
              </a:defRPr>
            </a:lvl1pPr>
          </a:lstStyle>
          <a:p>
            <a:r>
              <a:t>김희민</a:t>
            </a:r>
          </a:p>
        </p:txBody>
      </p:sp>
      <p:sp>
        <p:nvSpPr>
          <p:cNvPr id="630" name="Text 14"/>
          <p:cNvSpPr txBox="1"/>
          <p:nvPr/>
        </p:nvSpPr>
        <p:spPr>
          <a:xfrm>
            <a:off x="6162675" y="2436714"/>
            <a:ext cx="902904"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600" b="1">
                <a:solidFill>
                  <a:srgbClr val="102033"/>
                </a:solidFill>
                <a:latin typeface="맑은 고딕"/>
                <a:ea typeface="맑은 고딕"/>
                <a:cs typeface="맑은 고딕"/>
                <a:sym typeface="맑은 고딕"/>
              </a:defRPr>
            </a:lvl1pPr>
          </a:lstStyle>
          <a:p>
            <a:r>
              <a:t>전병호</a:t>
            </a:r>
          </a:p>
        </p:txBody>
      </p:sp>
      <p:sp>
        <p:nvSpPr>
          <p:cNvPr id="631" name="Module10Style 20"/>
          <p:cNvSpPr txBox="1"/>
          <p:nvPr/>
        </p:nvSpPr>
        <p:spPr>
          <a:xfrm>
            <a:off x="6336112" y="2957433"/>
            <a:ext cx="4819570" cy="27862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1100">
                <a:solidFill>
                  <a:srgbClr val="2A2A2A"/>
                </a:solidFill>
                <a:latin typeface="+mn-lt"/>
                <a:ea typeface="+mn-ea"/>
                <a:cs typeface="+mn-cs"/>
                <a:sym typeface="Helvetica Neue"/>
              </a:defRPr>
            </a:pPr>
            <a:r>
              <a:t>Plus:</a:t>
            </a:r>
          </a:p>
          <a:p>
            <a:pPr>
              <a:defRPr sz="1100">
                <a:solidFill>
                  <a:srgbClr val="2A2A2A"/>
                </a:solidFill>
                <a:latin typeface="+mn-lt"/>
                <a:ea typeface="+mn-ea"/>
                <a:cs typeface="+mn-cs"/>
                <a:sym typeface="Helvetica Neue"/>
              </a:defRPr>
            </a:pPr>
            <a:r>
              <a:t>다익스트라 알고리즘을 구현하고, folium으로 실제 OpenStreetMap 위에 캠퍼스 경로를 시각화했을 때 예상보다 결과가 잘 나왔던 것이 좋았다. 직접 측정한 보행로 좌표(EDGE_PATHS)를 지도 위에 올리면서 단순 구현을 넘어 실제 데이터를 다루는 경험을 할 수 있었다. 첫 팀 프로젝트에서 각자 역할을 분담하고 공통 가이드라인에 맞춰 협업하는 과정이 실무를 작게나마 경험한 것 같은 좋은 경험이었다.</a:t>
            </a:r>
          </a:p>
          <a:p>
            <a:pPr>
              <a:defRPr sz="1100">
                <a:solidFill>
                  <a:srgbClr val="2A2A2A"/>
                </a:solidFill>
                <a:latin typeface="+mn-lt"/>
                <a:ea typeface="+mn-ea"/>
                <a:cs typeface="+mn-cs"/>
                <a:sym typeface="Helvetica Neue"/>
              </a:defRPr>
            </a:pPr>
            <a:endParaRPr/>
          </a:p>
          <a:p>
            <a:pPr>
              <a:defRPr sz="1100">
                <a:solidFill>
                  <a:srgbClr val="2A2A2A"/>
                </a:solidFill>
                <a:latin typeface="+mn-lt"/>
                <a:ea typeface="+mn-ea"/>
                <a:cs typeface="+mn-cs"/>
                <a:sym typeface="Helvetica Neue"/>
              </a:defRPr>
            </a:pPr>
            <a:r>
              <a:t>Minus: </a:t>
            </a:r>
          </a:p>
          <a:p>
            <a:pPr>
              <a:defRPr sz="1100">
                <a:solidFill>
                  <a:srgbClr val="2A2A2A"/>
                </a:solidFill>
                <a:latin typeface="+mn-lt"/>
                <a:ea typeface="+mn-ea"/>
                <a:cs typeface="+mn-cs"/>
                <a:sym typeface="Helvetica Neue"/>
              </a:defRPr>
            </a:pPr>
            <a:r>
              <a:t>folium으로 실제 OpenStreetMap 위에 캠퍼스 경로를 시각화 작업을 할 때 일일히 수작업으로 좌표를 찍어야 한다는 점이 아쉬웠다. 그렇다고 API를 쓰기에는 캠퍼스 내부 도보 경로에 대한 데이터가 없었다. 이 또한 API 서비스에 아쉬움이 남는다. </a:t>
            </a:r>
          </a:p>
          <a:p>
            <a:pPr>
              <a:defRPr sz="1100">
                <a:solidFill>
                  <a:srgbClr val="2A2A2A"/>
                </a:solidFill>
                <a:latin typeface="+mn-lt"/>
                <a:ea typeface="+mn-ea"/>
                <a:cs typeface="+mn-cs"/>
                <a:sym typeface="Helvetica Neue"/>
              </a:defRPr>
            </a:pPr>
            <a:endParaRPr/>
          </a:p>
          <a:p>
            <a:pPr>
              <a:defRPr sz="1100">
                <a:solidFill>
                  <a:srgbClr val="2A2A2A"/>
                </a:solidFill>
                <a:latin typeface="+mn-lt"/>
                <a:ea typeface="+mn-ea"/>
                <a:cs typeface="+mn-cs"/>
                <a:sym typeface="Helvetica Neue"/>
              </a:defRPr>
            </a:pPr>
            <a:r>
              <a:t>Interesting :</a:t>
            </a:r>
          </a:p>
          <a:p>
            <a:pPr>
              <a:defRPr sz="1100">
                <a:solidFill>
                  <a:srgbClr val="2A2A2A"/>
                </a:solidFill>
                <a:latin typeface="+mn-lt"/>
                <a:ea typeface="+mn-ea"/>
                <a:cs typeface="+mn-cs"/>
                <a:sym typeface="Helvetica Neue"/>
              </a:defRPr>
            </a:pPr>
            <a:r>
              <a:t>다익스트라 알고리즘이 단순히 최단거리를 구하는 것을 넘어, 경유지를 거쳐 다음 수업 장소까지 돌아오는 왕복 이동시간을 계산하는 데 활용될 수 있다는 점이 흥미로웠다. 수업에서 배운 다익스트라 알고리즘이 경로와 관련된 실제 모든 서비스에 대부분 사용된다는 것을 확인했다. </a:t>
            </a:r>
          </a:p>
        </p:txBody>
      </p:sp>
      <p:sp>
        <p:nvSpPr>
          <p:cNvPr id="632" name="Module10Style 20"/>
          <p:cNvSpPr txBox="1"/>
          <p:nvPr/>
        </p:nvSpPr>
        <p:spPr>
          <a:xfrm>
            <a:off x="930238" y="2900010"/>
            <a:ext cx="4819570" cy="28940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800"/>
            </a:pPr>
            <a:r>
              <a:t>Plus:</a:t>
            </a: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800"/>
            </a:pPr>
            <a:r>
              <a:t>시간표 데이터를 단순히 보여주는 것이 아니라, 현재 시간 기준으로 공강 여부와 추천 가능 시간을 계산해 다음 기능으로 넘기는 구조를 만들 수 있었다는 점이 좋았다. 특히 시간표/공강 분석 결과가 최단경로, 혼잡도, 장소 추천 기능의 기준값으로 연결되면서, 하나의 모듈이 전체 서비스 흐름의 출발점이 된다는 것을 확인할 수 있었다. 또한 팀원들의 기능 설명과 실행 결과를 PPT로 정리하면서 각 모듈의 입력값, 출력값, 사용 알고리즘이 어떻게 이어지는지 전체적으로 이해할 수 있었다.</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800"/>
            </a:pPr>
            <a:endParaR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800"/>
            </a:pPr>
            <a:r>
              <a:t>Minus:</a:t>
            </a: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800"/>
            </a:pPr>
            <a:r>
              <a:t>시간표 분석 기능은 겉으로 보기에는 단순해 보이지만, 실제로는 수업 중, 공강 중, 첫 수업 전, 마지막 수업 후처럼 여러 상황을 구분해야 해서 예외 상황을 정리하는 과정이 어려웠다. 또한 발표자료를 만들 때 각 팀원이 작성한 코드와 설명 방식이 달라서, 자료구조와 알고리즘 표현을 하나의 흐름으로 통일하는 데 시간이 필요했다. 실제 학생들의 다양한 시간표나 모든 예외 상황을 충분히 반영하지 못한 점은 아쉬웠다.</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800"/>
            </a:pPr>
            <a:endParaR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800"/>
            </a:pPr>
            <a:r>
              <a:t>Interesting:</a:t>
            </a: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800"/>
            </a:pPr>
            <a:r>
              <a:t>시간표 분석이 단순히 현재 수업 여부를 확인하는 기능이 아니라, 장소 추천 가능 시간을 결정하는 핵심 기준이 된다는 점이 흥미로웠다. 같은 시간표라도 현재 시간과 현재 위치, 다음 수업 장소에 따라 추천 가능한 장소가 달라질 수 있다는 점을 확인했다. 또한 발표자료를 정리하면서 정렬, 탐색, 그래프, 가중합 계산처럼 각각 따로 배운 알고리즘들이 하나의 실제 서비스 흐름 안에서 연결될 수 있다는 점이 인상적이었다.</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635"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636"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LESSONS LEARNED</a:t>
            </a:r>
          </a:p>
        </p:txBody>
      </p:sp>
      <p:sp>
        <p:nvSpPr>
          <p:cNvPr id="637"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21</a:t>
            </a:r>
          </a:p>
        </p:txBody>
      </p:sp>
      <p:sp>
        <p:nvSpPr>
          <p:cNvPr id="638"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639"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640"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641"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642"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643" name="Shape 9"/>
          <p:cNvSpPr/>
          <p:nvPr/>
        </p:nvSpPr>
        <p:spPr>
          <a:xfrm>
            <a:off x="758951" y="813816"/>
            <a:ext cx="225856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644" name="Text 10"/>
          <p:cNvSpPr txBox="1"/>
          <p:nvPr/>
        </p:nvSpPr>
        <p:spPr>
          <a:xfrm>
            <a:off x="886967" y="858990"/>
            <a:ext cx="205740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LESSONS LEARNED</a:t>
            </a:r>
          </a:p>
        </p:txBody>
      </p:sp>
      <p:sp>
        <p:nvSpPr>
          <p:cNvPr id="645" name="Text 11"/>
          <p:cNvSpPr txBox="1"/>
          <p:nvPr/>
        </p:nvSpPr>
        <p:spPr>
          <a:xfrm>
            <a:off x="758951" y="1453896"/>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defRPr sz="2800" b="1">
                <a:solidFill>
                  <a:srgbClr val="102033"/>
                </a:solidFill>
                <a:latin typeface="Noto Sans CJK KR"/>
                <a:ea typeface="Noto Sans CJK KR"/>
                <a:cs typeface="Noto Sans CJK KR"/>
                <a:sym typeface="Noto Sans CJK KR"/>
              </a:defRPr>
            </a:pPr>
            <a:r>
              <a:t>Lessons Learned : PMI</a:t>
            </a:r>
          </a:p>
        </p:txBody>
      </p:sp>
      <p:sp>
        <p:nvSpPr>
          <p:cNvPr id="646" name="Text 12"/>
          <p:cNvSpPr txBox="1"/>
          <p:nvPr/>
        </p:nvSpPr>
        <p:spPr>
          <a:xfrm>
            <a:off x="758951" y="1984248"/>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Malgun Gothic"/>
                <a:ea typeface="Malgun Gothic"/>
                <a:cs typeface="Malgun Gothic"/>
                <a:sym typeface="Malgun Gothic"/>
              </a:defRPr>
            </a:pPr>
            <a:r>
              <a:t>팀 작업에서 얻은 점과 아쉬웠던 점</a:t>
            </a:r>
            <a:r>
              <a:rPr>
                <a:latin typeface="Noto Sans CJK KR"/>
                <a:ea typeface="Noto Sans CJK KR"/>
                <a:cs typeface="Noto Sans CJK KR"/>
                <a:sym typeface="Noto Sans CJK KR"/>
              </a:rPr>
              <a:t>, </a:t>
            </a:r>
            <a:r>
              <a:t>흥미로웠던 점을 짧게 정리했습니다</a:t>
            </a:r>
            <a:r>
              <a:rPr>
                <a:latin typeface="Noto Sans CJK KR"/>
                <a:ea typeface="Noto Sans CJK KR"/>
                <a:cs typeface="Noto Sans CJK KR"/>
                <a:sym typeface="Noto Sans CJK KR"/>
              </a:rPr>
              <a:t>.</a:t>
            </a:r>
          </a:p>
        </p:txBody>
      </p:sp>
      <p:sp>
        <p:nvSpPr>
          <p:cNvPr id="647" name="Shape 13"/>
          <p:cNvSpPr/>
          <p:nvPr/>
        </p:nvSpPr>
        <p:spPr>
          <a:xfrm>
            <a:off x="786383" y="2359151"/>
            <a:ext cx="5107280" cy="3775161"/>
          </a:xfrm>
          <a:prstGeom prst="roundRect">
            <a:avLst>
              <a:gd name="adj" fmla="val 5333"/>
            </a:avLst>
          </a:prstGeom>
          <a:solidFill>
            <a:srgbClr val="EFF6FF"/>
          </a:solidFill>
          <a:ln w="10160">
            <a:solidFill>
              <a:srgbClr val="D8E3ED"/>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648" name="Shape 18"/>
          <p:cNvSpPr/>
          <p:nvPr/>
        </p:nvSpPr>
        <p:spPr>
          <a:xfrm>
            <a:off x="6162675" y="2358451"/>
            <a:ext cx="5221605" cy="3786320"/>
          </a:xfrm>
          <a:prstGeom prst="roundRect">
            <a:avLst>
              <a:gd name="adj" fmla="val 5333"/>
            </a:avLst>
          </a:prstGeom>
          <a:solidFill>
            <a:srgbClr val="FFFFFF"/>
          </a:solidFill>
          <a:ln w="10160">
            <a:solidFill>
              <a:srgbClr val="D8E3ED"/>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649" name="Text 14"/>
          <p:cNvSpPr txBox="1"/>
          <p:nvPr/>
        </p:nvSpPr>
        <p:spPr>
          <a:xfrm>
            <a:off x="795019" y="2437557"/>
            <a:ext cx="902905" cy="3017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600" b="1">
                <a:solidFill>
                  <a:srgbClr val="102033"/>
                </a:solidFill>
                <a:latin typeface="맑은 고딕"/>
                <a:ea typeface="맑은 고딕"/>
                <a:cs typeface="맑은 고딕"/>
                <a:sym typeface="맑은 고딕"/>
              </a:defRPr>
            </a:lvl1pPr>
          </a:lstStyle>
          <a:p>
            <a:r>
              <a:t>김시형</a:t>
            </a:r>
          </a:p>
        </p:txBody>
      </p:sp>
      <p:sp>
        <p:nvSpPr>
          <p:cNvPr id="650" name="Text 14"/>
          <p:cNvSpPr txBox="1"/>
          <p:nvPr/>
        </p:nvSpPr>
        <p:spPr>
          <a:xfrm>
            <a:off x="6162675" y="2436714"/>
            <a:ext cx="902904" cy="30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600" b="1">
                <a:solidFill>
                  <a:srgbClr val="102033"/>
                </a:solidFill>
                <a:latin typeface="맑은 고딕"/>
                <a:ea typeface="맑은 고딕"/>
                <a:cs typeface="맑은 고딕"/>
                <a:sym typeface="맑은 고딕"/>
              </a:defRPr>
            </a:lvl1pPr>
          </a:lstStyle>
          <a:p>
            <a:r>
              <a:t>강서현</a:t>
            </a:r>
          </a:p>
        </p:txBody>
      </p:sp>
      <p:sp>
        <p:nvSpPr>
          <p:cNvPr id="651" name="Module10Style 20"/>
          <p:cNvSpPr txBox="1"/>
          <p:nvPr/>
        </p:nvSpPr>
        <p:spPr>
          <a:xfrm>
            <a:off x="6336112" y="2872722"/>
            <a:ext cx="4819570" cy="27862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1100">
                <a:solidFill>
                  <a:srgbClr val="2A2A2A"/>
                </a:solidFill>
                <a:latin typeface="+mn-lt"/>
                <a:ea typeface="+mn-ea"/>
                <a:cs typeface="+mn-cs"/>
                <a:sym typeface="Helvetica Neue"/>
              </a:defRPr>
            </a:pPr>
            <a:r>
              <a:t>Plus: </a:t>
            </a:r>
          </a:p>
          <a:p>
            <a:pPr>
              <a:defRPr sz="1100">
                <a:solidFill>
                  <a:srgbClr val="2A2A2A"/>
                </a:solidFill>
                <a:latin typeface="+mn-lt"/>
                <a:ea typeface="+mn-ea"/>
                <a:cs typeface="+mn-cs"/>
                <a:sym typeface="Helvetica Neue"/>
              </a:defRPr>
            </a:pPr>
            <a:r>
              <a:t>공강 시간, 이동시간, 예상 대기시간, 혼잡도, 사용자 목적을 함께 고려하여 단순한 장소 목록이 아니라 실제로 이용 가능한 장소를 추천할 수 있다는 점이 뜻깊었다. 또한 코드 개발 자체도 중요하지만, 개발 전에 코드 통합을 편하고 효율적으로 하기 위해 공통 가이드라인과 공통 변수 규칙을 미리 정리하고, 코드를 버전별로 관리하는 것이 중요하다는 것을 깨달았다.</a:t>
            </a:r>
          </a:p>
          <a:p>
            <a:pPr>
              <a:defRPr sz="1100">
                <a:solidFill>
                  <a:srgbClr val="2A2A2A"/>
                </a:solidFill>
                <a:latin typeface="+mn-lt"/>
                <a:ea typeface="+mn-ea"/>
                <a:cs typeface="+mn-cs"/>
                <a:sym typeface="Helvetica Neue"/>
              </a:defRPr>
            </a:pPr>
            <a:endParaRPr/>
          </a:p>
          <a:p>
            <a:pPr>
              <a:defRPr sz="1100">
                <a:solidFill>
                  <a:srgbClr val="2A2A2A"/>
                </a:solidFill>
                <a:latin typeface="+mn-lt"/>
                <a:ea typeface="+mn-ea"/>
                <a:cs typeface="+mn-cs"/>
                <a:sym typeface="Helvetica Neue"/>
              </a:defRPr>
            </a:pPr>
            <a:r>
              <a:t>Minus: </a:t>
            </a:r>
          </a:p>
          <a:p>
            <a:pPr>
              <a:defRPr sz="1100">
                <a:solidFill>
                  <a:srgbClr val="2A2A2A"/>
                </a:solidFill>
                <a:latin typeface="+mn-lt"/>
                <a:ea typeface="+mn-ea"/>
                <a:cs typeface="+mn-cs"/>
                <a:sym typeface="Helvetica Neue"/>
              </a:defRPr>
            </a:pPr>
            <a:r>
              <a:t>교내에 있는 다양한 식당, 카페 등의 장소 정보와 세밀한 위치, 운영 시간 등을 충분히 반영하지 못한 점이 아쉬웠다. 또한 건물이나 장소별 상세 특징까지 입력한 것은 아니기 때문에 장소 추천의 선정 기준이 다소 세밀하지 못했다는 한계가 있었다.</a:t>
            </a:r>
          </a:p>
          <a:p>
            <a:pPr>
              <a:defRPr sz="1100">
                <a:solidFill>
                  <a:srgbClr val="2A2A2A"/>
                </a:solidFill>
                <a:latin typeface="+mn-lt"/>
                <a:ea typeface="+mn-ea"/>
                <a:cs typeface="+mn-cs"/>
                <a:sym typeface="Helvetica Neue"/>
              </a:defRPr>
            </a:pPr>
            <a:endParaRPr/>
          </a:p>
          <a:p>
            <a:pPr>
              <a:defRPr sz="1100">
                <a:solidFill>
                  <a:srgbClr val="2A2A2A"/>
                </a:solidFill>
                <a:latin typeface="+mn-lt"/>
                <a:ea typeface="+mn-ea"/>
                <a:cs typeface="+mn-cs"/>
                <a:sym typeface="Helvetica Neue"/>
              </a:defRPr>
            </a:pPr>
            <a:r>
              <a:t>Interesting: </a:t>
            </a:r>
          </a:p>
          <a:p>
            <a:pPr>
              <a:defRPr sz="1100">
                <a:solidFill>
                  <a:srgbClr val="2A2A2A"/>
                </a:solidFill>
                <a:latin typeface="+mn-lt"/>
                <a:ea typeface="+mn-ea"/>
                <a:cs typeface="+mn-cs"/>
                <a:sym typeface="Helvetica Neue"/>
              </a:defRPr>
            </a:pPr>
            <a:r>
              <a:t>같은 장소라도 현재 위치, 다음 수업 장소, 공강 시간, 사용자 목적에 따라 추천 순위가 달라질 수 있다는 점이 흥미로웠다. 또한 여러 종류의 데이터를 함께 반영하거나 새로운 데이터를 도출할 때, 같은 데이터라도 가중치에 따라 다른 결과가 나올 수 있다는 점이 인상적이었다.</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654"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655"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LESSONS LEARNED</a:t>
            </a:r>
          </a:p>
        </p:txBody>
      </p:sp>
      <p:sp>
        <p:nvSpPr>
          <p:cNvPr id="656"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22</a:t>
            </a:r>
          </a:p>
        </p:txBody>
      </p:sp>
      <p:sp>
        <p:nvSpPr>
          <p:cNvPr id="657"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658"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659"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660"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661"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662" name="Shape 9"/>
          <p:cNvSpPr/>
          <p:nvPr/>
        </p:nvSpPr>
        <p:spPr>
          <a:xfrm>
            <a:off x="758951" y="813816"/>
            <a:ext cx="2258569" cy="301755"/>
          </a:xfrm>
          <a:prstGeom prst="roundRect">
            <a:avLst>
              <a:gd name="adj" fmla="val 18182"/>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663" name="Text 10"/>
          <p:cNvSpPr txBox="1"/>
          <p:nvPr/>
        </p:nvSpPr>
        <p:spPr>
          <a:xfrm>
            <a:off x="886967" y="858990"/>
            <a:ext cx="2057402"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1200" b="1">
                <a:solidFill>
                  <a:srgbClr val="FFFFFF"/>
                </a:solidFill>
                <a:latin typeface="Noto Sans CJK KR"/>
                <a:ea typeface="Noto Sans CJK KR"/>
                <a:cs typeface="Noto Sans CJK KR"/>
                <a:sym typeface="Noto Sans CJK KR"/>
              </a:defRPr>
            </a:lvl1pPr>
          </a:lstStyle>
          <a:p>
            <a:r>
              <a:t>LESSONS LEARNED</a:t>
            </a:r>
          </a:p>
        </p:txBody>
      </p:sp>
      <p:sp>
        <p:nvSpPr>
          <p:cNvPr id="664" name="Text 11"/>
          <p:cNvSpPr txBox="1"/>
          <p:nvPr/>
        </p:nvSpPr>
        <p:spPr>
          <a:xfrm>
            <a:off x="758951" y="1453896"/>
            <a:ext cx="6858001" cy="4754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defTabSz="841247">
              <a:defRPr sz="2800" b="1">
                <a:solidFill>
                  <a:srgbClr val="102033"/>
                </a:solidFill>
                <a:latin typeface="Noto Sans CJK KR"/>
                <a:ea typeface="Noto Sans CJK KR"/>
                <a:cs typeface="Noto Sans CJK KR"/>
                <a:sym typeface="Noto Sans CJK KR"/>
              </a:defRPr>
            </a:pPr>
            <a:r>
              <a:t>Lessons Learned : </a:t>
            </a:r>
            <a:r>
              <a:rPr>
                <a:latin typeface="Malgun Gothic"/>
                <a:ea typeface="Malgun Gothic"/>
                <a:cs typeface="Malgun Gothic"/>
                <a:sym typeface="Malgun Gothic"/>
              </a:rPr>
              <a:t>팀 </a:t>
            </a:r>
            <a:r>
              <a:t>PMI </a:t>
            </a:r>
            <a:r>
              <a:rPr>
                <a:latin typeface="Malgun Gothic"/>
                <a:ea typeface="Malgun Gothic"/>
                <a:cs typeface="Malgun Gothic"/>
                <a:sym typeface="Malgun Gothic"/>
              </a:rPr>
              <a:t>종합</a:t>
            </a:r>
          </a:p>
        </p:txBody>
      </p:sp>
      <p:sp>
        <p:nvSpPr>
          <p:cNvPr id="665" name="Text 12"/>
          <p:cNvSpPr txBox="1"/>
          <p:nvPr/>
        </p:nvSpPr>
        <p:spPr>
          <a:xfrm>
            <a:off x="758951" y="1984248"/>
            <a:ext cx="9875523" cy="292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1500">
                <a:solidFill>
                  <a:srgbClr val="64748B"/>
                </a:solidFill>
                <a:latin typeface="Malgun Gothic"/>
                <a:ea typeface="Malgun Gothic"/>
                <a:cs typeface="Malgun Gothic"/>
                <a:sym typeface="Malgun Gothic"/>
              </a:defRPr>
            </a:pPr>
            <a:r>
              <a:t>팀 작업에서 얻은 점과 아쉬웠던 점</a:t>
            </a:r>
            <a:r>
              <a:rPr>
                <a:latin typeface="Noto Sans CJK KR"/>
                <a:ea typeface="Noto Sans CJK KR"/>
                <a:cs typeface="Noto Sans CJK KR"/>
                <a:sym typeface="Noto Sans CJK KR"/>
              </a:rPr>
              <a:t>, </a:t>
            </a:r>
            <a:r>
              <a:t>흥미로웠던 점을 짧게 정리했습니다</a:t>
            </a:r>
            <a:r>
              <a:rPr>
                <a:latin typeface="Noto Sans CJK KR"/>
                <a:ea typeface="Noto Sans CJK KR"/>
                <a:cs typeface="Noto Sans CJK KR"/>
                <a:sym typeface="Noto Sans CJK KR"/>
              </a:rPr>
              <a:t>.</a:t>
            </a:r>
          </a:p>
        </p:txBody>
      </p:sp>
      <p:sp>
        <p:nvSpPr>
          <p:cNvPr id="666" name="Shape 13"/>
          <p:cNvSpPr/>
          <p:nvPr/>
        </p:nvSpPr>
        <p:spPr>
          <a:xfrm>
            <a:off x="1220469" y="2857500"/>
            <a:ext cx="2971802" cy="2057400"/>
          </a:xfrm>
          <a:prstGeom prst="roundRect">
            <a:avLst>
              <a:gd name="adj" fmla="val 5333"/>
            </a:avLst>
          </a:prstGeom>
          <a:solidFill>
            <a:srgbClr val="EFF6FF"/>
          </a:solidFill>
          <a:ln w="10160">
            <a:solidFill>
              <a:srgbClr val="D8E3ED"/>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667" name="Shape 14"/>
          <p:cNvSpPr/>
          <p:nvPr/>
        </p:nvSpPr>
        <p:spPr>
          <a:xfrm>
            <a:off x="1458213" y="3058666"/>
            <a:ext cx="658372" cy="246891"/>
          </a:xfrm>
          <a:prstGeom prst="roundRect">
            <a:avLst>
              <a:gd name="adj" fmla="val 18519"/>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668" name="Text 15"/>
          <p:cNvSpPr txBox="1"/>
          <p:nvPr/>
        </p:nvSpPr>
        <p:spPr>
          <a:xfrm>
            <a:off x="1458213" y="3095244"/>
            <a:ext cx="649227"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900" b="1">
                <a:solidFill>
                  <a:srgbClr val="FFFFFF"/>
                </a:solidFill>
                <a:latin typeface="Noto Sans CJK KR"/>
                <a:ea typeface="Noto Sans CJK KR"/>
                <a:cs typeface="Noto Sans CJK KR"/>
                <a:sym typeface="Noto Sans CJK KR"/>
              </a:defRPr>
            </a:lvl1pPr>
          </a:lstStyle>
          <a:p>
            <a:r>
              <a:t>Plus</a:t>
            </a:r>
          </a:p>
        </p:txBody>
      </p:sp>
      <p:sp>
        <p:nvSpPr>
          <p:cNvPr id="669" name="Text 17"/>
          <p:cNvSpPr txBox="1"/>
          <p:nvPr/>
        </p:nvSpPr>
        <p:spPr>
          <a:xfrm>
            <a:off x="1221738" y="3624447"/>
            <a:ext cx="2969262" cy="7528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spAutoFit/>
          </a:bodyPr>
          <a:lstStyle/>
          <a:p>
            <a:pPr algn="ctr">
              <a:defRPr sz="1600">
                <a:solidFill>
                  <a:srgbClr val="364153"/>
                </a:solidFill>
                <a:latin typeface="Noto Sans CJK KR"/>
                <a:ea typeface="Noto Sans CJK KR"/>
                <a:cs typeface="Noto Sans CJK KR"/>
                <a:sym typeface="Noto Sans CJK KR"/>
              </a:defRPr>
            </a:pPr>
            <a:r>
              <a:t>4개 기능을 하나의 파이프라인으로 연결</a:t>
            </a:r>
            <a:endParaRPr>
              <a:solidFill>
                <a:srgbClr val="334155"/>
              </a:solidFill>
              <a:latin typeface="맑은 고딕"/>
              <a:ea typeface="맑은 고딕"/>
              <a:cs typeface="맑은 고딕"/>
              <a:sym typeface="맑은 고딕"/>
            </a:endParaRPr>
          </a:p>
          <a:p>
            <a:pPr algn="ctr">
              <a:defRPr sz="1600">
                <a:solidFill>
                  <a:srgbClr val="364153"/>
                </a:solidFill>
                <a:latin typeface="Noto Sans CJK KR"/>
                <a:ea typeface="Noto Sans CJK KR"/>
                <a:cs typeface="Noto Sans CJK KR"/>
                <a:sym typeface="Noto Sans CJK KR"/>
              </a:defRPr>
            </a:pPr>
            <a:r>
              <a:t>Folium으로 캠퍼스 경로를 시각화</a:t>
            </a:r>
          </a:p>
        </p:txBody>
      </p:sp>
      <p:sp>
        <p:nvSpPr>
          <p:cNvPr id="670" name="Shape 18"/>
          <p:cNvSpPr/>
          <p:nvPr/>
        </p:nvSpPr>
        <p:spPr>
          <a:xfrm>
            <a:off x="4603750" y="2857500"/>
            <a:ext cx="2971800" cy="2057400"/>
          </a:xfrm>
          <a:prstGeom prst="roundRect">
            <a:avLst>
              <a:gd name="adj" fmla="val 5333"/>
            </a:avLst>
          </a:prstGeom>
          <a:solidFill>
            <a:srgbClr val="FFFFFF"/>
          </a:solidFill>
          <a:ln w="10160">
            <a:solidFill>
              <a:srgbClr val="D8E3ED"/>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671" name="Shape 19"/>
          <p:cNvSpPr/>
          <p:nvPr/>
        </p:nvSpPr>
        <p:spPr>
          <a:xfrm>
            <a:off x="4841494" y="3058666"/>
            <a:ext cx="658371" cy="246891"/>
          </a:xfrm>
          <a:prstGeom prst="roundRect">
            <a:avLst>
              <a:gd name="adj" fmla="val 18519"/>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672" name="Text 20"/>
          <p:cNvSpPr txBox="1"/>
          <p:nvPr/>
        </p:nvSpPr>
        <p:spPr>
          <a:xfrm>
            <a:off x="4841494" y="3095244"/>
            <a:ext cx="649227"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900" b="1">
                <a:solidFill>
                  <a:srgbClr val="FFFFFF"/>
                </a:solidFill>
                <a:latin typeface="Noto Sans CJK KR"/>
                <a:ea typeface="Noto Sans CJK KR"/>
                <a:cs typeface="Noto Sans CJK KR"/>
                <a:sym typeface="Noto Sans CJK KR"/>
              </a:defRPr>
            </a:lvl1pPr>
          </a:lstStyle>
          <a:p>
            <a:r>
              <a:t>Minus</a:t>
            </a:r>
          </a:p>
        </p:txBody>
      </p:sp>
      <p:sp>
        <p:nvSpPr>
          <p:cNvPr id="673" name="Text 22"/>
          <p:cNvSpPr txBox="1"/>
          <p:nvPr/>
        </p:nvSpPr>
        <p:spPr>
          <a:xfrm>
            <a:off x="4631180" y="3548252"/>
            <a:ext cx="2916940" cy="9052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p>
            <a:pPr algn="ctr">
              <a:defRPr sz="1600">
                <a:solidFill>
                  <a:srgbClr val="364153"/>
                </a:solidFill>
                <a:latin typeface="Noto Sans CJK KR"/>
                <a:ea typeface="Noto Sans CJK KR"/>
                <a:cs typeface="Noto Sans CJK KR"/>
                <a:sym typeface="Noto Sans CJK KR"/>
              </a:defRPr>
            </a:pPr>
            <a:r>
              <a:t>실시간 데이터 부족</a:t>
            </a:r>
            <a:endParaRPr>
              <a:solidFill>
                <a:srgbClr val="334155"/>
              </a:solidFill>
              <a:latin typeface="맑은 고딕"/>
              <a:ea typeface="맑은 고딕"/>
              <a:cs typeface="맑은 고딕"/>
              <a:sym typeface="맑은 고딕"/>
            </a:endParaRPr>
          </a:p>
          <a:p>
            <a:pPr algn="ctr">
              <a:defRPr sz="1600">
                <a:solidFill>
                  <a:srgbClr val="364153"/>
                </a:solidFill>
                <a:latin typeface="Noto Sans CJK KR"/>
                <a:ea typeface="Noto Sans CJK KR"/>
                <a:cs typeface="Noto Sans CJK KR"/>
                <a:sym typeface="Noto Sans CJK KR"/>
              </a:defRPr>
            </a:pPr>
            <a:r>
              <a:t>좌표 수작업·장소 세부정보 한계</a:t>
            </a:r>
          </a:p>
        </p:txBody>
      </p:sp>
      <p:sp>
        <p:nvSpPr>
          <p:cNvPr id="674" name="Shape 23"/>
          <p:cNvSpPr/>
          <p:nvPr/>
        </p:nvSpPr>
        <p:spPr>
          <a:xfrm>
            <a:off x="7987027" y="2857500"/>
            <a:ext cx="2971803" cy="2057400"/>
          </a:xfrm>
          <a:prstGeom prst="roundRect">
            <a:avLst>
              <a:gd name="adj" fmla="val 5333"/>
            </a:avLst>
          </a:prstGeom>
          <a:solidFill>
            <a:srgbClr val="EFF6FF"/>
          </a:solidFill>
          <a:ln w="10160">
            <a:solidFill>
              <a:srgbClr val="D8E3ED"/>
            </a:solidFill>
          </a:ln>
          <a:effectLst>
            <a:outerShdw blurRad="25400" dist="50800" dir="2700000" rotWithShape="0">
              <a:srgbClr val="CBD5E1">
                <a:alpha val="14000"/>
              </a:srgbClr>
            </a:outerShdw>
          </a:effectLst>
        </p:spPr>
        <p:txBody>
          <a:bodyPr lIns="0" tIns="0" rIns="0" bIns="0"/>
          <a:lstStyle/>
          <a:p>
            <a:pPr>
              <a:defRPr>
                <a:latin typeface="Malgun Gothic"/>
                <a:ea typeface="Malgun Gothic"/>
                <a:cs typeface="Malgun Gothic"/>
                <a:sym typeface="Malgun Gothic"/>
              </a:defRPr>
            </a:pPr>
            <a:endParaRPr/>
          </a:p>
        </p:txBody>
      </p:sp>
      <p:sp>
        <p:nvSpPr>
          <p:cNvPr id="675" name="Shape 24"/>
          <p:cNvSpPr/>
          <p:nvPr/>
        </p:nvSpPr>
        <p:spPr>
          <a:xfrm>
            <a:off x="8224773" y="3058666"/>
            <a:ext cx="658371" cy="246891"/>
          </a:xfrm>
          <a:prstGeom prst="roundRect">
            <a:avLst>
              <a:gd name="adj" fmla="val 18519"/>
            </a:avLst>
          </a:prstGeom>
          <a:solidFill>
            <a:srgbClr val="2563EB"/>
          </a:solidFill>
          <a:ln w="12700">
            <a:solidFill>
              <a:srgbClr val="2563EB"/>
            </a:solidFill>
          </a:ln>
        </p:spPr>
        <p:txBody>
          <a:bodyPr lIns="0" tIns="0" rIns="0" bIns="0"/>
          <a:lstStyle/>
          <a:p>
            <a:pPr>
              <a:defRPr>
                <a:latin typeface="Malgun Gothic"/>
                <a:ea typeface="Malgun Gothic"/>
                <a:cs typeface="Malgun Gothic"/>
                <a:sym typeface="Malgun Gothic"/>
              </a:defRPr>
            </a:pPr>
            <a:endParaRPr/>
          </a:p>
        </p:txBody>
      </p:sp>
      <p:sp>
        <p:nvSpPr>
          <p:cNvPr id="676" name="Text 25"/>
          <p:cNvSpPr txBox="1"/>
          <p:nvPr/>
        </p:nvSpPr>
        <p:spPr>
          <a:xfrm>
            <a:off x="8224773" y="3095244"/>
            <a:ext cx="649227" cy="201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defRPr sz="900" b="1">
                <a:solidFill>
                  <a:srgbClr val="FFFFFF"/>
                </a:solidFill>
                <a:latin typeface="Noto Sans CJK KR"/>
                <a:ea typeface="Noto Sans CJK KR"/>
                <a:cs typeface="Noto Sans CJK KR"/>
                <a:sym typeface="Noto Sans CJK KR"/>
              </a:defRPr>
            </a:lvl1pPr>
          </a:lstStyle>
          <a:p>
            <a:r>
              <a:t>Interesting</a:t>
            </a:r>
          </a:p>
        </p:txBody>
      </p:sp>
      <p:sp>
        <p:nvSpPr>
          <p:cNvPr id="677" name="Text 27"/>
          <p:cNvSpPr txBox="1"/>
          <p:nvPr/>
        </p:nvSpPr>
        <p:spPr>
          <a:xfrm>
            <a:off x="7988300" y="3745097"/>
            <a:ext cx="2969262" cy="511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spAutoFit/>
          </a:bodyPr>
          <a:lstStyle/>
          <a:p>
            <a:pPr algn="ctr">
              <a:defRPr sz="1600">
                <a:solidFill>
                  <a:srgbClr val="364153"/>
                </a:solidFill>
                <a:latin typeface="Noto Sans CJK KR"/>
                <a:ea typeface="Noto Sans CJK KR"/>
                <a:cs typeface="Noto Sans CJK KR"/>
                <a:sym typeface="Noto Sans CJK KR"/>
              </a:defRPr>
            </a:pPr>
            <a:r>
              <a:t>위치·공강·목적·가중치에 따라</a:t>
            </a:r>
            <a:endParaRPr>
              <a:solidFill>
                <a:srgbClr val="334155"/>
              </a:solidFill>
              <a:latin typeface="맑은 고딕"/>
              <a:ea typeface="맑은 고딕"/>
              <a:cs typeface="맑은 고딕"/>
              <a:sym typeface="맑은 고딕"/>
            </a:endParaRPr>
          </a:p>
          <a:p>
            <a:pPr algn="ctr">
              <a:defRPr sz="1600">
                <a:solidFill>
                  <a:srgbClr val="364153"/>
                </a:solidFill>
                <a:latin typeface="Noto Sans CJK KR"/>
                <a:ea typeface="Noto Sans CJK KR"/>
                <a:cs typeface="Noto Sans CJK KR"/>
                <a:sym typeface="Noto Sans CJK KR"/>
              </a:defRPr>
            </a:pPr>
            <a:r>
              <a:t>같은 장소도 추천 순위가 달라짐</a:t>
            </a:r>
          </a:p>
        </p:txBody>
      </p:sp>
      <p:sp>
        <p:nvSpPr>
          <p:cNvPr id="678" name="Text 28"/>
          <p:cNvSpPr txBox="1"/>
          <p:nvPr/>
        </p:nvSpPr>
        <p:spPr>
          <a:xfrm>
            <a:off x="1151887" y="5495544"/>
            <a:ext cx="9875526" cy="2743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ctr">
              <a:lnSpc>
                <a:spcPct val="90000"/>
              </a:lnSpc>
              <a:defRPr sz="1300" b="1">
                <a:solidFill>
                  <a:srgbClr val="364153"/>
                </a:solidFill>
                <a:latin typeface="Noto Sans CJK KR"/>
                <a:ea typeface="Noto Sans CJK KR"/>
                <a:cs typeface="Noto Sans CJK KR"/>
                <a:sym typeface="Noto Sans CJK KR"/>
              </a:defRPr>
            </a:lvl1pPr>
          </a:lstStyle>
          <a:p>
            <a:r>
              <a:t>공통 결론 | 알고리즘 구현만큼 데이터 표준화, 입출력 규칙, 통합 테스트가 추천 품질에 큰 영향을 준다는 점을 확인했습니다.</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 name="Shape 0"/>
          <p:cNvSpPr/>
          <p:nvPr/>
        </p:nvSpPr>
        <p:spPr>
          <a:xfrm>
            <a:off x="-1" y="0"/>
            <a:ext cx="12191697" cy="54864"/>
          </a:xfrm>
          <a:prstGeom prst="rect">
            <a:avLst/>
          </a:prstGeom>
          <a:solidFill>
            <a:srgbClr val="2563EB"/>
          </a:solidFill>
          <a:ln w="12700">
            <a:solidFill>
              <a:srgbClr val="2563EB">
                <a:alpha val="0"/>
              </a:srgbClr>
            </a:solidFill>
          </a:ln>
        </p:spPr>
        <p:txBody>
          <a:bodyPr lIns="0" tIns="0" rIns="0" bIns="0"/>
          <a:lstStyle/>
          <a:p>
            <a:pPr>
              <a:defRPr>
                <a:latin typeface="Malgun Gothic"/>
                <a:ea typeface="Malgun Gothic"/>
                <a:cs typeface="Malgun Gothic"/>
                <a:sym typeface="Malgun Gothic"/>
              </a:defRPr>
            </a:pPr>
            <a:endParaRPr/>
          </a:p>
        </p:txBody>
      </p:sp>
      <p:sp>
        <p:nvSpPr>
          <p:cNvPr id="681" name="Text 1"/>
          <p:cNvSpPr txBox="1"/>
          <p:nvPr/>
        </p:nvSpPr>
        <p:spPr>
          <a:xfrm>
            <a:off x="658368" y="228600"/>
            <a:ext cx="228600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defRPr sz="800" b="1">
                <a:solidFill>
                  <a:srgbClr val="64748B"/>
                </a:solidFill>
                <a:latin typeface="Noto Sans CJK KR"/>
                <a:ea typeface="Noto Sans CJK KR"/>
                <a:cs typeface="Noto Sans CJK KR"/>
                <a:sym typeface="Noto Sans CJK KR"/>
              </a:defRPr>
            </a:lvl1pPr>
          </a:lstStyle>
          <a:p>
            <a:r>
              <a:t>GONGGANG PLANNER</a:t>
            </a:r>
          </a:p>
        </p:txBody>
      </p:sp>
      <p:sp>
        <p:nvSpPr>
          <p:cNvPr id="682" name="Text 2"/>
          <p:cNvSpPr txBox="1"/>
          <p:nvPr/>
        </p:nvSpPr>
        <p:spPr>
          <a:xfrm>
            <a:off x="9784080" y="228600"/>
            <a:ext cx="1371603"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THANK YOU</a:t>
            </a:r>
          </a:p>
        </p:txBody>
      </p:sp>
      <p:sp>
        <p:nvSpPr>
          <p:cNvPr id="683" name="Text 3"/>
          <p:cNvSpPr txBox="1"/>
          <p:nvPr/>
        </p:nvSpPr>
        <p:spPr>
          <a:xfrm>
            <a:off x="11384280" y="228600"/>
            <a:ext cx="292611"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800" b="1">
                <a:solidFill>
                  <a:srgbClr val="64748B"/>
                </a:solidFill>
                <a:latin typeface="Noto Sans CJK KR"/>
                <a:ea typeface="Noto Sans CJK KR"/>
                <a:cs typeface="Noto Sans CJK KR"/>
                <a:sym typeface="Noto Sans CJK KR"/>
              </a:defRPr>
            </a:lvl1pPr>
          </a:lstStyle>
          <a:p>
            <a:r>
              <a:t>23</a:t>
            </a:r>
          </a:p>
        </p:txBody>
      </p:sp>
      <p:sp>
        <p:nvSpPr>
          <p:cNvPr id="684" name="Shape 4"/>
          <p:cNvSpPr/>
          <p:nvPr/>
        </p:nvSpPr>
        <p:spPr>
          <a:xfrm>
            <a:off x="658368" y="566927"/>
            <a:ext cx="10881360" cy="1"/>
          </a:xfrm>
          <a:prstGeom prst="line">
            <a:avLst/>
          </a:prstGeom>
          <a:ln w="10160">
            <a:solidFill>
              <a:srgbClr val="D8E3ED">
                <a:alpha val="95000"/>
              </a:srgbClr>
            </a:solidFill>
          </a:ln>
        </p:spPr>
        <p:txBody>
          <a:bodyPr lIns="45718" tIns="45718" rIns="45718" bIns="45718"/>
          <a:lstStyle/>
          <a:p>
            <a:endParaRPr/>
          </a:p>
        </p:txBody>
      </p:sp>
      <p:sp>
        <p:nvSpPr>
          <p:cNvPr id="685" name="Shape 5"/>
          <p:cNvSpPr/>
          <p:nvPr/>
        </p:nvSpPr>
        <p:spPr>
          <a:xfrm>
            <a:off x="658368" y="6437376"/>
            <a:ext cx="10881360" cy="1"/>
          </a:xfrm>
          <a:prstGeom prst="line">
            <a:avLst/>
          </a:prstGeom>
          <a:ln w="10160">
            <a:solidFill>
              <a:srgbClr val="D8E3ED">
                <a:alpha val="90000"/>
              </a:srgbClr>
            </a:solidFill>
          </a:ln>
        </p:spPr>
        <p:txBody>
          <a:bodyPr lIns="45718" tIns="45718" rIns="45718" bIns="45718"/>
          <a:lstStyle/>
          <a:p>
            <a:endParaRPr/>
          </a:p>
        </p:txBody>
      </p:sp>
      <p:sp>
        <p:nvSpPr>
          <p:cNvPr id="686" name="Shape 6"/>
          <p:cNvSpPr/>
          <p:nvPr/>
        </p:nvSpPr>
        <p:spPr>
          <a:xfrm>
            <a:off x="658368" y="6519670"/>
            <a:ext cx="256032" cy="3"/>
          </a:xfrm>
          <a:prstGeom prst="line">
            <a:avLst/>
          </a:prstGeom>
          <a:ln w="25400">
            <a:solidFill>
              <a:srgbClr val="2563EB"/>
            </a:solidFill>
          </a:ln>
        </p:spPr>
        <p:txBody>
          <a:bodyPr lIns="45718" tIns="45718" rIns="45718" bIns="45718"/>
          <a:lstStyle/>
          <a:p>
            <a:endParaRPr/>
          </a:p>
        </p:txBody>
      </p:sp>
      <p:sp>
        <p:nvSpPr>
          <p:cNvPr id="687" name="Text 7"/>
          <p:cNvSpPr txBox="1"/>
          <p:nvPr/>
        </p:nvSpPr>
        <p:spPr>
          <a:xfrm>
            <a:off x="658368" y="6574535"/>
            <a:ext cx="2743201"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pPr>
              <a:defRPr sz="700">
                <a:solidFill>
                  <a:srgbClr val="64748B"/>
                </a:solidFill>
                <a:latin typeface="Noto Sans CJK KR"/>
                <a:ea typeface="Noto Sans CJK KR"/>
                <a:cs typeface="Noto Sans CJK KR"/>
                <a:sym typeface="Noto Sans CJK KR"/>
              </a:defRPr>
            </a:pPr>
            <a:r>
              <a:t>Algorithm Final Project · </a:t>
            </a:r>
            <a:r>
              <a:rPr>
                <a:latin typeface="Malgun Gothic"/>
                <a:ea typeface="Malgun Gothic"/>
                <a:cs typeface="Malgun Gothic"/>
                <a:sym typeface="Malgun Gothic"/>
              </a:rPr>
              <a:t>공강 플래너</a:t>
            </a:r>
          </a:p>
        </p:txBody>
      </p:sp>
      <p:sp>
        <p:nvSpPr>
          <p:cNvPr id="688" name="Text 8"/>
          <p:cNvSpPr txBox="1"/>
          <p:nvPr/>
        </p:nvSpPr>
        <p:spPr>
          <a:xfrm>
            <a:off x="9235440" y="6574535"/>
            <a:ext cx="2286003" cy="164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algn="r">
              <a:defRPr sz="700">
                <a:solidFill>
                  <a:srgbClr val="64748B"/>
                </a:solidFill>
                <a:latin typeface="Noto Sans CJK KR"/>
                <a:ea typeface="Noto Sans CJK KR"/>
                <a:cs typeface="Noto Sans CJK KR"/>
                <a:sym typeface="Noto Sans CJK KR"/>
              </a:defRPr>
            </a:lvl1pPr>
          </a:lstStyle>
          <a:p>
            <a:r>
              <a:t>Time · Route · Crowd · Ranking</a:t>
            </a:r>
          </a:p>
        </p:txBody>
      </p:sp>
      <p:sp>
        <p:nvSpPr>
          <p:cNvPr id="689" name="Thanks shell"/>
          <p:cNvSpPr/>
          <p:nvPr/>
        </p:nvSpPr>
        <p:spPr>
          <a:xfrm>
            <a:off x="868680" y="1143000"/>
            <a:ext cx="10012682" cy="4892041"/>
          </a:xfrm>
          <a:prstGeom prst="roundRect">
            <a:avLst>
              <a:gd name="adj" fmla="val 16667"/>
            </a:avLst>
          </a:prstGeom>
          <a:solidFill>
            <a:srgbClr val="EFF6FF"/>
          </a:solidFill>
          <a:ln>
            <a:solidFill>
              <a:srgbClr val="D8E3ED"/>
            </a:solidFill>
          </a:ln>
        </p:spPr>
        <p:txBody>
          <a:bodyPr lIns="0" tIns="0" rIns="0" bIns="0" anchor="ctr"/>
          <a:lstStyle/>
          <a:p>
            <a:pPr>
              <a:defRPr>
                <a:latin typeface="Malgun Gothic"/>
                <a:ea typeface="Malgun Gothic"/>
                <a:cs typeface="Malgun Gothic"/>
                <a:sym typeface="Malgun Gothic"/>
              </a:defRPr>
            </a:pPr>
            <a:endParaRPr/>
          </a:p>
        </p:txBody>
      </p:sp>
      <p:grpSp>
        <p:nvGrpSpPr>
          <p:cNvPr id="692" name="Thanks side"/>
          <p:cNvGrpSpPr/>
          <p:nvPr/>
        </p:nvGrpSpPr>
        <p:grpSpPr>
          <a:xfrm>
            <a:off x="8183880" y="1463038"/>
            <a:ext cx="2240285" cy="4160526"/>
            <a:chOff x="0" y="0"/>
            <a:chExt cx="2240283" cy="4160524"/>
          </a:xfrm>
        </p:grpSpPr>
        <p:sp>
          <p:nvSpPr>
            <p:cNvPr id="690" name="모서리가 둥근 직사각형"/>
            <p:cNvSpPr/>
            <p:nvPr/>
          </p:nvSpPr>
          <p:spPr>
            <a:xfrm>
              <a:off x="0" y="-1"/>
              <a:ext cx="2240285" cy="4160526"/>
            </a:xfrm>
            <a:prstGeom prst="roundRect">
              <a:avLst>
                <a:gd name="adj" fmla="val 16667"/>
              </a:avLst>
            </a:prstGeom>
            <a:solidFill>
              <a:srgbClr val="2563EB"/>
            </a:solidFill>
            <a:ln w="9525" cap="flat">
              <a:solidFill>
                <a:srgbClr val="2563EB"/>
              </a:solidFill>
              <a:prstDash val="solid"/>
              <a:round/>
            </a:ln>
            <a:effectLst/>
          </p:spPr>
          <p:txBody>
            <a:bodyPr wrap="square" lIns="0" tIns="0" rIns="0" bIns="0" numCol="1" anchor="ctr">
              <a:noAutofit/>
            </a:bodyPr>
            <a:lstStyle/>
            <a:p>
              <a:pPr algn="ctr">
                <a:defRPr>
                  <a:latin typeface="Malgun Gothic"/>
                  <a:ea typeface="Malgun Gothic"/>
                  <a:cs typeface="Malgun Gothic"/>
                  <a:sym typeface="Malgun Gothic"/>
                </a:defRPr>
              </a:pPr>
              <a:endParaRPr/>
            </a:p>
          </p:txBody>
        </p:sp>
        <p:sp>
          <p:nvSpPr>
            <p:cNvPr id="691" name="GONGGANG…"/>
            <p:cNvSpPr txBox="1"/>
            <p:nvPr/>
          </p:nvSpPr>
          <p:spPr>
            <a:xfrm>
              <a:off x="159843" y="1463040"/>
              <a:ext cx="1920597" cy="123443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p>
              <a:pPr algn="ctr">
                <a:defRPr sz="1500" b="1">
                  <a:solidFill>
                    <a:srgbClr val="FFFFFF"/>
                  </a:solidFill>
                  <a:latin typeface="Noto Sans CJK KR"/>
                  <a:ea typeface="Noto Sans CJK KR"/>
                  <a:cs typeface="Noto Sans CJK KR"/>
                  <a:sym typeface="Noto Sans CJK KR"/>
                </a:defRPr>
              </a:pPr>
              <a:r>
                <a:t>GONGGANG</a:t>
              </a:r>
            </a:p>
            <a:p>
              <a:pPr algn="ctr">
                <a:defRPr sz="1500" b="1">
                  <a:solidFill>
                    <a:srgbClr val="FFFFFF"/>
                  </a:solidFill>
                  <a:latin typeface="Noto Sans CJK KR"/>
                  <a:ea typeface="Noto Sans CJK KR"/>
                  <a:cs typeface="Noto Sans CJK KR"/>
                  <a:sym typeface="Noto Sans CJK KR"/>
                </a:defRPr>
              </a:pPr>
              <a:r>
                <a:t>PLANNER</a:t>
              </a:r>
            </a:p>
            <a:p>
              <a:pPr algn="ctr">
                <a:defRPr sz="1500" b="1">
                  <a:solidFill>
                    <a:srgbClr val="FFFFFF"/>
                  </a:solidFill>
                  <a:latin typeface="Noto Sans CJK KR"/>
                  <a:ea typeface="Noto Sans CJK KR"/>
                  <a:cs typeface="Noto Sans CJK KR"/>
                  <a:sym typeface="Noto Sans CJK KR"/>
                </a:defRPr>
              </a:pPr>
              <a:endParaRPr/>
            </a:p>
            <a:p>
              <a:pPr algn="ctr">
                <a:defRPr sz="1500" b="1">
                  <a:solidFill>
                    <a:srgbClr val="FFFFFF"/>
                  </a:solidFill>
                  <a:latin typeface="Noto Sans CJK KR"/>
                  <a:ea typeface="Noto Sans CJK KR"/>
                  <a:cs typeface="Noto Sans CJK KR"/>
                  <a:sym typeface="Noto Sans CJK KR"/>
                </a:defRPr>
              </a:pPr>
              <a:r>
                <a:t>TIME · ROUTE</a:t>
              </a:r>
            </a:p>
            <a:p>
              <a:pPr algn="ctr">
                <a:defRPr sz="1500" b="1">
                  <a:solidFill>
                    <a:srgbClr val="FFFFFF"/>
                  </a:solidFill>
                  <a:latin typeface="Noto Sans CJK KR"/>
                  <a:ea typeface="Noto Sans CJK KR"/>
                  <a:cs typeface="Noto Sans CJK KR"/>
                  <a:sym typeface="Noto Sans CJK KR"/>
                </a:defRPr>
              </a:pPr>
              <a:r>
                <a:t>CROWD · RANKING</a:t>
              </a:r>
            </a:p>
          </p:txBody>
        </p:sp>
      </p:grpSp>
      <p:sp>
        <p:nvSpPr>
          <p:cNvPr id="693" name="Thanks title"/>
          <p:cNvSpPr txBox="1"/>
          <p:nvPr/>
        </p:nvSpPr>
        <p:spPr>
          <a:xfrm>
            <a:off x="1397932" y="3097530"/>
            <a:ext cx="6035044" cy="662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lvl1pPr algn="ctr">
              <a:defRPr sz="3800" b="1">
                <a:solidFill>
                  <a:srgbClr val="102033"/>
                </a:solidFill>
                <a:latin typeface="Noto Sans CJK KR"/>
                <a:ea typeface="Noto Sans CJK KR"/>
                <a:cs typeface="Noto Sans CJK KR"/>
                <a:sym typeface="Noto Sans CJK KR"/>
              </a:defRPr>
            </a:lvl1pPr>
          </a:lstStyle>
          <a:p>
            <a:r>
              <a:t>감사합니다</a:t>
            </a:r>
          </a:p>
        </p:txBody>
      </p:sp>
      <p:sp>
        <p:nvSpPr>
          <p:cNvPr id="694" name="Thanks team"/>
          <p:cNvSpPr txBox="1"/>
          <p:nvPr/>
        </p:nvSpPr>
        <p:spPr>
          <a:xfrm>
            <a:off x="1215051" y="4147843"/>
            <a:ext cx="6400805" cy="281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lvl1pPr algn="ctr">
              <a:defRPr sz="1200" b="1">
                <a:solidFill>
                  <a:srgbClr val="334155"/>
                </a:solidFill>
                <a:latin typeface="Noto Sans CJK KR"/>
                <a:ea typeface="Noto Sans CJK KR"/>
                <a:cs typeface="Noto Sans CJK KR"/>
                <a:sym typeface="Noto Sans CJK KR"/>
              </a:defRPr>
            </a:lvl1pPr>
          </a:lstStyle>
          <a:p>
            <a:r>
              <a:t>TEAM 공강 플래너  ·  김희민  ·  전병호  ·  김시형  ·  강서현</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8FAFC"/>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8FAFC"/>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8FAFC"/>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TotalTime>
  <Words>2651</Words>
  <Application>Microsoft Office PowerPoint</Application>
  <PresentationFormat>사용자 지정</PresentationFormat>
  <Paragraphs>476</Paragraphs>
  <Slides>23</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23</vt:i4>
      </vt:variant>
    </vt:vector>
  </HeadingPairs>
  <TitlesOfParts>
    <vt:vector size="29" baseType="lpstr">
      <vt:lpstr>Helvetica Neue</vt:lpstr>
      <vt:lpstr>Noto Sans CJK KR</vt:lpstr>
      <vt:lpstr>맑은 고딕</vt:lpstr>
      <vt:lpstr>맑은 고딕</vt:lpstr>
      <vt:lpstr>Helvetica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강서현</cp:lastModifiedBy>
  <cp:revision>2</cp:revision>
  <dcterms:modified xsi:type="dcterms:W3CDTF">2026-06-18T10:06:41Z</dcterms:modified>
</cp:coreProperties>
</file>